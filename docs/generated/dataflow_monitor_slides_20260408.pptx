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4572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2300" b="1">
                <a:solidFill>
                  <a:srgbClr val="1B2129"/>
                </a:solidFill>
              </a:rPr>
              <a:t>术前-术中数据流与在线监测示意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58626C"/>
                </a:solidFill>
              </a:rPr>
              <a:t>用公开图片素材快速刻画 CCTA、C 臂、床位坐标、ECG 与 X 光匹配闭环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064240" cy="27432"/>
          </a:xfrm>
          <a:prstGeom prst="rect">
            <a:avLst/>
          </a:prstGeom>
          <a:solidFill>
            <a:srgbClr val="CD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16152"/>
            <a:ext cx="3291840" cy="20116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100" b="1">
                <a:solidFill>
                  <a:srgbClr val="CD4F40"/>
                </a:solidFill>
              </a:rPr>
              <a:t>Slide 1. 术前与术中的核心数据流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1605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81912"/>
            <a:ext cx="2194560" cy="2286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1">
                <a:solidFill>
                  <a:srgbClr val="CD4F40"/>
                </a:solidFill>
              </a:rPr>
              <a:t>术前：CT / CCTA 重建</a:t>
            </a:r>
          </a:p>
        </p:txBody>
      </p:sp>
      <p:pic>
        <p:nvPicPr>
          <p:cNvPr id="8" name="Picture 7" descr="ccta_cad_rads_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7088"/>
            <a:ext cx="3822191" cy="2029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3895344"/>
            <a:ext cx="3749039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58626C"/>
                </a:solidFill>
              </a:rPr>
              <a:t>CT volume -&gt; 冠脉可视化 -&gt; segmentation / clean tree / branch prior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1481328"/>
            <a:ext cx="50749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6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581912"/>
            <a:ext cx="3474720" cy="2286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1">
                <a:solidFill>
                  <a:srgbClr val="426CAD"/>
                </a:solidFill>
              </a:rPr>
              <a:t>术中：C 臂 + 手术台 / 床位 + 实时监测</a:t>
            </a:r>
          </a:p>
        </p:txBody>
      </p:sp>
      <p:pic>
        <p:nvPicPr>
          <p:cNvPr id="12" name="Picture 11" descr="interventional_radiology_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3319272" cy="2011680"/>
          </a:xfrm>
          <a:prstGeom prst="rect">
            <a:avLst/>
          </a:prstGeom>
        </p:spPr>
      </p:pic>
      <p:pic>
        <p:nvPicPr>
          <p:cNvPr id="13" name="Picture 12" descr="coronary_angiograph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847088"/>
            <a:ext cx="1234440" cy="960120"/>
          </a:xfrm>
          <a:prstGeom prst="rect">
            <a:avLst/>
          </a:prstGeom>
        </p:spPr>
      </p:pic>
      <p:pic>
        <p:nvPicPr>
          <p:cNvPr id="14" name="Picture 13" descr="ecg_bigemin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907792"/>
            <a:ext cx="1234440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01968" y="3895344"/>
            <a:ext cx="4663440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58626C"/>
                </a:solidFill>
              </a:rPr>
              <a:t>C-arm angles + bed xyz + ECG_t + fluoroscopy/X-ray_t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2029968"/>
            <a:ext cx="1152144" cy="1691640"/>
          </a:xfrm>
          <a:prstGeom prst="roundRect">
            <a:avLst/>
          </a:prstGeom>
          <a:solidFill>
            <a:srgbClr val="FCF5E8"/>
          </a:solidFill>
          <a:ln w="12700">
            <a:solidFill>
              <a:srgbClr val="BC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2084832"/>
            <a:ext cx="932688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BC9238"/>
                </a:solidFill>
              </a:rPr>
              <a:t>融合层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340864"/>
            <a:ext cx="932688" cy="13258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世界系
W
+
心脏系
H
+
观察系
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9744" y="2743200"/>
            <a:ext cx="237744" cy="0"/>
          </a:xfrm>
          <a:prstGeom prst="line">
            <a:avLst/>
          </a:prstGeom>
          <a:ln w="22860">
            <a:solidFill>
              <a:srgbClr val="CD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9632" y="2743200"/>
            <a:ext cx="228600" cy="0"/>
          </a:xfrm>
          <a:prstGeom prst="line">
            <a:avLst/>
          </a:prstGeom>
          <a:ln w="22860">
            <a:solidFill>
              <a:srgbClr val="426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8096" y="4617720"/>
            <a:ext cx="2651760" cy="1115568"/>
          </a:xfrm>
          <a:prstGeom prst="roundRect">
            <a:avLst/>
          </a:prstGeom>
          <a:solidFill>
            <a:srgbClr val="FCF5E8"/>
          </a:solidFill>
          <a:ln w="12700">
            <a:solidFill>
              <a:srgbClr val="CD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672583"/>
            <a:ext cx="2432304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D4F40"/>
                </a:solidFill>
              </a:rPr>
              <a:t>建模输入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928616"/>
            <a:ext cx="2432304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术前提供结构先验：冠脉 mask、clean tree、branch radii、prototype prior。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9312" y="4617720"/>
            <a:ext cx="3675887" cy="1115568"/>
          </a:xfrm>
          <a:prstGeom prst="roundRect">
            <a:avLst/>
          </a:prstGeom>
          <a:solidFill>
            <a:srgbClr val="ECF4FC"/>
          </a:solidFill>
          <a:ln w="12700">
            <a:solidFill>
              <a:srgbClr val="426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672583"/>
            <a:ext cx="3456431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426CAD"/>
                </a:solidFill>
              </a:rPr>
              <a:t>在线状态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928616"/>
            <a:ext cx="3456431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z_t = {T_WH, [x,theta]_cav, [x,theta]_L, [x,theta]_R, beta_soft, ecg_phase}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4656" y="4617720"/>
            <a:ext cx="3675887" cy="1115568"/>
          </a:xfrm>
          <a:prstGeom prst="roundRect">
            <a:avLst/>
          </a:prstGeom>
          <a:solidFill>
            <a:srgbClr val="EBF7EF"/>
          </a:solidFill>
          <a:ln w="12700">
            <a:solidFill>
              <a:srgbClr val="518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4383" y="4672583"/>
            <a:ext cx="3456431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518E71"/>
                </a:solidFill>
              </a:rPr>
              <a:t>输出 / 比较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4928616"/>
            <a:ext cx="3456431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synthetic projection + real X-ray matching + 误差反馈，形成在线监测闭环。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29000" y="5166360"/>
            <a:ext cx="210312" cy="0"/>
          </a:xfrm>
          <a:prstGeom prst="line">
            <a:avLst/>
          </a:prstGeom>
          <a:ln w="22860">
            <a:solidFill>
              <a:srgbClr val="CD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15200" y="5166360"/>
            <a:ext cx="219456" cy="0"/>
          </a:xfrm>
          <a:prstGeom prst="line">
            <a:avLst/>
          </a:prstGeom>
          <a:ln w="22860">
            <a:solidFill>
              <a:srgbClr val="518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446520"/>
            <a:ext cx="10972800" cy="1645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700" b="0">
                <a:solidFill>
                  <a:srgbClr val="58626C"/>
                </a:solidFill>
              </a:rPr>
              <a:t>Images: MBq/Wikimedia Commons (CCTA CAD-RADS 4a, CC BY-SA 4.0); Navy Medicine/Wikimedia Commons (Interventional radiology A, Public Domain); Todt et al./Wikimedia Commons (Coronary angiography..., CC BY 2.0); James Heilman, MD/Wikimedia Commons (Bigeminy, CC BY-SA 3.0).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4572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2300" b="1">
                <a:solidFill>
                  <a:srgbClr val="1B2129"/>
                </a:solidFill>
              </a:rPr>
              <a:t>术中监测闭环示意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58626C"/>
                </a:solidFill>
              </a:rPr>
              <a:t>重点突出 C 臂角度、床位 xyz、ECG 与真实 X 光如何进入状态估计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064240" cy="27432"/>
          </a:xfrm>
          <a:prstGeom prst="rect">
            <a:avLst/>
          </a:prstGeom>
          <a:solidFill>
            <a:srgbClr val="CD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16152"/>
            <a:ext cx="3566160" cy="20116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100" b="1">
                <a:solidFill>
                  <a:srgbClr val="CD4F40"/>
                </a:solidFill>
              </a:rPr>
              <a:t>Slide 2. 在线估计与监测过程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840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6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2194560" cy="219456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1">
                <a:solidFill>
                  <a:srgbClr val="426CAD"/>
                </a:solidFill>
              </a:rPr>
              <a:t>术中场景感知</a:t>
            </a:r>
          </a:p>
        </p:txBody>
      </p:sp>
      <p:pic>
        <p:nvPicPr>
          <p:cNvPr id="8" name="Picture 7" descr="interventional_radiology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1952"/>
            <a:ext cx="3493008" cy="2542032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 flipV="1">
            <a:off x="1508760" y="3977639"/>
            <a:ext cx="0" cy="548641"/>
          </a:xfrm>
          <a:prstGeom prst="line">
            <a:avLst/>
          </a:prstGeom>
          <a:ln w="25400">
            <a:solidFill>
              <a:srgbClr val="CD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08760" y="4526280"/>
            <a:ext cx="548640" cy="0"/>
          </a:xfrm>
          <a:prstGeom prst="line">
            <a:avLst/>
          </a:prstGeom>
          <a:ln w="25400">
            <a:solidFill>
              <a:srgbClr val="518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43000" y="4526280"/>
            <a:ext cx="365760" cy="347472"/>
          </a:xfrm>
          <a:prstGeom prst="line">
            <a:avLst/>
          </a:prstGeom>
          <a:ln w="25400">
            <a:solidFill>
              <a:srgbClr val="BC9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84831" y="4416552"/>
            <a:ext cx="548640" cy="1645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100" b="1">
                <a:solidFill>
                  <a:srgbClr val="518E71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822191"/>
            <a:ext cx="548640" cy="1645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100" b="1">
                <a:solidFill>
                  <a:srgbClr val="CD4F40"/>
                </a:solidFill>
              </a:rP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873752"/>
            <a:ext cx="640080" cy="1645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100" b="1">
                <a:solidFill>
                  <a:srgbClr val="BC9238"/>
                </a:solidFill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3383280" cy="4114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58626C"/>
                </a:solidFill>
              </a:rPr>
              <a:t>床位 / 患者位姿 -&gt; 统一成 table xyz 或 T_WH；C 臂角度则写成 LAO/RAO、CRA/CAU、SID/SOD。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1600200"/>
            <a:ext cx="2743200" cy="1051560"/>
          </a:xfrm>
          <a:prstGeom prst="roundRect">
            <a:avLst/>
          </a:prstGeom>
          <a:solidFill>
            <a:srgbClr val="ECF4FC"/>
          </a:solidFill>
          <a:ln w="12700">
            <a:solidFill>
              <a:srgbClr val="426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655064"/>
            <a:ext cx="2523744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426CAD"/>
                </a:solidFill>
              </a:rPr>
              <a:t>观测 y_t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911095"/>
            <a:ext cx="2523744" cy="6857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X-ray_t + ECG_t + C-arm_t + table_xyz_t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600200"/>
            <a:ext cx="3429000" cy="1051560"/>
          </a:xfrm>
          <a:prstGeom prst="roundRect">
            <a:avLst/>
          </a:prstGeom>
          <a:solidFill>
            <a:srgbClr val="FCF5E8"/>
          </a:solidFill>
          <a:ln w="12700">
            <a:solidFill>
              <a:srgbClr val="BC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1655064"/>
            <a:ext cx="3209544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BC9238"/>
                </a:solidFill>
              </a:rPr>
              <a:t>状态 z_t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1911095"/>
            <a:ext cx="3209544" cy="6857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T_WH + [x,theta]_cav,L,R + beta_soft + phase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79792" y="2130552"/>
            <a:ext cx="493776" cy="0"/>
          </a:xfrm>
          <a:prstGeom prst="line">
            <a:avLst/>
          </a:prstGeom>
          <a:ln w="22860">
            <a:solidFill>
              <a:srgbClr val="426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36592" y="2907792"/>
            <a:ext cx="2743200" cy="1600200"/>
          </a:xfrm>
          <a:prstGeom prst="roundRect">
            <a:avLst/>
          </a:prstGeom>
          <a:solidFill>
            <a:srgbClr val="EBF7EF"/>
          </a:solidFill>
          <a:ln w="12700">
            <a:solidFill>
              <a:srgbClr val="518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62656"/>
            <a:ext cx="2523744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518E71"/>
                </a:solidFill>
              </a:rPr>
              <a:t>前向模型 h(z_t)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18688"/>
            <a:ext cx="2523744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把心脏系冠脉放到世界系，再用 C 臂投影到 detector，生成 synthetic X-ray。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907792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2962656"/>
            <a:ext cx="3209544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D4F40"/>
                </a:solidFill>
              </a:rPr>
              <a:t>匹配 / 更新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218688"/>
            <a:ext cx="3209544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比较真实 X 光与 synthetic projection，先做 MAP matching，再扩展到 Bayesian filtering。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08192" y="2651760"/>
            <a:ext cx="0" cy="256032"/>
          </a:xfrm>
          <a:prstGeom prst="line">
            <a:avLst/>
          </a:prstGeom>
          <a:ln w="22860">
            <a:solidFill>
              <a:srgbClr val="518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79792" y="3703320"/>
            <a:ext cx="493776" cy="0"/>
          </a:xfrm>
          <a:prstGeom prst="line">
            <a:avLst/>
          </a:prstGeom>
          <a:ln w="22860">
            <a:solidFill>
              <a:srgbClr val="CD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oronary_angiograp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846320"/>
            <a:ext cx="1325880" cy="1234440"/>
          </a:xfrm>
          <a:prstGeom prst="rect">
            <a:avLst/>
          </a:prstGeom>
        </p:spPr>
      </p:pic>
      <p:pic>
        <p:nvPicPr>
          <p:cNvPr id="32" name="Picture 31" descr="ecg_bigemin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846320"/>
            <a:ext cx="2423160" cy="123444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869680" y="4800600"/>
            <a:ext cx="2468880" cy="1234440"/>
          </a:xfrm>
          <a:prstGeom prst="roundRect">
            <a:avLst/>
          </a:prstGeom>
          <a:solidFill>
            <a:srgbClr val="EBF7EF"/>
          </a:solidFill>
          <a:ln w="12700">
            <a:solidFill>
              <a:srgbClr val="518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9407" y="4855464"/>
            <a:ext cx="2249424" cy="2560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518E71"/>
                </a:solidFill>
              </a:rPr>
              <a:t>一句话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7" y="5111496"/>
            <a:ext cx="2249424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000" b="0">
                <a:solidFill>
                  <a:srgbClr val="1B2129"/>
                </a:solidFill>
              </a:rPr>
              <a:t>术前给结构先验，术中给观测流，二者在坐标系和投影模型里汇合。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46520"/>
            <a:ext cx="10972800" cy="1645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700" b="0">
                <a:solidFill>
                  <a:srgbClr val="58626C"/>
                </a:solidFill>
              </a:rPr>
              <a:t>Recommended annotation in talk: y_t comes from image/monitor streams; z_t lives in the model state; h(z_t) bridges pre-op structure and intra-op observation.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