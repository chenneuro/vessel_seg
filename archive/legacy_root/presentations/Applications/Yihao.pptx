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184" r:id="rId2"/>
    <p:sldId id="344" r:id="rId3"/>
    <p:sldId id="3284" r:id="rId4"/>
    <p:sldId id="3247" r:id="rId5"/>
    <p:sldId id="3285" r:id="rId6"/>
    <p:sldId id="3286" r:id="rId7"/>
    <p:sldId id="3287" r:id="rId8"/>
    <p:sldId id="3291" r:id="rId9"/>
    <p:sldId id="3293" r:id="rId10"/>
    <p:sldId id="3294" r:id="rId11"/>
    <p:sldId id="3295" r:id="rId12"/>
    <p:sldId id="3296" r:id="rId13"/>
    <p:sldId id="3292" r:id="rId14"/>
    <p:sldId id="3297" r:id="rId15"/>
    <p:sldId id="3299" r:id="rId16"/>
    <p:sldId id="3298" r:id="rId17"/>
    <p:sldId id="277" r:id="rId18"/>
    <p:sldId id="3288" r:id="rId19"/>
    <p:sldId id="3289" r:id="rId20"/>
    <p:sldId id="3290"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0261D061-56C3-4466-98F3-98E7BB90A6DD}">
          <p14:sldIdLst>
            <p14:sldId id="3184"/>
          </p14:sldIdLst>
        </p14:section>
        <p14:section name="目录" id="{9E80D4BD-46BA-485C-A69E-3FF95A4966CF}">
          <p14:sldIdLst>
            <p14:sldId id="344"/>
            <p14:sldId id="3284"/>
          </p14:sldIdLst>
        </p14:section>
        <p14:section name="内容页" id="{3ACFC61A-BEE8-495C-B5EB-7BDC91533FAD}">
          <p14:sldIdLst>
            <p14:sldId id="3247"/>
            <p14:sldId id="3285"/>
            <p14:sldId id="3286"/>
            <p14:sldId id="3287"/>
            <p14:sldId id="3291"/>
            <p14:sldId id="3293"/>
            <p14:sldId id="3294"/>
            <p14:sldId id="3295"/>
            <p14:sldId id="3296"/>
            <p14:sldId id="3292"/>
            <p14:sldId id="3297"/>
            <p14:sldId id="3299"/>
            <p14:sldId id="3298"/>
          </p14:sldIdLst>
        </p14:section>
        <p14:section name="内容页2" id="{A1EE3B0F-FF5D-4527-8D5C-2F7AEF2BC699}">
          <p14:sldIdLst>
            <p14:sldId id="277"/>
            <p14:sldId id="3288"/>
            <p14:sldId id="3289"/>
            <p14:sldId id="3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CAB69D"/>
    <a:srgbClr val="E9E2D7"/>
    <a:srgbClr val="B2676A"/>
    <a:srgbClr val="C68587"/>
    <a:srgbClr val="94070A"/>
    <a:srgbClr val="D7C8B5"/>
    <a:srgbClr val="F0F0F0"/>
    <a:srgbClr val="B99E7D"/>
    <a:srgbClr val="BE08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32" autoAdjust="0"/>
    <p:restoredTop sz="62202" autoAdjust="0"/>
  </p:normalViewPr>
  <p:slideViewPr>
    <p:cSldViewPr snapToGrid="0" showGuides="1">
      <p:cViewPr varScale="1">
        <p:scale>
          <a:sx n="68" d="100"/>
          <a:sy n="68" d="100"/>
        </p:scale>
        <p:origin x="232" y="60"/>
      </p:cViewPr>
      <p:guideLst>
        <p:guide orient="horz" pos="2160"/>
        <p:guide pos="3840"/>
      </p:guideLst>
    </p:cSldViewPr>
  </p:slideViewPr>
  <p:notesTextViewPr>
    <p:cViewPr>
      <p:scale>
        <a:sx n="140" d="100"/>
        <a:sy n="140" d="100"/>
      </p:scale>
      <p:origin x="0" y="0"/>
    </p:cViewPr>
  </p:notesTextViewPr>
  <p:sorterViewPr>
    <p:cViewPr>
      <p:scale>
        <a:sx n="100" d="100"/>
        <a:sy n="100" d="100"/>
      </p:scale>
      <p:origin x="0" y="-569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23AEBE-9D7F-4A51-A728-35C231377196}"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5E923-51F7-42BD-962F-269CF7F55DA1}" type="slidenum">
              <a:rPr lang="zh-CN" altLang="en-US" smtClean="0"/>
              <a:t>‹#›</a:t>
            </a:fld>
            <a:endParaRPr lang="zh-CN" altLang="en-US"/>
          </a:p>
        </p:txBody>
      </p:sp>
    </p:spTree>
    <p:extLst>
      <p:ext uri="{BB962C8B-B14F-4D97-AF65-F5344CB8AC3E}">
        <p14:creationId xmlns:p14="http://schemas.microsoft.com/office/powerpoint/2010/main" val="3122549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Good afternoon Professor Wang. I’m Yihao Chen from Peking University. My current focus is medical imaging for interventional guidance, especially coronary reconstruction and CT–DSA 3D–2D registration. Today I’ll briefly summarize my ongoing pipeline work, what I’ve already made measurable, and how that aligns with </a:t>
            </a:r>
            <a:r>
              <a:rPr lang="en-US" altLang="zh-CN" dirty="0" err="1"/>
              <a:t>PixAIL’s</a:t>
            </a:r>
            <a:r>
              <a:rPr lang="en-US" altLang="zh-CN" dirty="0"/>
              <a:t> interests in multimodal models, temporal modeling, and generative methods.</a:t>
            </a:r>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a:t>
            </a:fld>
            <a:endParaRPr lang="zh-CN" altLang="en-US"/>
          </a:p>
        </p:txBody>
      </p:sp>
    </p:spTree>
    <p:extLst>
      <p:ext uri="{BB962C8B-B14F-4D97-AF65-F5344CB8AC3E}">
        <p14:creationId xmlns:p14="http://schemas.microsoft.com/office/powerpoint/2010/main" val="309223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I’ll start with a quick background and what I’m aiming to do in medical imaging. Then I’ll walk through my current coronary pipeline, focusing on what is already working end-to-end and what I’m fixing next. Finally, I’ll summarize how this maps to </a:t>
            </a:r>
            <a:r>
              <a:rPr lang="en-US" altLang="zh-CN" dirty="0" err="1"/>
              <a:t>PixAIL</a:t>
            </a:r>
            <a:r>
              <a:rPr lang="en-US" altLang="zh-CN" dirty="0"/>
              <a:t>, and propose what I can deliver in the first weeks if I join</a:t>
            </a:r>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2</a:t>
            </a:fld>
            <a:endParaRPr lang="zh-CN" altLang="en-US"/>
          </a:p>
        </p:txBody>
      </p:sp>
    </p:spTree>
    <p:extLst>
      <p:ext uri="{BB962C8B-B14F-4D97-AF65-F5344CB8AC3E}">
        <p14:creationId xmlns:p14="http://schemas.microsoft.com/office/powerpoint/2010/main" val="4164427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My strength is building end-to-end research pipelines rather than isolated scripts: data preprocessing, model training, evaluation, and failure-case tracking. I like combining geometry constraints with learning, which is essential for 3D–2D registration and anatomical consistency. I also keep experiments reproducible—configs, ablations, and report-ready figures—so progress is auditable. Research-wise, I’m most excited about multimodal medical foundation models, fine-grained temporal modeling for cine/DSA, and generative reconstruction with uncertainty.</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3</a:t>
            </a:fld>
            <a:endParaRPr lang="zh-CN" altLang="en-US"/>
          </a:p>
        </p:txBody>
      </p:sp>
    </p:spTree>
    <p:extLst>
      <p:ext uri="{BB962C8B-B14F-4D97-AF65-F5344CB8AC3E}">
        <p14:creationId xmlns:p14="http://schemas.microsoft.com/office/powerpoint/2010/main" val="2811926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“I’m trained in mechanics and robotics, and I’m now pivoting my main effort to clinically grounded medical imaging. Since 2024 I’ve been building a coronary reconstruction and CT–DSA alignment pipeline, and in parallel I’ve been working on vessel topology modeling and shape priors on ASOCA2020. I also spent time observing </a:t>
            </a:r>
            <a:r>
              <a:rPr lang="en-US" altLang="zh-CN" dirty="0" err="1"/>
              <a:t>cath</a:t>
            </a:r>
            <a:r>
              <a:rPr lang="en-US" altLang="zh-CN" dirty="0"/>
              <a:t>-lab workflow, so I care about evaluation that matches clinical usage, not just offline metrics.”</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4</a:t>
            </a:fld>
            <a:endParaRPr lang="zh-CN" altLang="en-US"/>
          </a:p>
        </p:txBody>
      </p:sp>
    </p:spTree>
    <p:extLst>
      <p:ext uri="{BB962C8B-B14F-4D97-AF65-F5344CB8AC3E}">
        <p14:creationId xmlns:p14="http://schemas.microsoft.com/office/powerpoint/2010/main" val="2523268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This slide is background engineering. I built a wearable multi-sensor acquisition/control system with stable sampling and logging under real motion. The reason I mention it here is not the application itself, but the engineering style: I prioritize repeatability, debugging via failure-case logs, and interface clarity—habits that transfer directly to building reliable medical imaging pipelines.</a:t>
            </a:r>
            <a:endParaRPr lang="en" altLang="zh-CN"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5</a:t>
            </a:fld>
            <a:endParaRPr lang="zh-CN" altLang="en-US"/>
          </a:p>
        </p:txBody>
      </p:sp>
    </p:spTree>
    <p:extLst>
      <p:ext uri="{BB962C8B-B14F-4D97-AF65-F5344CB8AC3E}">
        <p14:creationId xmlns:p14="http://schemas.microsoft.com/office/powerpoint/2010/main" val="2734869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193A0-9AC8-FBEF-5A5B-7D7BBC1FE3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BA66E65-2DDD-8AD3-5267-9A351D0FC5B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C847AAA-1E79-8C85-1674-2BBF620FB37C}"/>
              </a:ext>
            </a:extLst>
          </p:cNvPr>
          <p:cNvSpPr>
            <a:spLocks noGrp="1"/>
          </p:cNvSpPr>
          <p:nvPr>
            <p:ph type="body" idx="1"/>
          </p:nvPr>
        </p:nvSpPr>
        <p:spPr/>
        <p:txBody>
          <a:bodyPr/>
          <a:lstStyle/>
          <a:p>
            <a:r>
              <a:rPr lang="en-US" altLang="zh-CN" dirty="0"/>
              <a:t>Another transferable engineering project: I led an end-to-end design and prototyping cycle for a Delta robot, including CAD, manufacturing constraints, assembly iteration, and robustness debugging. Again, the takeaway is that I’m comfortable owning a system end-to-end and iterating based on measurable failure modes—exactly what I do now for medical imaging workflows.</a:t>
            </a:r>
            <a:endParaRPr lang="en" altLang="zh-CN" dirty="0"/>
          </a:p>
        </p:txBody>
      </p:sp>
      <p:sp>
        <p:nvSpPr>
          <p:cNvPr id="4" name="灯片编号占位符 3">
            <a:extLst>
              <a:ext uri="{FF2B5EF4-FFF2-40B4-BE49-F238E27FC236}">
                <a16:creationId xmlns:a16="http://schemas.microsoft.com/office/drawing/2014/main" id="{7FF3CB03-82F5-6509-9726-09CBB1FACFBA}"/>
              </a:ext>
            </a:extLst>
          </p:cNvPr>
          <p:cNvSpPr>
            <a:spLocks noGrp="1"/>
          </p:cNvSpPr>
          <p:nvPr>
            <p:ph type="sldNum" sz="quarter" idx="5"/>
          </p:nvPr>
        </p:nvSpPr>
        <p:spPr/>
        <p:txBody>
          <a:bodyPr/>
          <a:lstStyle/>
          <a:p>
            <a:fld id="{50F5E923-51F7-42BD-962F-269CF7F55DA1}" type="slidenum">
              <a:rPr lang="zh-CN" altLang="en-US" smtClean="0"/>
              <a:t>6</a:t>
            </a:fld>
            <a:endParaRPr lang="zh-CN" altLang="en-US"/>
          </a:p>
        </p:txBody>
      </p:sp>
    </p:spTree>
    <p:extLst>
      <p:ext uri="{BB962C8B-B14F-4D97-AF65-F5344CB8AC3E}">
        <p14:creationId xmlns:p14="http://schemas.microsoft.com/office/powerpoint/2010/main" val="222457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A8A57-E86F-D416-0C01-2DA1030532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8323BD-1855-3F98-FBE2-8649D6242DE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8093AA0-C147-9157-354B-15C95CBEAAC9}"/>
              </a:ext>
            </a:extLst>
          </p:cNvPr>
          <p:cNvSpPr>
            <a:spLocks noGrp="1"/>
          </p:cNvSpPr>
          <p:nvPr>
            <p:ph type="body" idx="1"/>
          </p:nvPr>
        </p:nvSpPr>
        <p:spPr/>
        <p:txBody>
          <a:bodyPr/>
          <a:lstStyle/>
          <a:p>
            <a:r>
              <a:rPr lang="en-US" altLang="zh-CN" dirty="0"/>
              <a:t>My main project is a coronary modeling pipeline with long-term relevance to interventional guidance. I’ve established a first working chain: segmentation, centerline extraction, and a centerline-driven representation/rendering. Importantly, I defined a consistent output schema (tree/branch structure) so experiments are comparable across cases. Next, I’m aligning the workflow with hospital constraints: standardized anatomical labeling and evaluation criteria that reflect robustness and usability for navigation/decision support</a:t>
            </a:r>
            <a:endParaRPr lang="en" altLang="zh-CN" dirty="0"/>
          </a:p>
        </p:txBody>
      </p:sp>
      <p:sp>
        <p:nvSpPr>
          <p:cNvPr id="4" name="灯片编号占位符 3">
            <a:extLst>
              <a:ext uri="{FF2B5EF4-FFF2-40B4-BE49-F238E27FC236}">
                <a16:creationId xmlns:a16="http://schemas.microsoft.com/office/drawing/2014/main" id="{A2490100-1D0E-6088-2D60-9A71AAB4DEFE}"/>
              </a:ext>
            </a:extLst>
          </p:cNvPr>
          <p:cNvSpPr>
            <a:spLocks noGrp="1"/>
          </p:cNvSpPr>
          <p:nvPr>
            <p:ph type="sldNum" sz="quarter" idx="5"/>
          </p:nvPr>
        </p:nvSpPr>
        <p:spPr/>
        <p:txBody>
          <a:bodyPr/>
          <a:lstStyle/>
          <a:p>
            <a:fld id="{50F5E923-51F7-42BD-962F-269CF7F55DA1}" type="slidenum">
              <a:rPr lang="zh-CN" altLang="en-US" smtClean="0"/>
              <a:t>7</a:t>
            </a:fld>
            <a:endParaRPr lang="zh-CN" altLang="en-US"/>
          </a:p>
        </p:txBody>
      </p:sp>
    </p:spTree>
    <p:extLst>
      <p:ext uri="{BB962C8B-B14F-4D97-AF65-F5344CB8AC3E}">
        <p14:creationId xmlns:p14="http://schemas.microsoft.com/office/powerpoint/2010/main" val="2912344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F1E2D-8F99-5F86-8058-77138DD22F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804BD2-CBB5-12F5-453A-D6C7D349DC1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7D6CECE-9D19-040E-CF29-A74F611035B0}"/>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这页展示了五步流程和数据流向。输入是 </a:t>
            </a:r>
            <a:r>
              <a:rPr lang="en-US" altLang="zh-CN" sz="1200" b="0" i="0" kern="1200" dirty="0">
                <a:solidFill>
                  <a:schemeClr val="tx1"/>
                </a:solidFill>
                <a:effectLst/>
                <a:latin typeface="+mn-lt"/>
                <a:ea typeface="+mn-ea"/>
                <a:cs typeface="+mn-cs"/>
              </a:rPr>
              <a:t>CT </a:t>
            </a:r>
            <a:r>
              <a:rPr lang="zh-CN" altLang="en-US" sz="1200" b="0" i="0" kern="1200" dirty="0">
                <a:solidFill>
                  <a:schemeClr val="tx1"/>
                </a:solidFill>
                <a:effectLst/>
                <a:latin typeface="+mn-lt"/>
                <a:ea typeface="+mn-ea"/>
                <a:cs typeface="+mn-cs"/>
              </a:rPr>
              <a:t>和 </a:t>
            </a:r>
            <a:r>
              <a:rPr lang="en-US" altLang="zh-CN" sz="1200" b="0" i="0" kern="1200" dirty="0">
                <a:solidFill>
                  <a:schemeClr val="tx1"/>
                </a:solidFill>
                <a:effectLst/>
                <a:latin typeface="+mn-lt"/>
                <a:ea typeface="+mn-ea"/>
                <a:cs typeface="+mn-cs"/>
              </a:rPr>
              <a:t>GT</a:t>
            </a:r>
            <a:r>
              <a:rPr lang="zh-CN" altLang="en-US" sz="1200" b="0" i="0" kern="1200" dirty="0">
                <a:solidFill>
                  <a:schemeClr val="tx1"/>
                </a:solidFill>
                <a:effectLst/>
                <a:latin typeface="+mn-lt"/>
                <a:ea typeface="+mn-ea"/>
                <a:cs typeface="+mn-cs"/>
              </a:rPr>
              <a:t>，输出是每一步的中间结果与指标文件。这样做的好处是，任何一步出问题都能快速定位，不会出现‘结果不好但不知道错在哪’。”</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我目前的项目，是</a:t>
            </a:r>
            <a:r>
              <a:rPr lang="en-US" altLang="zh-CN" dirty="0"/>
              <a:t>3</a:t>
            </a:r>
            <a:r>
              <a:rPr lang="zh-CN" altLang="en-US" dirty="0"/>
              <a:t>维与</a:t>
            </a:r>
            <a:r>
              <a:rPr lang="en-US" altLang="zh-CN" dirty="0"/>
              <a:t>2</a:t>
            </a:r>
            <a:r>
              <a:rPr lang="zh-CN" altLang="en-US" dirty="0"/>
              <a:t>维</a:t>
            </a:r>
            <a:r>
              <a:rPr lang="en-US" altLang="zh-CN" dirty="0"/>
              <a:t>DSA</a:t>
            </a:r>
            <a:r>
              <a:rPr lang="zh-CN" altLang="en-US" dirty="0"/>
              <a:t>的匹配，所以跟注重中心线的准确性，强调血管的物理约束以及形变，目前呢，分割这块内容大致是这样的。</a:t>
            </a:r>
            <a:br>
              <a:rPr lang="zh-CN" altLang="en-US" dirty="0"/>
            </a:br>
            <a:r>
              <a:rPr lang="zh-CN" altLang="en-US" dirty="0"/>
              <a:t>这五步分别是</a:t>
            </a:r>
            <a:br>
              <a:rPr lang="en-US" altLang="zh-CN" dirty="0"/>
            </a:br>
            <a:r>
              <a:rPr lang="en-US" altLang="zh-CN" dirty="0"/>
              <a:t>1. CT -&gt; mask</a:t>
            </a:r>
            <a:br>
              <a:rPr lang="en-US" altLang="zh-CN" dirty="0"/>
            </a:br>
            <a:r>
              <a:rPr lang="en-US" altLang="zh-CN" dirty="0"/>
              <a:t>2. mask -&gt; Polyline</a:t>
            </a:r>
            <a:br>
              <a:rPr lang="en-US" altLang="zh-CN" dirty="0"/>
            </a:br>
            <a:r>
              <a:rPr lang="en-US" altLang="zh-CN" dirty="0"/>
              <a:t>3. repairment</a:t>
            </a:r>
            <a:br>
              <a:rPr lang="en-US" altLang="zh-CN" dirty="0"/>
            </a:br>
            <a:r>
              <a:rPr lang="en-US" altLang="zh-CN" dirty="0"/>
              <a:t>4. feature extraction</a:t>
            </a:r>
            <a:br>
              <a:rPr lang="en-US" altLang="zh-CN" dirty="0"/>
            </a:br>
            <a:r>
              <a:rPr lang="en-US" altLang="zh-CN" dirty="0"/>
              <a:t>5. reconstruction</a:t>
            </a:r>
          </a:p>
          <a:p>
            <a:r>
              <a:rPr lang="zh-CN" altLang="en-US" dirty="0"/>
              <a:t>第四步主要是继承了我学长在肌肉重建方面的工作，主要目的是降维加速计算，提高算法的实时性潜力。</a:t>
            </a:r>
            <a:br>
              <a:rPr lang="en-US" altLang="zh-CN" dirty="0"/>
            </a:br>
            <a:br>
              <a:rPr lang="en-US" altLang="zh-CN" dirty="0"/>
            </a:br>
            <a:r>
              <a:rPr lang="zh-CN" altLang="en-US" dirty="0"/>
              <a:t>至于量化指标呢</a:t>
            </a:r>
            <a:br>
              <a:rPr lang="en-US" altLang="zh-CN" dirty="0"/>
            </a:b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用 </a:t>
            </a:r>
            <a:r>
              <a:rPr lang="en-US" altLang="zh-CN" sz="1200" b="0" i="0" kern="1200" dirty="0">
                <a:solidFill>
                  <a:schemeClr val="tx1"/>
                </a:solidFill>
                <a:effectLst/>
                <a:latin typeface="+mn-lt"/>
                <a:ea typeface="+mn-ea"/>
                <a:cs typeface="+mn-cs"/>
              </a:rPr>
              <a:t>Dice/ASD/HD95 </a:t>
            </a:r>
            <a:r>
              <a:rPr lang="zh-CN" altLang="en-US" sz="1200" b="0" i="0" kern="1200" dirty="0">
                <a:solidFill>
                  <a:schemeClr val="tx1"/>
                </a:solidFill>
                <a:effectLst/>
                <a:latin typeface="+mn-lt"/>
                <a:ea typeface="+mn-ea"/>
                <a:cs typeface="+mn-cs"/>
              </a:rPr>
              <a:t>看分割质量；</a:t>
            </a:r>
            <a:r>
              <a:rPr lang="en-US" altLang="zh-CN" sz="1200" b="0" i="0" kern="1200" dirty="0">
                <a:solidFill>
                  <a:schemeClr val="tx1"/>
                </a:solidFill>
                <a:effectLst/>
                <a:latin typeface="+mn-lt"/>
                <a:ea typeface="+mn-ea"/>
                <a:cs typeface="+mn-cs"/>
              </a:rPr>
              <a:t>Step2/3 </a:t>
            </a:r>
            <a:r>
              <a:rPr lang="zh-CN" altLang="en-US" sz="1200" b="0" i="0" kern="1200" dirty="0">
                <a:solidFill>
                  <a:schemeClr val="tx1"/>
                </a:solidFill>
                <a:effectLst/>
                <a:latin typeface="+mn-lt"/>
                <a:ea typeface="+mn-ea"/>
                <a:cs typeface="+mn-cs"/>
              </a:rPr>
              <a:t>用中心线点到点距离和覆盖率；</a:t>
            </a:r>
            <a:r>
              <a:rPr lang="en-US" altLang="zh-CN" sz="1200" b="0" i="0" kern="1200" dirty="0">
                <a:solidFill>
                  <a:schemeClr val="tx1"/>
                </a:solidFill>
                <a:effectLst/>
                <a:latin typeface="+mn-lt"/>
                <a:ea typeface="+mn-ea"/>
                <a:cs typeface="+mn-cs"/>
              </a:rPr>
              <a:t>Step4 </a:t>
            </a:r>
            <a:r>
              <a:rPr lang="zh-CN" altLang="en-US" sz="1200" b="0" i="0" kern="1200" dirty="0">
                <a:solidFill>
                  <a:schemeClr val="tx1"/>
                </a:solidFill>
                <a:effectLst/>
                <a:latin typeface="+mn-lt"/>
                <a:ea typeface="+mn-ea"/>
                <a:cs typeface="+mn-cs"/>
              </a:rPr>
              <a:t>用分支数量差和特征向量相似度；</a:t>
            </a:r>
            <a:r>
              <a:rPr lang="en-US" altLang="zh-CN" sz="1200" b="0" i="0" kern="1200" dirty="0">
                <a:solidFill>
                  <a:schemeClr val="tx1"/>
                </a:solidFill>
                <a:effectLst/>
                <a:latin typeface="+mn-lt"/>
                <a:ea typeface="+mn-ea"/>
                <a:cs typeface="+mn-cs"/>
              </a:rPr>
              <a:t>Step5 </a:t>
            </a:r>
            <a:r>
              <a:rPr lang="zh-CN" altLang="en-US" sz="1200" b="0" i="0" kern="1200" dirty="0">
                <a:solidFill>
                  <a:schemeClr val="tx1"/>
                </a:solidFill>
                <a:effectLst/>
                <a:latin typeface="+mn-lt"/>
                <a:ea typeface="+mn-ea"/>
                <a:cs typeface="+mn-cs"/>
              </a:rPr>
              <a:t>用重建结果到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的距离分布。核心原则是：距离类越小越好，覆盖率</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相似度越大越好。”</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过渡句：“有了指标后，看 </a:t>
            </a:r>
            <a:r>
              <a:rPr lang="en-US" altLang="zh-CN" sz="1200" b="0" i="0" kern="1200" dirty="0">
                <a:solidFill>
                  <a:schemeClr val="tx1"/>
                </a:solidFill>
                <a:effectLst/>
                <a:latin typeface="+mn-lt"/>
                <a:ea typeface="+mn-ea"/>
                <a:cs typeface="+mn-cs"/>
              </a:rPr>
              <a:t>case </a:t>
            </a:r>
            <a:r>
              <a:rPr lang="zh-CN" altLang="en-US" sz="1200" b="0" i="0" kern="1200" dirty="0">
                <a:solidFill>
                  <a:schemeClr val="tx1"/>
                </a:solidFill>
                <a:effectLst/>
                <a:latin typeface="+mn-lt"/>
                <a:ea typeface="+mn-ea"/>
                <a:cs typeface="+mn-cs"/>
              </a:rPr>
              <a:t>的总结果。”</a:t>
            </a:r>
            <a:endParaRPr lang="en-US" altLang="zh-CN" dirty="0"/>
          </a:p>
          <a:p>
            <a:endParaRPr lang="en" altLang="zh-CN" dirty="0"/>
          </a:p>
        </p:txBody>
      </p:sp>
      <p:sp>
        <p:nvSpPr>
          <p:cNvPr id="4" name="灯片编号占位符 3">
            <a:extLst>
              <a:ext uri="{FF2B5EF4-FFF2-40B4-BE49-F238E27FC236}">
                <a16:creationId xmlns:a16="http://schemas.microsoft.com/office/drawing/2014/main" id="{E021C6C9-3A3B-93F5-E3E5-D4B822B748E7}"/>
              </a:ext>
            </a:extLst>
          </p:cNvPr>
          <p:cNvSpPr>
            <a:spLocks noGrp="1"/>
          </p:cNvSpPr>
          <p:nvPr>
            <p:ph type="sldNum" sz="quarter" idx="5"/>
          </p:nvPr>
        </p:nvSpPr>
        <p:spPr/>
        <p:txBody>
          <a:bodyPr/>
          <a:lstStyle/>
          <a:p>
            <a:fld id="{50F5E923-51F7-42BD-962F-269CF7F55DA1}" type="slidenum">
              <a:rPr lang="zh-CN" altLang="en-US" smtClean="0"/>
              <a:t>8</a:t>
            </a:fld>
            <a:endParaRPr lang="zh-CN" altLang="en-US"/>
          </a:p>
        </p:txBody>
      </p:sp>
    </p:spTree>
    <p:extLst>
      <p:ext uri="{BB962C8B-B14F-4D97-AF65-F5344CB8AC3E}">
        <p14:creationId xmlns:p14="http://schemas.microsoft.com/office/powerpoint/2010/main" val="1702375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3AEE4-C02C-A4C1-8038-48BCD0B763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4BA300-C033-EF0B-583E-A82DB6EC5FD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3CF6523-57EB-A349-D9D5-994A1AE6661E}"/>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Dice </a:t>
            </a:r>
            <a:r>
              <a:rPr lang="zh-CN" altLang="en-US" sz="1200" b="0" i="0" kern="1200" dirty="0">
                <a:solidFill>
                  <a:schemeClr val="tx1"/>
                </a:solidFill>
                <a:effectLst/>
                <a:latin typeface="+mn-lt"/>
                <a:ea typeface="+mn-ea"/>
                <a:cs typeface="+mn-cs"/>
              </a:rPr>
              <a:t>和 </a:t>
            </a:r>
            <a:r>
              <a:rPr lang="en-US" altLang="zh-CN" sz="1200" b="0" i="0" kern="1200" dirty="0">
                <a:solidFill>
                  <a:schemeClr val="tx1"/>
                </a:solidFill>
                <a:effectLst/>
                <a:latin typeface="+mn-lt"/>
                <a:ea typeface="+mn-ea"/>
                <a:cs typeface="+mn-cs"/>
              </a:rPr>
              <a:t>HD95 </a:t>
            </a:r>
            <a:r>
              <a:rPr lang="zh-CN" altLang="en-US" sz="1200" b="0" i="0" kern="1200" dirty="0">
                <a:solidFill>
                  <a:schemeClr val="tx1"/>
                </a:solidFill>
                <a:effectLst/>
                <a:latin typeface="+mn-lt"/>
                <a:ea typeface="+mn-ea"/>
                <a:cs typeface="+mn-cs"/>
              </a:rPr>
              <a:t>都比较理想，说明预测 </a:t>
            </a:r>
            <a:r>
              <a:rPr lang="en-US" altLang="zh-CN" sz="1200" b="0" i="0" kern="1200" dirty="0">
                <a:solidFill>
                  <a:schemeClr val="tx1"/>
                </a:solidFill>
                <a:effectLst/>
                <a:latin typeface="+mn-lt"/>
                <a:ea typeface="+mn-ea"/>
                <a:cs typeface="+mn-cs"/>
              </a:rPr>
              <a:t>mask </a:t>
            </a:r>
            <a:r>
              <a:rPr lang="zh-CN" altLang="en-US" sz="1200" b="0" i="0" kern="1200" dirty="0">
                <a:solidFill>
                  <a:schemeClr val="tx1"/>
                </a:solidFill>
                <a:effectLst/>
                <a:latin typeface="+mn-lt"/>
                <a:ea typeface="+mn-ea"/>
                <a:cs typeface="+mn-cs"/>
              </a:rPr>
              <a:t>与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对齐度高。这个 </a:t>
            </a:r>
            <a:r>
              <a:rPr lang="en-US" altLang="zh-CN" sz="1200" b="0" i="0" kern="1200" dirty="0">
                <a:solidFill>
                  <a:schemeClr val="tx1"/>
                </a:solidFill>
                <a:effectLst/>
                <a:latin typeface="+mn-lt"/>
                <a:ea typeface="+mn-ea"/>
                <a:cs typeface="+mn-cs"/>
              </a:rPr>
              <a:t>case </a:t>
            </a:r>
            <a:r>
              <a:rPr lang="zh-CN" altLang="en-US" sz="1200" b="0" i="0" kern="1200" dirty="0">
                <a:solidFill>
                  <a:schemeClr val="tx1"/>
                </a:solidFill>
                <a:effectLst/>
                <a:latin typeface="+mn-lt"/>
                <a:ea typeface="+mn-ea"/>
                <a:cs typeface="+mn-cs"/>
              </a:rPr>
              <a:t>适合验证下游算法本身，而不是被上游噪声主导。”</a:t>
            </a:r>
            <a:br>
              <a:rPr lang="zh-CN" altLang="en-US" dirty="0"/>
            </a:br>
            <a:r>
              <a:rPr lang="zh-CN" altLang="en-US" sz="1200" b="0" i="0" kern="1200" dirty="0">
                <a:solidFill>
                  <a:schemeClr val="tx1"/>
                </a:solidFill>
                <a:effectLst/>
                <a:latin typeface="+mn-lt"/>
                <a:ea typeface="+mn-ea"/>
                <a:cs typeface="+mn-cs"/>
              </a:rPr>
              <a:t>过渡句：“再看困难样例，理解失败模式。”</a:t>
            </a:r>
            <a:endParaRPr lang="en" altLang="zh-CN" dirty="0"/>
          </a:p>
        </p:txBody>
      </p:sp>
      <p:sp>
        <p:nvSpPr>
          <p:cNvPr id="4" name="灯片编号占位符 3">
            <a:extLst>
              <a:ext uri="{FF2B5EF4-FFF2-40B4-BE49-F238E27FC236}">
                <a16:creationId xmlns:a16="http://schemas.microsoft.com/office/drawing/2014/main" id="{4159DEBC-398C-4C22-24CE-89BE668D1074}"/>
              </a:ext>
            </a:extLst>
          </p:cNvPr>
          <p:cNvSpPr>
            <a:spLocks noGrp="1"/>
          </p:cNvSpPr>
          <p:nvPr>
            <p:ph type="sldNum" sz="quarter" idx="5"/>
          </p:nvPr>
        </p:nvSpPr>
        <p:spPr/>
        <p:txBody>
          <a:bodyPr/>
          <a:lstStyle/>
          <a:p>
            <a:fld id="{50F5E923-51F7-42BD-962F-269CF7F55DA1}" type="slidenum">
              <a:rPr lang="zh-CN" altLang="en-US" smtClean="0"/>
              <a:t>9</a:t>
            </a:fld>
            <a:endParaRPr lang="zh-CN" altLang="en-US"/>
          </a:p>
        </p:txBody>
      </p:sp>
    </p:spTree>
    <p:extLst>
      <p:ext uri="{BB962C8B-B14F-4D97-AF65-F5344CB8AC3E}">
        <p14:creationId xmlns:p14="http://schemas.microsoft.com/office/powerpoint/2010/main" val="3483415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FFE24-5681-3A01-BE31-72E7BC8B91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A5C3FE-7C53-FC7B-80A8-BADB5DA6597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9407CFC-4F0C-F7F2-7CB7-7AEE11867261}"/>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HD95 </a:t>
            </a:r>
            <a:r>
              <a:rPr lang="zh-CN" altLang="en-US" sz="1200" b="0" i="0" kern="1200" dirty="0">
                <a:solidFill>
                  <a:schemeClr val="tx1"/>
                </a:solidFill>
                <a:effectLst/>
                <a:latin typeface="+mn-lt"/>
                <a:ea typeface="+mn-ea"/>
                <a:cs typeface="+mn-cs"/>
              </a:rPr>
              <a:t>明显偏大，说明局部边界有较大误差。这个 </a:t>
            </a:r>
            <a:r>
              <a:rPr lang="en-US" altLang="zh-CN" sz="1200" b="0" i="0" kern="1200" dirty="0">
                <a:solidFill>
                  <a:schemeClr val="tx1"/>
                </a:solidFill>
                <a:effectLst/>
                <a:latin typeface="+mn-lt"/>
                <a:ea typeface="+mn-ea"/>
                <a:cs typeface="+mn-cs"/>
              </a:rPr>
              <a:t>case </a:t>
            </a:r>
            <a:r>
              <a:rPr lang="zh-CN" altLang="en-US" sz="1200" b="0" i="0" kern="1200" dirty="0">
                <a:solidFill>
                  <a:schemeClr val="tx1"/>
                </a:solidFill>
                <a:effectLst/>
                <a:latin typeface="+mn-lt"/>
                <a:ea typeface="+mn-ea"/>
                <a:cs typeface="+mn-cs"/>
              </a:rPr>
              <a:t>提醒我们：上游分割稳定性是全流程上限，不先解决 </a:t>
            </a:r>
            <a:r>
              <a:rPr lang="en-US" altLang="zh-CN" sz="1200" b="0" i="0" kern="1200" dirty="0">
                <a:solidFill>
                  <a:schemeClr val="tx1"/>
                </a:solidFill>
                <a:effectLst/>
                <a:latin typeface="+mn-lt"/>
                <a:ea typeface="+mn-ea"/>
                <a:cs typeface="+mn-cs"/>
              </a:rPr>
              <a:t>Step1</a:t>
            </a:r>
            <a:r>
              <a:rPr lang="zh-CN" altLang="en-US" sz="1200" b="0" i="0" kern="1200" dirty="0">
                <a:solidFill>
                  <a:schemeClr val="tx1"/>
                </a:solidFill>
                <a:effectLst/>
                <a:latin typeface="+mn-lt"/>
                <a:ea typeface="+mn-ea"/>
                <a:cs typeface="+mn-cs"/>
              </a:rPr>
              <a:t>，后面优化收益会打折。</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对于</a:t>
            </a: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在实验了多个样例后，我主要发现的问题是，</a:t>
            </a:r>
            <a:endParaRPr lang="en-US" altLang="zh-CN" sz="1200" b="0" i="0" kern="1200" dirty="0">
              <a:solidFill>
                <a:schemeClr val="tx1"/>
              </a:solidFill>
              <a:effectLst/>
              <a:latin typeface="+mn-lt"/>
              <a:ea typeface="+mn-ea"/>
              <a:cs typeface="+mn-cs"/>
            </a:endParaRPr>
          </a:p>
          <a:p>
            <a:pPr marL="228600" indent="-228600">
              <a:buAutoNum type="arabicPeriod"/>
            </a:pPr>
            <a:r>
              <a:rPr lang="zh-CN" altLang="en-US" sz="1200" b="0" i="0" kern="1200" dirty="0">
                <a:solidFill>
                  <a:schemeClr val="tx1"/>
                </a:solidFill>
                <a:effectLst/>
                <a:latin typeface="+mn-lt"/>
                <a:ea typeface="+mn-ea"/>
                <a:cs typeface="+mn-cs"/>
              </a:rPr>
              <a:t>部分血管，</a:t>
            </a:r>
            <a:r>
              <a:rPr lang="en-US" altLang="zh-CN" sz="1200" b="0" i="0" kern="1200" dirty="0" err="1">
                <a:solidFill>
                  <a:schemeClr val="tx1"/>
                </a:solidFill>
                <a:effectLst/>
                <a:latin typeface="+mn-lt"/>
                <a:ea typeface="+mn-ea"/>
                <a:cs typeface="+mn-cs"/>
              </a:rPr>
              <a:t>gt</a:t>
            </a:r>
            <a:r>
              <a:rPr lang="zh-CN" altLang="en-US" sz="1200" b="0" i="0" kern="1200" dirty="0">
                <a:solidFill>
                  <a:schemeClr val="tx1"/>
                </a:solidFill>
                <a:effectLst/>
                <a:latin typeface="+mn-lt"/>
                <a:ea typeface="+mn-ea"/>
                <a:cs typeface="+mn-cs"/>
              </a:rPr>
              <a:t>没有标注，但被分割出来了</a:t>
            </a:r>
            <a:endParaRPr lang="en-US" altLang="zh-CN" sz="1200" b="0" i="0" kern="1200" dirty="0">
              <a:solidFill>
                <a:schemeClr val="tx1"/>
              </a:solidFill>
              <a:effectLst/>
              <a:latin typeface="+mn-lt"/>
              <a:ea typeface="+mn-ea"/>
              <a:cs typeface="+mn-cs"/>
            </a:endParaRPr>
          </a:p>
          <a:p>
            <a:pPr marL="228600" indent="-228600">
              <a:buAutoNum type="arabicPeriod"/>
            </a:pPr>
            <a:r>
              <a:rPr lang="zh-CN" altLang="en-US" sz="1200" b="0" i="0" kern="1200" dirty="0">
                <a:solidFill>
                  <a:schemeClr val="tx1"/>
                </a:solidFill>
                <a:effectLst/>
                <a:latin typeface="+mn-lt"/>
                <a:ea typeface="+mn-ea"/>
                <a:cs typeface="+mn-cs"/>
              </a:rPr>
              <a:t>部分血管，</a:t>
            </a:r>
            <a:r>
              <a:rPr lang="en-US" altLang="zh-CN" sz="1200" b="0" i="0" kern="1200" dirty="0" err="1">
                <a:solidFill>
                  <a:schemeClr val="tx1"/>
                </a:solidFill>
                <a:effectLst/>
                <a:latin typeface="+mn-lt"/>
                <a:ea typeface="+mn-ea"/>
                <a:cs typeface="+mn-cs"/>
              </a:rPr>
              <a:t>gt</a:t>
            </a:r>
            <a:r>
              <a:rPr lang="zh-CN" altLang="en-US" sz="1200" b="0" i="0" kern="1200" dirty="0">
                <a:solidFill>
                  <a:schemeClr val="tx1"/>
                </a:solidFill>
                <a:effectLst/>
                <a:latin typeface="+mn-lt"/>
                <a:ea typeface="+mn-ea"/>
                <a:cs typeface="+mn-cs"/>
              </a:rPr>
              <a:t>标注出来了，但没分割出来</a:t>
            </a:r>
            <a:endParaRPr lang="en-US" altLang="zh-CN" sz="1200" b="0" i="0" kern="1200" dirty="0">
              <a:solidFill>
                <a:schemeClr val="tx1"/>
              </a:solidFill>
              <a:effectLst/>
              <a:latin typeface="+mn-lt"/>
              <a:ea typeface="+mn-ea"/>
              <a:cs typeface="+mn-cs"/>
            </a:endParaRPr>
          </a:p>
          <a:p>
            <a:pPr marL="228600" indent="-228600">
              <a:buAutoNum type="arabicPeriod"/>
            </a:pP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之前我手搓了一个算法，但效果表现一般。目前这一版目前采用的分割方法是调用了</a:t>
            </a:r>
            <a:r>
              <a:rPr lang="en-US" altLang="zh-CN" sz="1200" b="0" i="0" kern="1200" dirty="0" err="1">
                <a:solidFill>
                  <a:schemeClr val="tx1"/>
                </a:solidFill>
                <a:effectLst/>
                <a:latin typeface="+mn-lt"/>
                <a:ea typeface="+mn-ea"/>
                <a:cs typeface="+mn-cs"/>
              </a:rPr>
              <a:t>Totalsegmentation</a:t>
            </a:r>
            <a:r>
              <a:rPr lang="zh-CN" altLang="en-US" sz="1200" b="0" i="0" kern="1200" dirty="0">
                <a:solidFill>
                  <a:schemeClr val="tx1"/>
                </a:solidFill>
                <a:effectLst/>
                <a:latin typeface="+mn-lt"/>
                <a:ea typeface="+mn-ea"/>
                <a:cs typeface="+mn-cs"/>
              </a:rPr>
              <a:t>的。后期需要视情况，决定是基于</a:t>
            </a:r>
            <a:r>
              <a:rPr lang="en-US" altLang="zh-CN" sz="1200" b="0" i="0" kern="1200" dirty="0">
                <a:solidFill>
                  <a:schemeClr val="tx1"/>
                </a:solidFill>
                <a:effectLst/>
                <a:latin typeface="+mn-lt"/>
                <a:ea typeface="+mn-ea"/>
                <a:cs typeface="+mn-cs"/>
              </a:rPr>
              <a:t>Total segmentation</a:t>
            </a:r>
            <a:r>
              <a:rPr lang="zh-CN" altLang="en-US" sz="1200" b="0" i="0" kern="1200" dirty="0">
                <a:solidFill>
                  <a:schemeClr val="tx1"/>
                </a:solidFill>
                <a:effectLst/>
                <a:latin typeface="+mn-lt"/>
                <a:ea typeface="+mn-ea"/>
                <a:cs typeface="+mn-cs"/>
              </a:rPr>
              <a:t>微调，还是直接写个新的。”</a:t>
            </a:r>
            <a:br>
              <a:rPr lang="zh-CN" altLang="en-US" dirty="0"/>
            </a:br>
            <a:r>
              <a:rPr lang="zh-CN" altLang="en-US" sz="1200" b="0" i="0" kern="1200" dirty="0">
                <a:solidFill>
                  <a:schemeClr val="tx1"/>
                </a:solidFill>
                <a:effectLst/>
                <a:latin typeface="+mn-lt"/>
                <a:ea typeface="+mn-ea"/>
                <a:cs typeface="+mn-cs"/>
              </a:rPr>
              <a:t>过渡句：“在这个背景下看 </a:t>
            </a:r>
            <a:r>
              <a:rPr lang="en-US" altLang="zh-CN" sz="1200" b="0" i="0" kern="1200" dirty="0">
                <a:solidFill>
                  <a:schemeClr val="tx1"/>
                </a:solidFill>
                <a:effectLst/>
                <a:latin typeface="+mn-lt"/>
                <a:ea typeface="+mn-ea"/>
                <a:cs typeface="+mn-cs"/>
              </a:rPr>
              <a:t>Step2/3 </a:t>
            </a:r>
            <a:r>
              <a:rPr lang="zh-CN" altLang="en-US" sz="1200" b="0" i="0" kern="1200" dirty="0">
                <a:solidFill>
                  <a:schemeClr val="tx1"/>
                </a:solidFill>
                <a:effectLst/>
                <a:latin typeface="+mn-lt"/>
                <a:ea typeface="+mn-ea"/>
                <a:cs typeface="+mn-cs"/>
              </a:rPr>
              <a:t>的中心线表现。”</a:t>
            </a:r>
            <a:endParaRPr lang="en" altLang="zh-CN" dirty="0"/>
          </a:p>
        </p:txBody>
      </p:sp>
      <p:sp>
        <p:nvSpPr>
          <p:cNvPr id="4" name="灯片编号占位符 3">
            <a:extLst>
              <a:ext uri="{FF2B5EF4-FFF2-40B4-BE49-F238E27FC236}">
                <a16:creationId xmlns:a16="http://schemas.microsoft.com/office/drawing/2014/main" id="{BF882034-73F5-F7D5-D4E4-3461A6EFA296}"/>
              </a:ext>
            </a:extLst>
          </p:cNvPr>
          <p:cNvSpPr>
            <a:spLocks noGrp="1"/>
          </p:cNvSpPr>
          <p:nvPr>
            <p:ph type="sldNum" sz="quarter" idx="5"/>
          </p:nvPr>
        </p:nvSpPr>
        <p:spPr/>
        <p:txBody>
          <a:bodyPr/>
          <a:lstStyle/>
          <a:p>
            <a:fld id="{50F5E923-51F7-42BD-962F-269CF7F55DA1}" type="slidenum">
              <a:rPr lang="zh-CN" altLang="en-US" smtClean="0"/>
              <a:t>10</a:t>
            </a:fld>
            <a:endParaRPr lang="zh-CN" altLang="en-US"/>
          </a:p>
        </p:txBody>
      </p:sp>
    </p:spTree>
    <p:extLst>
      <p:ext uri="{BB962C8B-B14F-4D97-AF65-F5344CB8AC3E}">
        <p14:creationId xmlns:p14="http://schemas.microsoft.com/office/powerpoint/2010/main" val="3779654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C28C5-2D37-96FC-0C02-98977E4DC9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337607-A9F7-F3BF-47EF-5FC77014A74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4BE4D27-2930-3FB0-09F6-B4B1ADBCC93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“这页对比了中心线修复后的空间表现。核心看两点：一是是否连续且符合血管走形，二是与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的偏差是否下降。当前结果说明 </a:t>
            </a:r>
            <a:r>
              <a:rPr lang="en-US" altLang="zh-CN" sz="1200" b="0" i="0" kern="1200" dirty="0">
                <a:solidFill>
                  <a:schemeClr val="tx1"/>
                </a:solidFill>
                <a:effectLst/>
                <a:latin typeface="+mn-lt"/>
                <a:ea typeface="+mn-ea"/>
                <a:cs typeface="+mn-cs"/>
              </a:rPr>
              <a:t>repair </a:t>
            </a:r>
            <a:r>
              <a:rPr lang="zh-CN" altLang="en-US" sz="1200" b="0" i="0" kern="1200" dirty="0">
                <a:solidFill>
                  <a:schemeClr val="tx1"/>
                </a:solidFill>
                <a:effectLst/>
                <a:latin typeface="+mn-lt"/>
                <a:ea typeface="+mn-ea"/>
                <a:cs typeface="+mn-cs"/>
              </a:rPr>
              <a:t>对尾部误差和局部断裂有改善。”</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过渡句：“这里有一个关键工程问题我专门修复过。”</a:t>
            </a:r>
          </a:p>
        </p:txBody>
      </p:sp>
      <p:sp>
        <p:nvSpPr>
          <p:cNvPr id="4" name="灯片编号占位符 3">
            <a:extLst>
              <a:ext uri="{FF2B5EF4-FFF2-40B4-BE49-F238E27FC236}">
                <a16:creationId xmlns:a16="http://schemas.microsoft.com/office/drawing/2014/main" id="{C8922E69-1500-30F1-7379-2EF52252A61D}"/>
              </a:ext>
            </a:extLst>
          </p:cNvPr>
          <p:cNvSpPr>
            <a:spLocks noGrp="1"/>
          </p:cNvSpPr>
          <p:nvPr>
            <p:ph type="sldNum" sz="quarter" idx="5"/>
          </p:nvPr>
        </p:nvSpPr>
        <p:spPr/>
        <p:txBody>
          <a:bodyPr/>
          <a:lstStyle/>
          <a:p>
            <a:fld id="{50F5E923-51F7-42BD-962F-269CF7F55DA1}" type="slidenum">
              <a:rPr lang="zh-CN" altLang="en-US" smtClean="0"/>
              <a:t>11</a:t>
            </a:fld>
            <a:endParaRPr lang="zh-CN" altLang="en-US"/>
          </a:p>
        </p:txBody>
      </p:sp>
    </p:spTree>
    <p:extLst>
      <p:ext uri="{BB962C8B-B14F-4D97-AF65-F5344CB8AC3E}">
        <p14:creationId xmlns:p14="http://schemas.microsoft.com/office/powerpoint/2010/main" val="2617760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2C4F-AB46-28E2-7C38-7EBB6ABB27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3C2447-C891-7999-094D-3335C82FD5D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AC8221A-B1E3-D436-79E3-681975C4F1D8}"/>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修复原理是基于血管的物理约束和走形。我调研了血管的物理约束（包括空间曲率的问题），以及血管走形来修复。至于为什么要用血管走形呢？我的想法是因为血管是管状结构，其中心线有很好的指向性，利用这一点，可以把断裂的中心线，按照血管物理约束进行连接。从而达到修复效果。</a:t>
            </a:r>
            <a:endParaRPr lang="en-US" altLang="zh-CN" sz="1200" b="0" i="0" kern="1200" dirty="0">
              <a:solidFill>
                <a:schemeClr val="tx1"/>
              </a:solidFill>
              <a:effectLst/>
              <a:latin typeface="+mn-lt"/>
              <a:ea typeface="+mn-ea"/>
              <a:cs typeface="+mn-cs"/>
            </a:endParaRPr>
          </a:p>
          <a:p>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“之前的 </a:t>
            </a:r>
            <a:r>
              <a:rPr lang="en-US" altLang="zh-CN" sz="1200" b="0" i="0" kern="1200" dirty="0">
                <a:solidFill>
                  <a:schemeClr val="tx1"/>
                </a:solidFill>
                <a:effectLst/>
                <a:latin typeface="+mn-lt"/>
                <a:ea typeface="+mn-ea"/>
                <a:cs typeface="+mn-cs"/>
              </a:rPr>
              <a:t>repaired </a:t>
            </a:r>
            <a:r>
              <a:rPr lang="zh-CN" altLang="en-US" sz="1200" b="0" i="0" kern="1200" dirty="0">
                <a:solidFill>
                  <a:schemeClr val="tx1"/>
                </a:solidFill>
                <a:effectLst/>
                <a:latin typeface="+mn-lt"/>
                <a:ea typeface="+mn-ea"/>
                <a:cs typeface="+mn-cs"/>
              </a:rPr>
              <a:t>线看起来连着，但拓扑上是碎的。根因是写 </a:t>
            </a:r>
            <a:r>
              <a:rPr lang="en-US" altLang="zh-CN" sz="1200" b="0" i="0" kern="1200" dirty="0">
                <a:solidFill>
                  <a:schemeClr val="tx1"/>
                </a:solidFill>
                <a:effectLst/>
                <a:latin typeface="+mn-lt"/>
                <a:ea typeface="+mn-ea"/>
                <a:cs typeface="+mn-cs"/>
              </a:rPr>
              <a:t>VTP </a:t>
            </a:r>
            <a:r>
              <a:rPr lang="zh-CN" altLang="en-US" sz="1200" b="0" i="0" kern="1200" dirty="0">
                <a:solidFill>
                  <a:schemeClr val="tx1"/>
                </a:solidFill>
                <a:effectLst/>
                <a:latin typeface="+mn-lt"/>
                <a:ea typeface="+mn-ea"/>
                <a:cs typeface="+mn-cs"/>
              </a:rPr>
              <a:t>时端点没有共享 </a:t>
            </a:r>
            <a:r>
              <a:rPr lang="en-US" altLang="zh-CN" sz="1200" b="0" i="0" kern="1200" dirty="0">
                <a:solidFill>
                  <a:schemeClr val="tx1"/>
                </a:solidFill>
                <a:effectLst/>
                <a:latin typeface="+mn-lt"/>
                <a:ea typeface="+mn-ea"/>
                <a:cs typeface="+mn-cs"/>
              </a:rPr>
              <a:t>point ID</a:t>
            </a:r>
            <a:r>
              <a:rPr lang="zh-CN" altLang="en-US" sz="1200" b="0" i="0" kern="1200" dirty="0">
                <a:solidFill>
                  <a:schemeClr val="tx1"/>
                </a:solidFill>
                <a:effectLst/>
                <a:latin typeface="+mn-lt"/>
                <a:ea typeface="+mn-ea"/>
                <a:cs typeface="+mn-cs"/>
              </a:rPr>
              <a:t>。修复后引入端点合并和拓扑监控，结果从大量离散组件收敛到符合解剖的连通结构。这说明我做的是‘结构层面修复’，不是只调参数。”</a:t>
            </a:r>
            <a:br>
              <a:rPr lang="zh-CN" altLang="en-US" dirty="0"/>
            </a:br>
            <a:r>
              <a:rPr lang="zh-CN" altLang="en-US" sz="1200" b="0" i="0" kern="1200" dirty="0">
                <a:solidFill>
                  <a:schemeClr val="tx1"/>
                </a:solidFill>
                <a:effectLst/>
                <a:latin typeface="+mn-lt"/>
                <a:ea typeface="+mn-ea"/>
                <a:cs typeface="+mn-cs"/>
              </a:rPr>
              <a:t>过渡句：“修好拓扑后，再看跨</a:t>
            </a:r>
            <a:r>
              <a:rPr lang="en-US" altLang="zh-CN" sz="1200" b="0" i="0" kern="1200" dirty="0">
                <a:solidFill>
                  <a:schemeClr val="tx1"/>
                </a:solidFill>
                <a:effectLst/>
                <a:latin typeface="+mn-lt"/>
                <a:ea typeface="+mn-ea"/>
                <a:cs typeface="+mn-cs"/>
              </a:rPr>
              <a:t>case</a:t>
            </a:r>
            <a:r>
              <a:rPr lang="zh-CN" altLang="en-US" sz="1200" b="0" i="0" kern="1200" dirty="0">
                <a:solidFill>
                  <a:schemeClr val="tx1"/>
                </a:solidFill>
                <a:effectLst/>
                <a:latin typeface="+mn-lt"/>
                <a:ea typeface="+mn-ea"/>
                <a:cs typeface="+mn-cs"/>
              </a:rPr>
              <a:t>层面的对比。”</a:t>
            </a:r>
            <a:endParaRPr lang="en" altLang="zh-CN" dirty="0"/>
          </a:p>
        </p:txBody>
      </p:sp>
      <p:sp>
        <p:nvSpPr>
          <p:cNvPr id="4" name="灯片编号占位符 3">
            <a:extLst>
              <a:ext uri="{FF2B5EF4-FFF2-40B4-BE49-F238E27FC236}">
                <a16:creationId xmlns:a16="http://schemas.microsoft.com/office/drawing/2014/main" id="{499484C6-ACD8-2773-82CB-A0DE9D7DDECD}"/>
              </a:ext>
            </a:extLst>
          </p:cNvPr>
          <p:cNvSpPr>
            <a:spLocks noGrp="1"/>
          </p:cNvSpPr>
          <p:nvPr>
            <p:ph type="sldNum" sz="quarter" idx="5"/>
          </p:nvPr>
        </p:nvSpPr>
        <p:spPr/>
        <p:txBody>
          <a:bodyPr/>
          <a:lstStyle/>
          <a:p>
            <a:fld id="{50F5E923-51F7-42BD-962F-269CF7F55DA1}" type="slidenum">
              <a:rPr lang="zh-CN" altLang="en-US" smtClean="0"/>
              <a:t>12</a:t>
            </a:fld>
            <a:endParaRPr lang="zh-CN" altLang="en-US"/>
          </a:p>
        </p:txBody>
      </p:sp>
    </p:spTree>
    <p:extLst>
      <p:ext uri="{BB962C8B-B14F-4D97-AF65-F5344CB8AC3E}">
        <p14:creationId xmlns:p14="http://schemas.microsoft.com/office/powerpoint/2010/main" val="449129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CE275-312B-8CF5-CE13-44B3637500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C1F5ED-4ED2-399A-CF53-525CC376B70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791BFA5-D71C-29E8-37B8-B885D10BB8D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“这里是 </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和 </a:t>
            </a:r>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的横向对比。</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Step3 p95 </a:t>
            </a:r>
            <a:r>
              <a:rPr lang="zh-CN" altLang="en-US" sz="1200" b="0" i="0" kern="1200" dirty="0">
                <a:solidFill>
                  <a:schemeClr val="tx1"/>
                </a:solidFill>
                <a:effectLst/>
                <a:latin typeface="+mn-lt"/>
                <a:ea typeface="+mn-ea"/>
                <a:cs typeface="+mn-cs"/>
              </a:rPr>
              <a:t>从 </a:t>
            </a:r>
            <a:r>
              <a:rPr lang="en-US" altLang="zh-CN" sz="1200" b="0" i="0" kern="1200" dirty="0">
                <a:solidFill>
                  <a:schemeClr val="tx1"/>
                </a:solidFill>
                <a:effectLst/>
                <a:latin typeface="+mn-lt"/>
                <a:ea typeface="+mn-ea"/>
                <a:cs typeface="+mn-cs"/>
              </a:rPr>
              <a:t>Step2 </a:t>
            </a:r>
            <a:r>
              <a:rPr lang="zh-CN" altLang="en-US" sz="1200" b="0" i="0" kern="1200" dirty="0">
                <a:solidFill>
                  <a:schemeClr val="tx1"/>
                </a:solidFill>
                <a:effectLst/>
                <a:latin typeface="+mn-lt"/>
                <a:ea typeface="+mn-ea"/>
                <a:cs typeface="+mn-cs"/>
              </a:rPr>
              <a:t>明显下降，说明修复有效；</a:t>
            </a:r>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的主要瓶颈在 </a:t>
            </a: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分割，导致后续受影响。这个表帮助我们决定优化优先级。”</a:t>
            </a:r>
            <a:endParaRPr lang="en" altLang="zh-CN" dirty="0"/>
          </a:p>
        </p:txBody>
      </p:sp>
      <p:sp>
        <p:nvSpPr>
          <p:cNvPr id="4" name="灯片编号占位符 3">
            <a:extLst>
              <a:ext uri="{FF2B5EF4-FFF2-40B4-BE49-F238E27FC236}">
                <a16:creationId xmlns:a16="http://schemas.microsoft.com/office/drawing/2014/main" id="{85051A8D-1727-1D85-724B-14817CAFF404}"/>
              </a:ext>
            </a:extLst>
          </p:cNvPr>
          <p:cNvSpPr>
            <a:spLocks noGrp="1"/>
          </p:cNvSpPr>
          <p:nvPr>
            <p:ph type="sldNum" sz="quarter" idx="5"/>
          </p:nvPr>
        </p:nvSpPr>
        <p:spPr/>
        <p:txBody>
          <a:bodyPr/>
          <a:lstStyle/>
          <a:p>
            <a:fld id="{50F5E923-51F7-42BD-962F-269CF7F55DA1}" type="slidenum">
              <a:rPr lang="zh-CN" altLang="en-US" smtClean="0"/>
              <a:t>13</a:t>
            </a:fld>
            <a:endParaRPr lang="zh-CN" altLang="en-US"/>
          </a:p>
        </p:txBody>
      </p:sp>
    </p:spTree>
    <p:extLst>
      <p:ext uri="{BB962C8B-B14F-4D97-AF65-F5344CB8AC3E}">
        <p14:creationId xmlns:p14="http://schemas.microsoft.com/office/powerpoint/2010/main" val="2012641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9A9BD-7FF4-DE2C-9467-B9BDC024E5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A0869C-09E3-45EC-5200-3E1F18D8696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D707ACE9-4077-753F-04C9-B0AB0DD79ED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“这页看分支级特征。</a:t>
            </a:r>
            <a:r>
              <a:rPr lang="en-US" altLang="zh-CN" sz="1200" b="0" i="0" kern="1200" dirty="0">
                <a:solidFill>
                  <a:schemeClr val="tx1"/>
                </a:solidFill>
                <a:effectLst/>
                <a:latin typeface="+mn-lt"/>
                <a:ea typeface="+mn-ea"/>
                <a:cs typeface="+mn-cs"/>
              </a:rPr>
              <a:t>Normal_2 </a:t>
            </a:r>
            <a:r>
              <a:rPr lang="zh-CN" altLang="en-US" sz="1200" b="0" i="0" kern="1200" dirty="0">
                <a:solidFill>
                  <a:schemeClr val="tx1"/>
                </a:solidFill>
                <a:effectLst/>
                <a:latin typeface="+mn-lt"/>
                <a:ea typeface="+mn-ea"/>
                <a:cs typeface="+mn-cs"/>
              </a:rPr>
              <a:t>的分支计数和 </a:t>
            </a:r>
            <a:r>
              <a:rPr lang="en-US" altLang="zh-CN" sz="1200" b="0" i="0" kern="1200" dirty="0">
                <a:solidFill>
                  <a:schemeClr val="tx1"/>
                </a:solidFill>
                <a:effectLst/>
                <a:latin typeface="+mn-lt"/>
                <a:ea typeface="+mn-ea"/>
                <a:cs typeface="+mn-cs"/>
              </a:rPr>
              <a:t>GT </a:t>
            </a:r>
            <a:r>
              <a:rPr lang="zh-CN" altLang="en-US" sz="1200" b="0" i="0" kern="1200" dirty="0">
                <a:solidFill>
                  <a:schemeClr val="tx1"/>
                </a:solidFill>
                <a:effectLst/>
                <a:latin typeface="+mn-lt"/>
                <a:ea typeface="+mn-ea"/>
                <a:cs typeface="+mn-cs"/>
              </a:rPr>
              <a:t>对齐较好；</a:t>
            </a:r>
            <a:r>
              <a:rPr lang="en-US" altLang="zh-CN" sz="1200" b="0" i="0" kern="1200" dirty="0">
                <a:solidFill>
                  <a:schemeClr val="tx1"/>
                </a:solidFill>
                <a:effectLst/>
                <a:latin typeface="+mn-lt"/>
                <a:ea typeface="+mn-ea"/>
                <a:cs typeface="+mn-cs"/>
              </a:rPr>
              <a:t>Normal_1 </a:t>
            </a:r>
            <a:r>
              <a:rPr lang="zh-CN" altLang="en-US" sz="1200" b="0" i="0" kern="1200" dirty="0">
                <a:solidFill>
                  <a:schemeClr val="tx1"/>
                </a:solidFill>
                <a:effectLst/>
                <a:latin typeface="+mn-lt"/>
                <a:ea typeface="+mn-ea"/>
                <a:cs typeface="+mn-cs"/>
              </a:rPr>
              <a:t>还有一段冗余分支，需要继续治理。整体上特征向量相似度已经较高，说明主干结构基本合理。”</a:t>
            </a:r>
            <a:br>
              <a:rPr lang="zh-CN" altLang="en-US" dirty="0"/>
            </a:br>
            <a:r>
              <a:rPr lang="zh-CN" altLang="en-US" sz="1200" b="0" i="0" kern="1200" dirty="0">
                <a:solidFill>
                  <a:schemeClr val="tx1"/>
                </a:solidFill>
                <a:effectLst/>
                <a:latin typeface="+mn-lt"/>
                <a:ea typeface="+mn-ea"/>
                <a:cs typeface="+mn-cs"/>
              </a:rPr>
              <a:t>过渡句：“最后给出风险和两周执行计划。”</a:t>
            </a:r>
            <a:endParaRPr lang="en" altLang="zh-CN" dirty="0"/>
          </a:p>
        </p:txBody>
      </p:sp>
      <p:sp>
        <p:nvSpPr>
          <p:cNvPr id="4" name="灯片编号占位符 3">
            <a:extLst>
              <a:ext uri="{FF2B5EF4-FFF2-40B4-BE49-F238E27FC236}">
                <a16:creationId xmlns:a16="http://schemas.microsoft.com/office/drawing/2014/main" id="{F6E6A9C2-3E1E-FBB6-7420-FE59BC1EF8F1}"/>
              </a:ext>
            </a:extLst>
          </p:cNvPr>
          <p:cNvSpPr>
            <a:spLocks noGrp="1"/>
          </p:cNvSpPr>
          <p:nvPr>
            <p:ph type="sldNum" sz="quarter" idx="5"/>
          </p:nvPr>
        </p:nvSpPr>
        <p:spPr/>
        <p:txBody>
          <a:bodyPr/>
          <a:lstStyle/>
          <a:p>
            <a:fld id="{50F5E923-51F7-42BD-962F-269CF7F55DA1}" type="slidenum">
              <a:rPr lang="zh-CN" altLang="en-US" smtClean="0"/>
              <a:t>14</a:t>
            </a:fld>
            <a:endParaRPr lang="zh-CN" altLang="en-US"/>
          </a:p>
        </p:txBody>
      </p:sp>
    </p:spTree>
    <p:extLst>
      <p:ext uri="{BB962C8B-B14F-4D97-AF65-F5344CB8AC3E}">
        <p14:creationId xmlns:p14="http://schemas.microsoft.com/office/powerpoint/2010/main" val="1178637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411B1-16E9-28D8-AE92-2A4880879D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F352FC-6E95-4453-BC0F-B7441269F74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43CFE8E-ED25-CF3F-4A01-969BA393D775}"/>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“当前风险主要有三个：</a:t>
            </a:r>
            <a:r>
              <a:rPr lang="en-US" altLang="zh-CN" sz="1200" b="0" i="0" kern="1200" dirty="0">
                <a:solidFill>
                  <a:schemeClr val="tx1"/>
                </a:solidFill>
                <a:effectLst/>
                <a:latin typeface="+mn-lt"/>
                <a:ea typeface="+mn-ea"/>
                <a:cs typeface="+mn-cs"/>
              </a:rPr>
              <a:t>Step1 </a:t>
            </a:r>
            <a:r>
              <a:rPr lang="zh-CN" altLang="en-US" sz="1200" b="0" i="0" kern="1200" dirty="0">
                <a:solidFill>
                  <a:schemeClr val="tx1"/>
                </a:solidFill>
                <a:effectLst/>
                <a:latin typeface="+mn-lt"/>
                <a:ea typeface="+mn-ea"/>
                <a:cs typeface="+mn-cs"/>
              </a:rPr>
              <a:t>稳定性波动、</a:t>
            </a:r>
            <a:r>
              <a:rPr lang="en-US" altLang="zh-CN" sz="1200" b="0" i="0" kern="1200" dirty="0">
                <a:solidFill>
                  <a:schemeClr val="tx1"/>
                </a:solidFill>
                <a:effectLst/>
                <a:latin typeface="+mn-lt"/>
                <a:ea typeface="+mn-ea"/>
                <a:cs typeface="+mn-cs"/>
              </a:rPr>
              <a:t>Step3 </a:t>
            </a:r>
            <a:r>
              <a:rPr lang="zh-CN" altLang="en-US" sz="1200" b="0" i="0" kern="1200" dirty="0">
                <a:solidFill>
                  <a:schemeClr val="tx1"/>
                </a:solidFill>
                <a:effectLst/>
                <a:latin typeface="+mn-lt"/>
                <a:ea typeface="+mn-ea"/>
                <a:cs typeface="+mn-cs"/>
              </a:rPr>
              <a:t>补线能力还不够、</a:t>
            </a:r>
            <a:r>
              <a:rPr lang="en-US" altLang="zh-CN" sz="1200" b="0" i="0" kern="1200" dirty="0">
                <a:solidFill>
                  <a:schemeClr val="tx1"/>
                </a:solidFill>
                <a:effectLst/>
                <a:latin typeface="+mn-lt"/>
                <a:ea typeface="+mn-ea"/>
                <a:cs typeface="+mn-cs"/>
              </a:rPr>
              <a:t>Step4 </a:t>
            </a:r>
            <a:r>
              <a:rPr lang="zh-CN" altLang="en-US" sz="1200" b="0" i="0" kern="1200" dirty="0">
                <a:solidFill>
                  <a:schemeClr val="tx1"/>
                </a:solidFill>
                <a:effectLst/>
                <a:latin typeface="+mn-lt"/>
                <a:ea typeface="+mn-ea"/>
                <a:cs typeface="+mn-cs"/>
              </a:rPr>
              <a:t>冗余分支偶发。两周计划是：第一周做结构化补线与回归测试，第二周做分支治理和多例统计。”</a:t>
            </a:r>
            <a:br>
              <a:rPr lang="zh-CN" altLang="en-US" dirty="0"/>
            </a:br>
            <a:r>
              <a:rPr lang="zh-CN" altLang="en-US" sz="1200" b="0" i="0" kern="1200" dirty="0">
                <a:solidFill>
                  <a:schemeClr val="tx1"/>
                </a:solidFill>
                <a:effectLst/>
                <a:latin typeface="+mn-lt"/>
                <a:ea typeface="+mn-ea"/>
                <a:cs typeface="+mn-cs"/>
              </a:rPr>
              <a:t>过渡句：“接下来总结我这阶段的核心贡献。”</a:t>
            </a:r>
            <a:endParaRPr lang="en" altLang="zh-CN" dirty="0"/>
          </a:p>
        </p:txBody>
      </p:sp>
      <p:sp>
        <p:nvSpPr>
          <p:cNvPr id="4" name="灯片编号占位符 3">
            <a:extLst>
              <a:ext uri="{FF2B5EF4-FFF2-40B4-BE49-F238E27FC236}">
                <a16:creationId xmlns:a16="http://schemas.microsoft.com/office/drawing/2014/main" id="{773A9C36-96C7-97AC-49A2-64B0541549C4}"/>
              </a:ext>
            </a:extLst>
          </p:cNvPr>
          <p:cNvSpPr>
            <a:spLocks noGrp="1"/>
          </p:cNvSpPr>
          <p:nvPr>
            <p:ph type="sldNum" sz="quarter" idx="5"/>
          </p:nvPr>
        </p:nvSpPr>
        <p:spPr/>
        <p:txBody>
          <a:bodyPr/>
          <a:lstStyle/>
          <a:p>
            <a:fld id="{50F5E923-51F7-42BD-962F-269CF7F55DA1}" type="slidenum">
              <a:rPr lang="zh-CN" altLang="en-US" smtClean="0"/>
              <a:t>15</a:t>
            </a:fld>
            <a:endParaRPr lang="zh-CN" altLang="en-US"/>
          </a:p>
        </p:txBody>
      </p:sp>
    </p:spTree>
    <p:extLst>
      <p:ext uri="{BB962C8B-B14F-4D97-AF65-F5344CB8AC3E}">
        <p14:creationId xmlns:p14="http://schemas.microsoft.com/office/powerpoint/2010/main" val="3366203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AC805-58B5-F0C9-79EC-833C4BEE74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1D5787-3B6A-9312-8096-28D41BD0244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063B197-85C6-FEAD-9BEE-6DCB37708AC7}"/>
              </a:ext>
            </a:extLst>
          </p:cNvPr>
          <p:cNvSpPr>
            <a:spLocks noGrp="1"/>
          </p:cNvSpPr>
          <p:nvPr>
            <p:ph type="body" idx="1"/>
          </p:nvPr>
        </p:nvSpPr>
        <p:spPr/>
        <p:txBody>
          <a:bodyPr/>
          <a:lstStyle/>
          <a:p>
            <a:r>
              <a:rPr lang="zh-CN" altLang="en-US" sz="1200" b="0" i="0" kern="1200" dirty="0">
                <a:solidFill>
                  <a:schemeClr val="tx1"/>
                </a:solidFill>
                <a:effectLst/>
                <a:latin typeface="+mn-lt"/>
                <a:ea typeface="+mn-ea"/>
                <a:cs typeface="+mn-cs"/>
              </a:rPr>
              <a:t>“我把原先分散脚本整合成端到端可复现流程，并建立了统一指标口径。其次我定位并修复了拓扑层面的关键 </a:t>
            </a:r>
            <a:r>
              <a:rPr lang="en-US" altLang="zh-CN" sz="1200" b="0" i="0" kern="1200" dirty="0">
                <a:solidFill>
                  <a:schemeClr val="tx1"/>
                </a:solidFill>
                <a:effectLst/>
                <a:latin typeface="+mn-lt"/>
                <a:ea typeface="+mn-ea"/>
                <a:cs typeface="+mn-cs"/>
              </a:rPr>
              <a:t>bug</a:t>
            </a:r>
            <a:r>
              <a:rPr lang="zh-CN" altLang="en-US" sz="1200" b="0" i="0" kern="1200" dirty="0">
                <a:solidFill>
                  <a:schemeClr val="tx1"/>
                </a:solidFill>
                <a:effectLst/>
                <a:latin typeface="+mn-lt"/>
                <a:ea typeface="+mn-ea"/>
                <a:cs typeface="+mn-cs"/>
              </a:rPr>
              <a:t>。最后，我把失败案例转化成可回归的问题清单，形成持续迭代机制。”</a:t>
            </a:r>
            <a:endParaRPr lang="en-US" altLang="zh-CN" sz="1200" b="0" i="0" kern="1200" dirty="0">
              <a:solidFill>
                <a:schemeClr val="tx1"/>
              </a:solidFill>
              <a:effectLst/>
              <a:latin typeface="+mn-lt"/>
              <a:ea typeface="+mn-ea"/>
              <a:cs typeface="+mn-cs"/>
            </a:endParaRPr>
          </a:p>
          <a:p>
            <a:r>
              <a:rPr lang="zh-CN" altLang="en-US" dirty="0"/>
              <a:t>这部分还主要聚焦修复部分。之后可能需要聚焦多模态匹配以及血管变形部分。</a:t>
            </a:r>
            <a:br>
              <a:rPr lang="zh-CN" altLang="en-US" dirty="0"/>
            </a:br>
            <a:r>
              <a:rPr lang="zh-CN" altLang="en-US" sz="1200" b="0" i="0" kern="1200" dirty="0">
                <a:solidFill>
                  <a:schemeClr val="tx1"/>
                </a:solidFill>
                <a:effectLst/>
                <a:latin typeface="+mn-lt"/>
                <a:ea typeface="+mn-ea"/>
                <a:cs typeface="+mn-cs"/>
              </a:rPr>
              <a:t>过渡句：“最后我希望得到导师的方向性反馈。”</a:t>
            </a:r>
            <a:endParaRPr lang="en" altLang="zh-CN" dirty="0"/>
          </a:p>
        </p:txBody>
      </p:sp>
      <p:sp>
        <p:nvSpPr>
          <p:cNvPr id="4" name="灯片编号占位符 3">
            <a:extLst>
              <a:ext uri="{FF2B5EF4-FFF2-40B4-BE49-F238E27FC236}">
                <a16:creationId xmlns:a16="http://schemas.microsoft.com/office/drawing/2014/main" id="{8DD291B8-B033-F2D9-744B-0A4A6922FEB2}"/>
              </a:ext>
            </a:extLst>
          </p:cNvPr>
          <p:cNvSpPr>
            <a:spLocks noGrp="1"/>
          </p:cNvSpPr>
          <p:nvPr>
            <p:ph type="sldNum" sz="quarter" idx="5"/>
          </p:nvPr>
        </p:nvSpPr>
        <p:spPr/>
        <p:txBody>
          <a:bodyPr/>
          <a:lstStyle/>
          <a:p>
            <a:fld id="{50F5E923-51F7-42BD-962F-269CF7F55DA1}" type="slidenum">
              <a:rPr lang="zh-CN" altLang="en-US" smtClean="0"/>
              <a:t>16</a:t>
            </a:fld>
            <a:endParaRPr lang="zh-CN" altLang="en-US"/>
          </a:p>
        </p:txBody>
      </p:sp>
    </p:spTree>
    <p:extLst>
      <p:ext uri="{BB962C8B-B14F-4D97-AF65-F5344CB8AC3E}">
        <p14:creationId xmlns:p14="http://schemas.microsoft.com/office/powerpoint/2010/main" val="37180105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“I’m interested in </a:t>
            </a:r>
            <a:r>
              <a:rPr lang="en-US" altLang="zh-CN" dirty="0" err="1"/>
              <a:t>PixAIL</a:t>
            </a:r>
            <a:r>
              <a:rPr lang="en-US" altLang="zh-CN" dirty="0"/>
              <a:t> because your directions align directly with what my pipeline needs next: multimodal medical modeling, fine-grained temporal modeling for cine/DSA-like sequences, and generative or probabilistic methods for reconstruction and uncertainty. My current work already sits at the intersection of geometry-aware alignment and structured vascular representation, so I believe I can plug into ongoing projects quickly while also contributing engineering rigor and reproducibility.”</a:t>
            </a:r>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17</a:t>
            </a:fld>
            <a:endParaRPr lang="zh-CN" altLang="en-US"/>
          </a:p>
        </p:txBody>
      </p:sp>
    </p:spTree>
    <p:extLst>
      <p:ext uri="{BB962C8B-B14F-4D97-AF65-F5344CB8AC3E}">
        <p14:creationId xmlns:p14="http://schemas.microsoft.com/office/powerpoint/2010/main" val="2674128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EBEC2-7C7A-75FD-2235-1569D13507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C6193B-F20C-57E5-1049-3134EE82EB8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9A30E15-D213-8B95-9DD1-20282E16D12F}"/>
              </a:ext>
            </a:extLst>
          </p:cNvPr>
          <p:cNvSpPr>
            <a:spLocks noGrp="1"/>
          </p:cNvSpPr>
          <p:nvPr>
            <p:ph type="body" idx="1"/>
          </p:nvPr>
        </p:nvSpPr>
        <p:spPr/>
        <p:txBody>
          <a:bodyPr/>
          <a:lstStyle/>
          <a:p>
            <a:r>
              <a:rPr lang="en-US" altLang="zh-CN" dirty="0"/>
              <a:t>“I’m flexible on the exact topic, but I’d like to prioritize something that is both clinically grounded and technically deep. Concretely, I can start by reproducing a baseline and setting up clean data/evaluation pipelines, then prototype temporal-consistency or real-time alignment modules, and finally explore multimodal or generative enhancements if that fits the lab’s direction. My preference is to deliver measurable progress every one to two weeks.”</a:t>
            </a:r>
            <a:endParaRPr lang="en" altLang="zh-CN" dirty="0"/>
          </a:p>
        </p:txBody>
      </p:sp>
      <p:sp>
        <p:nvSpPr>
          <p:cNvPr id="4" name="灯片编号占位符 3">
            <a:extLst>
              <a:ext uri="{FF2B5EF4-FFF2-40B4-BE49-F238E27FC236}">
                <a16:creationId xmlns:a16="http://schemas.microsoft.com/office/drawing/2014/main" id="{26C58EF3-EC2D-9398-6936-DCC5746FB873}"/>
              </a:ext>
            </a:extLst>
          </p:cNvPr>
          <p:cNvSpPr>
            <a:spLocks noGrp="1"/>
          </p:cNvSpPr>
          <p:nvPr>
            <p:ph type="sldNum" sz="quarter" idx="5"/>
          </p:nvPr>
        </p:nvSpPr>
        <p:spPr/>
        <p:txBody>
          <a:bodyPr/>
          <a:lstStyle/>
          <a:p>
            <a:fld id="{50F5E923-51F7-42BD-962F-269CF7F55DA1}" type="slidenum">
              <a:rPr lang="zh-CN" altLang="en-US" smtClean="0"/>
              <a:t>18</a:t>
            </a:fld>
            <a:endParaRPr lang="zh-CN" altLang="en-US"/>
          </a:p>
        </p:txBody>
      </p:sp>
    </p:spTree>
    <p:extLst>
      <p:ext uri="{BB962C8B-B14F-4D97-AF65-F5344CB8AC3E}">
        <p14:creationId xmlns:p14="http://schemas.microsoft.com/office/powerpoint/2010/main" val="956175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“I’ll stop here—happy to go deeper on any stage of the pipeline, the metrics, the topology repair, or how I would structure milestones if I join.”</a:t>
            </a:r>
            <a:endParaRPr kumimoji="1" lang="zh-CN" altLang="en-US" dirty="0"/>
          </a:p>
        </p:txBody>
      </p:sp>
      <p:sp>
        <p:nvSpPr>
          <p:cNvPr id="4" name="灯片编号占位符 3"/>
          <p:cNvSpPr>
            <a:spLocks noGrp="1"/>
          </p:cNvSpPr>
          <p:nvPr>
            <p:ph type="sldNum" sz="quarter" idx="5"/>
          </p:nvPr>
        </p:nvSpPr>
        <p:spPr/>
        <p:txBody>
          <a:bodyPr/>
          <a:lstStyle/>
          <a:p>
            <a:fld id="{50F5E923-51F7-42BD-962F-269CF7F55DA1}" type="slidenum">
              <a:rPr lang="zh-CN" altLang="en-US" smtClean="0"/>
              <a:t>19</a:t>
            </a:fld>
            <a:endParaRPr lang="zh-CN" altLang="en-US"/>
          </a:p>
        </p:txBody>
      </p:sp>
    </p:spTree>
    <p:extLst>
      <p:ext uri="{BB962C8B-B14F-4D97-AF65-F5344CB8AC3E}">
        <p14:creationId xmlns:p14="http://schemas.microsoft.com/office/powerpoint/2010/main" val="521854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DEDF-156E-A568-0180-563FAB5C6D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F9274DC-D152-9D0F-58B5-9BBD93F8668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0C50D1D-52DD-2AE2-AA83-5519B7FE32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“First, what modality or project would be the highest priority in your group this summer—CT/DSA video, other medical video, or multimodal settings?</a:t>
            </a:r>
            <a:br>
              <a:rPr lang="en-US" altLang="zh-CN" dirty="0"/>
            </a:br>
            <a:r>
              <a:rPr lang="en-US" altLang="zh-CN" dirty="0"/>
              <a:t>Second, what RA workflow do you prefer—weekly milestones, code reviews, and the expected deliverables (e.g., a reproducible baseline, a workshop submission, or an internal demo)?</a:t>
            </a:r>
            <a:br>
              <a:rPr lang="en-US" altLang="zh-CN" dirty="0"/>
            </a:br>
            <a:r>
              <a:rPr lang="en-US" altLang="zh-CN" dirty="0"/>
              <a:t>Third, do you anticipate any funding support for a summer visiting researcher (RA stipend or hourly support)? If funding is limited, I can pursue external funding—would your group be able to provide an invitation/support letter if needed?</a:t>
            </a:r>
            <a:br>
              <a:rPr lang="en-US" altLang="zh-CN" dirty="0"/>
            </a:br>
            <a:r>
              <a:rPr lang="en-US" altLang="zh-CN" dirty="0"/>
              <a:t>Finally, could you advise what visa route typically works for visiting students in your lab (for example, J-1 visiting student or other options)?”</a:t>
            </a:r>
            <a:endParaRPr lang="en" altLang="zh-CN" dirty="0"/>
          </a:p>
        </p:txBody>
      </p:sp>
      <p:sp>
        <p:nvSpPr>
          <p:cNvPr id="4" name="灯片编号占位符 3">
            <a:extLst>
              <a:ext uri="{FF2B5EF4-FFF2-40B4-BE49-F238E27FC236}">
                <a16:creationId xmlns:a16="http://schemas.microsoft.com/office/drawing/2014/main" id="{B232E816-D96B-0977-4751-A84FB12D42EF}"/>
              </a:ext>
            </a:extLst>
          </p:cNvPr>
          <p:cNvSpPr>
            <a:spLocks noGrp="1"/>
          </p:cNvSpPr>
          <p:nvPr>
            <p:ph type="sldNum" sz="quarter" idx="5"/>
          </p:nvPr>
        </p:nvSpPr>
        <p:spPr/>
        <p:txBody>
          <a:bodyPr/>
          <a:lstStyle/>
          <a:p>
            <a:fld id="{50F5E923-51F7-42BD-962F-269CF7F55DA1}" type="slidenum">
              <a:rPr lang="zh-CN" altLang="en-US" smtClean="0"/>
              <a:t>20</a:t>
            </a:fld>
            <a:endParaRPr lang="zh-CN" altLang="en-US"/>
          </a:p>
        </p:txBody>
      </p:sp>
    </p:spTree>
    <p:extLst>
      <p:ext uri="{BB962C8B-B14F-4D97-AF65-F5344CB8AC3E}">
        <p14:creationId xmlns:p14="http://schemas.microsoft.com/office/powerpoint/2010/main" val="204545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BF399D-EDE8-4580-B9E2-18D3F5DE03FB}"/>
              </a:ext>
            </a:extLst>
          </p:cNvPr>
          <p:cNvSpPr>
            <a:spLocks noGrp="1"/>
          </p:cNvSpPr>
          <p:nvPr>
            <p:ph type="dt" sz="half" idx="10"/>
          </p:nvPr>
        </p:nvSpPr>
        <p:spPr/>
        <p:txBody>
          <a:bodyPr/>
          <a:lstStyle/>
          <a:p>
            <a:fld id="{0B6F2864-E0EF-4E70-A7F4-2B86DC303F0F}" type="datetime1">
              <a:rPr lang="zh-CN" altLang="en-US" smtClean="0"/>
              <a:t>2026/2/10</a:t>
            </a:fld>
            <a:endParaRPr lang="zh-CN" altLang="en-US"/>
          </a:p>
        </p:txBody>
      </p:sp>
      <p:sp>
        <p:nvSpPr>
          <p:cNvPr id="3" name="页脚占位符 2">
            <a:extLst>
              <a:ext uri="{FF2B5EF4-FFF2-40B4-BE49-F238E27FC236}">
                <a16:creationId xmlns:a16="http://schemas.microsoft.com/office/drawing/2014/main" id="{05FF8A14-C1F6-4164-A22B-F1F06A860C2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B723CDA-EC61-440A-9CD0-665175752534}"/>
              </a:ext>
            </a:extLst>
          </p:cNvPr>
          <p:cNvSpPr>
            <a:spLocks noGrp="1"/>
          </p:cNvSpPr>
          <p:nvPr>
            <p:ph type="sldNum" sz="quarter" idx="12"/>
          </p:nvPr>
        </p:nvSpPr>
        <p:spPr>
          <a:xfrm>
            <a:off x="9124950" y="6356350"/>
            <a:ext cx="2743200" cy="365125"/>
          </a:xfrm>
        </p:spPr>
        <p:txBody>
          <a:bodyPr/>
          <a:lstStyle>
            <a:lvl1pPr>
              <a:defRPr>
                <a:solidFill>
                  <a:schemeClr val="bg1">
                    <a:lumMod val="75000"/>
                  </a:schemeClr>
                </a:solidFill>
                <a:latin typeface="Arial" panose="020B0604020202020204" pitchFamily="34" charset="0"/>
                <a:cs typeface="Arial" panose="020B0604020202020204" pitchFamily="34" charset="0"/>
              </a:defRPr>
            </a:lvl1pPr>
          </a:lstStyle>
          <a:p>
            <a:fld id="{CCBA9D17-A0D3-409F-BFF9-E5BAE63FEE36}" type="slidenum">
              <a:rPr lang="zh-CN" altLang="en-US" smtClean="0"/>
              <a:pPr/>
              <a:t>‹#›</a:t>
            </a:fld>
            <a:endParaRPr lang="zh-CN" altLang="en-US" dirty="0"/>
          </a:p>
        </p:txBody>
      </p:sp>
    </p:spTree>
    <p:extLst>
      <p:ext uri="{BB962C8B-B14F-4D97-AF65-F5344CB8AC3E}">
        <p14:creationId xmlns:p14="http://schemas.microsoft.com/office/powerpoint/2010/main" val="37803958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F596258-9B56-404A-B375-CB6FD51F1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21381EE-E5D1-4659-AFAB-3F77E96688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41F6FF-ED68-4607-885A-EB998B1509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0D2EE-5E42-4C74-BD66-3934CD038B3B}" type="datetime1">
              <a:rPr lang="zh-CN" altLang="en-US" smtClean="0"/>
              <a:t>2026/2/10</a:t>
            </a:fld>
            <a:endParaRPr lang="zh-CN" altLang="en-US"/>
          </a:p>
        </p:txBody>
      </p:sp>
      <p:sp>
        <p:nvSpPr>
          <p:cNvPr id="5" name="页脚占位符 4">
            <a:extLst>
              <a:ext uri="{FF2B5EF4-FFF2-40B4-BE49-F238E27FC236}">
                <a16:creationId xmlns:a16="http://schemas.microsoft.com/office/drawing/2014/main" id="{F0794CA5-8294-4EBF-A582-699649CC1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D3C233C-1E37-4721-A368-7046C1CAC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BA9D17-A0D3-409F-BFF9-E5BAE63FEE36}" type="slidenum">
              <a:rPr lang="zh-CN" altLang="en-US" smtClean="0"/>
              <a:t>‹#›</a:t>
            </a:fld>
            <a:endParaRPr lang="zh-CN" altLang="en-US"/>
          </a:p>
        </p:txBody>
      </p:sp>
    </p:spTree>
    <p:extLst>
      <p:ext uri="{BB962C8B-B14F-4D97-AF65-F5344CB8AC3E}">
        <p14:creationId xmlns:p14="http://schemas.microsoft.com/office/powerpoint/2010/main" val="2030191847"/>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chenyihao@stu.pku.edu.cn"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8.png"/><Relationship Id="rId5" Type="http://schemas.openxmlformats.org/officeDocument/2006/relationships/notesSlide" Target="../notesSlides/notesSlide19.xml"/><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a:extLst>
              <a:ext uri="{FF2B5EF4-FFF2-40B4-BE49-F238E27FC236}">
                <a16:creationId xmlns:a16="http://schemas.microsoft.com/office/drawing/2014/main" id="{4D18365F-4A48-4CE4-9AA6-6F0337A2FE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4" name="矩形 63">
            <a:extLst>
              <a:ext uri="{FF2B5EF4-FFF2-40B4-BE49-F238E27FC236}">
                <a16:creationId xmlns:a16="http://schemas.microsoft.com/office/drawing/2014/main" id="{59B2B4BE-7386-4C70-9386-6FB1093811F4}"/>
              </a:ext>
            </a:extLst>
          </p:cNvPr>
          <p:cNvSpPr/>
          <p:nvPr/>
        </p:nvSpPr>
        <p:spPr>
          <a:xfrm>
            <a:off x="5788650" y="4351315"/>
            <a:ext cx="665278" cy="4572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289223" y="2179808"/>
            <a:ext cx="9611360" cy="1323439"/>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en" altLang="zh-CN"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Medical Imaging × AI for Interventional Guidance</a:t>
            </a:r>
          </a:p>
        </p:txBody>
      </p:sp>
      <p:sp>
        <p:nvSpPr>
          <p:cNvPr id="154" name="矩形 153">
            <a:extLst>
              <a:ext uri="{FF2B5EF4-FFF2-40B4-BE49-F238E27FC236}">
                <a16:creationId xmlns:a16="http://schemas.microsoft.com/office/drawing/2014/main" id="{463D1A49-0BF7-4F07-8315-36DBC4E57D47}"/>
              </a:ext>
            </a:extLst>
          </p:cNvPr>
          <p:cNvSpPr/>
          <p:nvPr/>
        </p:nvSpPr>
        <p:spPr>
          <a:xfrm>
            <a:off x="3384017" y="3681681"/>
            <a:ext cx="5421771" cy="369332"/>
          </a:xfrm>
          <a:prstGeom prst="rect">
            <a:avLst/>
          </a:prstGeom>
        </p:spPr>
        <p:txBody>
          <a:bodyPr wrap="square">
            <a:spAutoFit/>
          </a:bodyPr>
          <a:lstStyle/>
          <a:p>
            <a:pPr lvl="0" algn="dist">
              <a:defRPr/>
            </a:pPr>
            <a:r>
              <a:rPr lang="en" altLang="zh-CN" dirty="0"/>
              <a:t>Research &amp; Project Highlights (Medical Imaging)</a:t>
            </a:r>
          </a:p>
        </p:txBody>
      </p:sp>
      <p:pic>
        <p:nvPicPr>
          <p:cNvPr id="73" name="图片 72" descr="黑白色的标志&#10;&#10;中度可信度描述已自动生成">
            <a:extLst>
              <a:ext uri="{FF2B5EF4-FFF2-40B4-BE49-F238E27FC236}">
                <a16:creationId xmlns:a16="http://schemas.microsoft.com/office/drawing/2014/main" id="{0490B25A-67C6-44AA-8E81-58E643B77A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6798" y="810934"/>
            <a:ext cx="2876210" cy="810200"/>
          </a:xfrm>
          <a:prstGeom prst="rect">
            <a:avLst/>
          </a:prstGeom>
        </p:spPr>
      </p:pic>
      <p:sp>
        <p:nvSpPr>
          <p:cNvPr id="5" name="文本框 4">
            <a:extLst>
              <a:ext uri="{FF2B5EF4-FFF2-40B4-BE49-F238E27FC236}">
                <a16:creationId xmlns:a16="http://schemas.microsoft.com/office/drawing/2014/main" id="{67693220-0BA5-2580-B620-771A250BC89D}"/>
              </a:ext>
            </a:extLst>
          </p:cNvPr>
          <p:cNvSpPr txBox="1"/>
          <p:nvPr/>
        </p:nvSpPr>
        <p:spPr>
          <a:xfrm>
            <a:off x="4909000" y="4598780"/>
            <a:ext cx="2535694" cy="369332"/>
          </a:xfrm>
          <a:prstGeom prst="rect">
            <a:avLst/>
          </a:prstGeom>
          <a:noFill/>
        </p:spPr>
        <p:txBody>
          <a:bodyPr wrap="none" rtlCol="0">
            <a:spAutoFit/>
          </a:bodyPr>
          <a:lstStyle/>
          <a:p>
            <a:r>
              <a:rPr kumimoji="1" lang="en-US" altLang="zh-CN" dirty="0"/>
              <a:t>Yihao</a:t>
            </a:r>
            <a:r>
              <a:rPr kumimoji="1" lang="zh-CN" altLang="en-US" dirty="0"/>
              <a:t> </a:t>
            </a:r>
            <a:r>
              <a:rPr kumimoji="1" lang="en-US" altLang="zh-CN" dirty="0"/>
              <a:t>Chen</a:t>
            </a:r>
            <a:r>
              <a:rPr kumimoji="1" lang="zh-CN" altLang="en-US" dirty="0"/>
              <a:t>（陈奕好）</a:t>
            </a:r>
          </a:p>
        </p:txBody>
      </p:sp>
      <p:sp>
        <p:nvSpPr>
          <p:cNvPr id="7" name="文本框 6">
            <a:extLst>
              <a:ext uri="{FF2B5EF4-FFF2-40B4-BE49-F238E27FC236}">
                <a16:creationId xmlns:a16="http://schemas.microsoft.com/office/drawing/2014/main" id="{5BCCA511-615C-DAC9-FF8F-4A23ADA683B0}"/>
              </a:ext>
            </a:extLst>
          </p:cNvPr>
          <p:cNvSpPr txBox="1"/>
          <p:nvPr/>
        </p:nvSpPr>
        <p:spPr>
          <a:xfrm>
            <a:off x="3879128" y="5152779"/>
            <a:ext cx="4431550" cy="369332"/>
          </a:xfrm>
          <a:prstGeom prst="rect">
            <a:avLst/>
          </a:prstGeom>
          <a:noFill/>
        </p:spPr>
        <p:txBody>
          <a:bodyPr wrap="square">
            <a:spAutoFit/>
          </a:bodyPr>
          <a:lstStyle/>
          <a:p>
            <a:r>
              <a:rPr lang="en" altLang="zh-CN" dirty="0"/>
              <a:t>College of Engineering, Peking University</a:t>
            </a:r>
          </a:p>
        </p:txBody>
      </p:sp>
      <p:sp>
        <p:nvSpPr>
          <p:cNvPr id="8" name="文本框 7">
            <a:extLst>
              <a:ext uri="{FF2B5EF4-FFF2-40B4-BE49-F238E27FC236}">
                <a16:creationId xmlns:a16="http://schemas.microsoft.com/office/drawing/2014/main" id="{139ABADE-63B5-5F9C-43BD-EC4026D61713}"/>
              </a:ext>
            </a:extLst>
          </p:cNvPr>
          <p:cNvSpPr txBox="1"/>
          <p:nvPr/>
        </p:nvSpPr>
        <p:spPr>
          <a:xfrm>
            <a:off x="5451875" y="5723401"/>
            <a:ext cx="1159292" cy="369332"/>
          </a:xfrm>
          <a:prstGeom prst="rect">
            <a:avLst/>
          </a:prstGeom>
          <a:noFill/>
        </p:spPr>
        <p:txBody>
          <a:bodyPr wrap="none" rtlCol="0">
            <a:spAutoFit/>
          </a:bodyPr>
          <a:lstStyle/>
          <a:p>
            <a:r>
              <a:rPr lang="en-US" altLang="zh-CN" dirty="0"/>
              <a:t>Feb</a:t>
            </a:r>
            <a:r>
              <a:rPr lang="zh-CN" altLang="en-US" dirty="0"/>
              <a:t> </a:t>
            </a:r>
            <a:r>
              <a:rPr lang="en-US" altLang="zh-CN" dirty="0"/>
              <a:t>2026</a:t>
            </a:r>
            <a:endParaRPr kumimoji="1" lang="zh-CN" altLang="en-US" dirty="0"/>
          </a:p>
        </p:txBody>
      </p:sp>
      <p:sp>
        <p:nvSpPr>
          <p:cNvPr id="9" name="文本框 8">
            <a:extLst>
              <a:ext uri="{FF2B5EF4-FFF2-40B4-BE49-F238E27FC236}">
                <a16:creationId xmlns:a16="http://schemas.microsoft.com/office/drawing/2014/main" id="{25A601F2-DCB4-CBA6-297C-E882EB6A1EB9}"/>
              </a:ext>
            </a:extLst>
          </p:cNvPr>
          <p:cNvSpPr txBox="1"/>
          <p:nvPr/>
        </p:nvSpPr>
        <p:spPr>
          <a:xfrm>
            <a:off x="9727024" y="6240675"/>
            <a:ext cx="2347117" cy="523220"/>
          </a:xfrm>
          <a:prstGeom prst="rect">
            <a:avLst/>
          </a:prstGeom>
          <a:noFill/>
        </p:spPr>
        <p:txBody>
          <a:bodyPr wrap="none" rtlCol="0">
            <a:spAutoFit/>
          </a:bodyPr>
          <a:lstStyle/>
          <a:p>
            <a:pPr algn="r"/>
            <a:r>
              <a:rPr kumimoji="1" lang="en-US" altLang="zh-CN" sz="1400" dirty="0">
                <a:hlinkClick r:id="rId5"/>
              </a:rPr>
              <a:t>chenyihao@stu.pku.edu.cn</a:t>
            </a:r>
            <a:endParaRPr kumimoji="1" lang="en-US" altLang="zh-CN" sz="1400" dirty="0"/>
          </a:p>
          <a:p>
            <a:pPr algn="r"/>
            <a:r>
              <a:rPr kumimoji="1" lang="en-US" altLang="zh-CN" sz="1400" dirty="0" err="1"/>
              <a:t>github.com</a:t>
            </a:r>
            <a:r>
              <a:rPr kumimoji="1" lang="en-US" altLang="zh-CN" sz="1400" dirty="0"/>
              <a:t>/</a:t>
            </a:r>
            <a:r>
              <a:rPr kumimoji="1" lang="en-US" altLang="zh-CN" sz="1400" dirty="0" err="1"/>
              <a:t>ChenNeuro</a:t>
            </a:r>
            <a:endParaRPr kumimoji="1" lang="zh-CN" altLang="en-US" sz="1400" dirty="0"/>
          </a:p>
        </p:txBody>
      </p:sp>
    </p:spTree>
    <p:extLst>
      <p:ext uri="{BB962C8B-B14F-4D97-AF65-F5344CB8AC3E}">
        <p14:creationId xmlns:p14="http://schemas.microsoft.com/office/powerpoint/2010/main" val="56120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1325434" y="555760"/>
            <a:ext cx="264304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Agenda</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EDE5656F-E7F2-4BB5-8260-3F1B1062A952}"/>
              </a:ext>
            </a:extLst>
          </p:cNvPr>
          <p:cNvGrpSpPr/>
          <p:nvPr/>
        </p:nvGrpSpPr>
        <p:grpSpPr>
          <a:xfrm>
            <a:off x="1296445" y="1708944"/>
            <a:ext cx="10345387" cy="839888"/>
            <a:chOff x="1296445" y="1777506"/>
            <a:chExt cx="10345387" cy="839888"/>
          </a:xfrm>
        </p:grpSpPr>
        <p:sp>
          <p:nvSpPr>
            <p:cNvPr id="40" name="文本框 39">
              <a:extLst>
                <a:ext uri="{FF2B5EF4-FFF2-40B4-BE49-F238E27FC236}">
                  <a16:creationId xmlns:a16="http://schemas.microsoft.com/office/drawing/2014/main" id="{CC28C0EC-7349-4528-9D9B-77994BDA48DA}"/>
                </a:ext>
              </a:extLst>
            </p:cNvPr>
            <p:cNvSpPr txBox="1"/>
            <p:nvPr/>
          </p:nvSpPr>
          <p:spPr>
            <a:xfrm>
              <a:off x="1912863" y="2155729"/>
              <a:ext cx="9728969" cy="461665"/>
            </a:xfrm>
            <a:prstGeom prst="rect">
              <a:avLst/>
            </a:prstGeom>
            <a:noFill/>
          </p:spPr>
          <p:txBody>
            <a:bodyPr wrap="square" rtlCol="0">
              <a:spAutoFit/>
            </a:bodyPr>
            <a:lstStyle/>
            <a:p>
              <a:r>
                <a:rPr lang="en" altLang="zh-CN" sz="2400" dirty="0"/>
                <a:t>Quick intro &amp; strengths (skills + working style)</a:t>
              </a:r>
            </a:p>
          </p:txBody>
        </p:sp>
        <p:grpSp>
          <p:nvGrpSpPr>
            <p:cNvPr id="41" name="组合 40">
              <a:extLst>
                <a:ext uri="{FF2B5EF4-FFF2-40B4-BE49-F238E27FC236}">
                  <a16:creationId xmlns:a16="http://schemas.microsoft.com/office/drawing/2014/main" id="{9786FD86-9D1D-445F-BBA9-963D34E58544}"/>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BFD77076-092D-4EC2-879D-E900573D34D4}"/>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4A5F994-68CE-4016-B167-C1775E3994E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12147FF2-3F2C-4EA4-96F6-1368A521E62E}"/>
              </a:ext>
            </a:extLst>
          </p:cNvPr>
          <p:cNvGrpSpPr/>
          <p:nvPr/>
        </p:nvGrpSpPr>
        <p:grpSpPr>
          <a:xfrm>
            <a:off x="1296445" y="2823351"/>
            <a:ext cx="800100" cy="713161"/>
            <a:chOff x="6976951" y="1586703"/>
            <a:chExt cx="800100" cy="713161"/>
          </a:xfrm>
        </p:grpSpPr>
        <p:sp>
          <p:nvSpPr>
            <p:cNvPr id="52" name="文本框 51">
              <a:extLst>
                <a:ext uri="{FF2B5EF4-FFF2-40B4-BE49-F238E27FC236}">
                  <a16:creationId xmlns:a16="http://schemas.microsoft.com/office/drawing/2014/main" id="{5290D6EA-4373-4E3B-8637-81646F1A7B79}"/>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65BC728A-0A27-477D-9233-0A149548E323}"/>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9363B11F-148D-4857-9335-0D8BC165C35A}"/>
              </a:ext>
            </a:extLst>
          </p:cNvPr>
          <p:cNvGrpSpPr/>
          <p:nvPr/>
        </p:nvGrpSpPr>
        <p:grpSpPr>
          <a:xfrm>
            <a:off x="1296445" y="3940656"/>
            <a:ext cx="10072140" cy="799797"/>
            <a:chOff x="1296445" y="1777506"/>
            <a:chExt cx="10072140" cy="799797"/>
          </a:xfrm>
        </p:grpSpPr>
        <p:sp>
          <p:nvSpPr>
            <p:cNvPr id="55" name="文本框 54">
              <a:extLst>
                <a:ext uri="{FF2B5EF4-FFF2-40B4-BE49-F238E27FC236}">
                  <a16:creationId xmlns:a16="http://schemas.microsoft.com/office/drawing/2014/main" id="{4502F672-83C0-4117-BF9E-9961F1D92E3C}"/>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C8BCFD56-2E86-469C-8238-014884FF8E7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B285BD03-11C0-4CAA-94AC-C14495F4C37D}"/>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94423372-D8CA-4EA5-A40C-6E2DC355B017}"/>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C25F860F-1967-4D0C-A54D-9A5962D626C2}"/>
              </a:ext>
            </a:extLst>
          </p:cNvPr>
          <p:cNvGrpSpPr/>
          <p:nvPr/>
        </p:nvGrpSpPr>
        <p:grpSpPr>
          <a:xfrm>
            <a:off x="1325434" y="5276868"/>
            <a:ext cx="800100" cy="713161"/>
            <a:chOff x="6976951" y="1586703"/>
            <a:chExt cx="800100" cy="713161"/>
          </a:xfrm>
        </p:grpSpPr>
        <p:sp>
          <p:nvSpPr>
            <p:cNvPr id="62" name="文本框 61">
              <a:extLst>
                <a:ext uri="{FF2B5EF4-FFF2-40B4-BE49-F238E27FC236}">
                  <a16:creationId xmlns:a16="http://schemas.microsoft.com/office/drawing/2014/main" id="{EAD6E1CD-0284-4A52-890E-715E79BF4A3E}"/>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4</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63" name="直接连接符 62">
              <a:extLst>
                <a:ext uri="{FF2B5EF4-FFF2-40B4-BE49-F238E27FC236}">
                  <a16:creationId xmlns:a16="http://schemas.microsoft.com/office/drawing/2014/main" id="{9E2E41A3-97DB-49C9-88F0-51B44C0C1FD5}"/>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 name="文本框 4">
            <a:extLst>
              <a:ext uri="{FF2B5EF4-FFF2-40B4-BE49-F238E27FC236}">
                <a16:creationId xmlns:a16="http://schemas.microsoft.com/office/drawing/2014/main" id="{157F361D-395C-D4EE-6F64-2C41D5EF49AC}"/>
              </a:ext>
            </a:extLst>
          </p:cNvPr>
          <p:cNvSpPr txBox="1"/>
          <p:nvPr/>
        </p:nvSpPr>
        <p:spPr>
          <a:xfrm>
            <a:off x="1912861" y="3301317"/>
            <a:ext cx="9728969" cy="461665"/>
          </a:xfrm>
          <a:prstGeom prst="rect">
            <a:avLst/>
          </a:prstGeom>
          <a:noFill/>
        </p:spPr>
        <p:txBody>
          <a:bodyPr wrap="square" rtlCol="0">
            <a:spAutoFit/>
          </a:bodyPr>
          <a:lstStyle/>
          <a:p>
            <a:r>
              <a:rPr lang="en" altLang="zh-CN" sz="2400" dirty="0"/>
              <a:t>Background &amp; research interests (medical imaging)</a:t>
            </a:r>
          </a:p>
        </p:txBody>
      </p:sp>
      <p:sp>
        <p:nvSpPr>
          <p:cNvPr id="6" name="文本框 5">
            <a:extLst>
              <a:ext uri="{FF2B5EF4-FFF2-40B4-BE49-F238E27FC236}">
                <a16:creationId xmlns:a16="http://schemas.microsoft.com/office/drawing/2014/main" id="{86EE6C5F-836B-8FF7-6EC8-08AB6D5A6A22}"/>
              </a:ext>
            </a:extLst>
          </p:cNvPr>
          <p:cNvSpPr txBox="1"/>
          <p:nvPr/>
        </p:nvSpPr>
        <p:spPr>
          <a:xfrm>
            <a:off x="1912862" y="4445871"/>
            <a:ext cx="9728969" cy="830997"/>
          </a:xfrm>
          <a:prstGeom prst="rect">
            <a:avLst/>
          </a:prstGeom>
          <a:noFill/>
        </p:spPr>
        <p:txBody>
          <a:bodyPr wrap="square" rtlCol="0">
            <a:spAutoFit/>
          </a:bodyPr>
          <a:lstStyle/>
          <a:p>
            <a:r>
              <a:rPr lang="en" altLang="zh-CN" sz="2400" dirty="0"/>
              <a:t>Ongoing</a:t>
            </a:r>
            <a:r>
              <a:rPr lang="zh-CN" altLang="en-US" sz="2400" dirty="0"/>
              <a:t> </a:t>
            </a:r>
            <a:r>
              <a:rPr lang="en" altLang="zh-CN" sz="2400" dirty="0"/>
              <a:t>Projects: coronary reconstruction, CT–DSA 3D–2D registration, vessel topology modeling</a:t>
            </a:r>
          </a:p>
        </p:txBody>
      </p:sp>
      <p:sp>
        <p:nvSpPr>
          <p:cNvPr id="7" name="文本框 6">
            <a:extLst>
              <a:ext uri="{FF2B5EF4-FFF2-40B4-BE49-F238E27FC236}">
                <a16:creationId xmlns:a16="http://schemas.microsoft.com/office/drawing/2014/main" id="{7AC3019F-9F3A-BF3C-F432-CDDCFBCF8D1C}"/>
              </a:ext>
            </a:extLst>
          </p:cNvPr>
          <p:cNvSpPr txBox="1"/>
          <p:nvPr/>
        </p:nvSpPr>
        <p:spPr>
          <a:xfrm>
            <a:off x="1941851" y="5725782"/>
            <a:ext cx="9728969" cy="461665"/>
          </a:xfrm>
          <a:prstGeom prst="rect">
            <a:avLst/>
          </a:prstGeom>
          <a:noFill/>
        </p:spPr>
        <p:txBody>
          <a:bodyPr wrap="square" rtlCol="0">
            <a:spAutoFit/>
          </a:bodyPr>
          <a:lstStyle/>
          <a:p>
            <a:r>
              <a:rPr lang="en" altLang="zh-CN" sz="2400" dirty="0"/>
              <a:t>Discussion</a:t>
            </a:r>
          </a:p>
        </p:txBody>
      </p:sp>
    </p:spTree>
    <p:extLst>
      <p:ext uri="{BB962C8B-B14F-4D97-AF65-F5344CB8AC3E}">
        <p14:creationId xmlns:p14="http://schemas.microsoft.com/office/powerpoint/2010/main" val="251593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57FD-4720-ED88-5C92-03ECECEBE89A}"/>
            </a:ext>
          </a:extLst>
        </p:cNvPr>
        <p:cNvGrpSpPr/>
        <p:nvPr/>
      </p:nvGrpSpPr>
      <p:grpSpPr>
        <a:xfrm>
          <a:off x="0" y="0"/>
          <a:ext cx="0" cy="0"/>
          <a:chOff x="0" y="0"/>
          <a:chExt cx="0" cy="0"/>
        </a:xfrm>
      </p:grpSpPr>
      <p:cxnSp>
        <p:nvCxnSpPr>
          <p:cNvPr id="62" name="直接连接符 61">
            <a:extLst>
              <a:ext uri="{FF2B5EF4-FFF2-40B4-BE49-F238E27FC236}">
                <a16:creationId xmlns:a16="http://schemas.microsoft.com/office/drawing/2014/main" id="{79F14234-CCA4-9D7A-1198-781E5853AC7A}"/>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DB07C39C-1F27-2E9C-01AE-1CD99DE5893E}"/>
              </a:ext>
            </a:extLst>
          </p:cNvPr>
          <p:cNvSpPr txBox="1"/>
          <p:nvPr/>
        </p:nvSpPr>
        <p:spPr>
          <a:xfrm>
            <a:off x="452512" y="300592"/>
            <a:ext cx="8377589" cy="461665"/>
          </a:xfrm>
          <a:prstGeom prst="rect">
            <a:avLst/>
          </a:prstGeom>
          <a:noFill/>
        </p:spPr>
        <p:txBody>
          <a:bodyPr wrap="square" rtlCol="0">
            <a:spAutoFit/>
          </a:bodyPr>
          <a:lstStyle/>
          <a:p>
            <a:r>
              <a:rPr lang="en" altLang="zh-CN" sz="2400" b="1" dirty="0">
                <a:solidFill>
                  <a:schemeClr val="accent1"/>
                </a:solidFill>
                <a:latin typeface="+mj-ea"/>
                <a:ea typeface="+mj-ea"/>
              </a:rPr>
              <a:t>Quick intro &amp; strengths</a:t>
            </a:r>
          </a:p>
        </p:txBody>
      </p:sp>
      <p:pic>
        <p:nvPicPr>
          <p:cNvPr id="65" name="图片 64" descr="黑白色的标志&#10;&#10;中度可信度描述已自动生成">
            <a:extLst>
              <a:ext uri="{FF2B5EF4-FFF2-40B4-BE49-F238E27FC236}">
                <a16:creationId xmlns:a16="http://schemas.microsoft.com/office/drawing/2014/main" id="{D000B97A-3E71-9649-525E-D555C75AF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grpSp>
        <p:nvGrpSpPr>
          <p:cNvPr id="4" name="组合 3">
            <a:extLst>
              <a:ext uri="{FF2B5EF4-FFF2-40B4-BE49-F238E27FC236}">
                <a16:creationId xmlns:a16="http://schemas.microsoft.com/office/drawing/2014/main" id="{BFAB3C14-99F8-AD4B-BCE7-027EA6B65685}"/>
              </a:ext>
            </a:extLst>
          </p:cNvPr>
          <p:cNvGrpSpPr/>
          <p:nvPr/>
        </p:nvGrpSpPr>
        <p:grpSpPr>
          <a:xfrm>
            <a:off x="1485082" y="1465262"/>
            <a:ext cx="9710179" cy="4524374"/>
            <a:chOff x="1476615" y="1465262"/>
            <a:chExt cx="9710179" cy="4524374"/>
          </a:xfrm>
        </p:grpSpPr>
        <p:sp>
          <p:nvSpPr>
            <p:cNvPr id="14" name="矩形 13">
              <a:extLst>
                <a:ext uri="{FF2B5EF4-FFF2-40B4-BE49-F238E27FC236}">
                  <a16:creationId xmlns:a16="http://schemas.microsoft.com/office/drawing/2014/main" id="{DCBE7EA4-2A7C-9B31-C57F-EB8B418B7D47}"/>
                </a:ext>
              </a:extLst>
            </p:cNvPr>
            <p:cNvSpPr/>
            <p:nvPr/>
          </p:nvSpPr>
          <p:spPr>
            <a:xfrm>
              <a:off x="1476615" y="1465262"/>
              <a:ext cx="9710179" cy="4524374"/>
            </a:xfrm>
            <a:prstGeom prst="rect">
              <a:avLst/>
            </a:prstGeom>
            <a:solidFill>
              <a:srgbClr val="FFFFFF"/>
            </a:solidFill>
            <a:ln>
              <a:noFill/>
            </a:ln>
            <a:effectLst>
              <a:outerShdw blurRad="254000" sx="102000" sy="102000" algn="ctr" rotWithShape="0">
                <a:schemeClr val="tx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背景图案&#10;&#10;描述已自动生成">
              <a:extLst>
                <a:ext uri="{FF2B5EF4-FFF2-40B4-BE49-F238E27FC236}">
                  <a16:creationId xmlns:a16="http://schemas.microsoft.com/office/drawing/2014/main" id="{AA80CA6D-D581-458E-5EC4-C7409600B9CF}"/>
                </a:ext>
              </a:extLst>
            </p:cNvPr>
            <p:cNvPicPr>
              <a:picLocks noChangeAspect="1"/>
            </p:cNvPicPr>
            <p:nvPr/>
          </p:nvPicPr>
          <p:blipFill>
            <a:blip r:embed="rId4">
              <a:alphaModFix amt="47000"/>
              <a:extLst>
                <a:ext uri="{28A0092B-C50C-407E-A947-70E740481C1C}">
                  <a14:useLocalDpi xmlns:a14="http://schemas.microsoft.com/office/drawing/2010/main" val="0"/>
                </a:ext>
              </a:extLst>
            </a:blip>
            <a:stretch>
              <a:fillRect/>
            </a:stretch>
          </p:blipFill>
          <p:spPr>
            <a:xfrm>
              <a:off x="8691879" y="3330220"/>
              <a:ext cx="2494915" cy="2659415"/>
            </a:xfrm>
            <a:prstGeom prst="rect">
              <a:avLst/>
            </a:prstGeom>
          </p:spPr>
        </p:pic>
      </p:grpSp>
      <p:sp>
        <p:nvSpPr>
          <p:cNvPr id="6" name="矩形 5">
            <a:extLst>
              <a:ext uri="{FF2B5EF4-FFF2-40B4-BE49-F238E27FC236}">
                <a16:creationId xmlns:a16="http://schemas.microsoft.com/office/drawing/2014/main" id="{97DAC6D1-996D-33BC-FDA7-FB92F78157E9}"/>
              </a:ext>
            </a:extLst>
          </p:cNvPr>
          <p:cNvSpPr/>
          <p:nvPr/>
        </p:nvSpPr>
        <p:spPr>
          <a:xfrm>
            <a:off x="5709338" y="2049692"/>
            <a:ext cx="5358968" cy="678647"/>
          </a:xfrm>
          <a:prstGeom prst="rect">
            <a:avLst/>
          </a:prstGeom>
        </p:spPr>
        <p:txBody>
          <a:bodyPr wrap="none">
            <a:spAutoFit/>
          </a:bodyPr>
          <a:lstStyle/>
          <a:p>
            <a:pPr indent="52927" defTabSz="181463"/>
            <a:r>
              <a:rPr lang="en-US" altLang="zh-CN" sz="3810" dirty="0">
                <a:latin typeface="Arial" panose="020B0604020202020204" pitchFamily="34" charset="0"/>
                <a:ea typeface="Microsoft YaHei" panose="020B0503020204020204" pitchFamily="34" charset="-122"/>
                <a:cs typeface="+mn-ea"/>
                <a:sym typeface="Arial" panose="020B0604020202020204" pitchFamily="34" charset="0"/>
              </a:rPr>
              <a:t>Yihao Chen</a:t>
            </a:r>
            <a:r>
              <a:rPr lang="zh-CN" altLang="en-US" sz="3810" dirty="0">
                <a:latin typeface="Arial" panose="020B0604020202020204" pitchFamily="34" charset="0"/>
                <a:ea typeface="Microsoft YaHei" panose="020B0503020204020204" pitchFamily="34" charset="-122"/>
                <a:cs typeface="+mn-ea"/>
                <a:sym typeface="Arial" panose="020B0604020202020204" pitchFamily="34" charset="0"/>
              </a:rPr>
              <a:t>（陈奕好）</a:t>
            </a:r>
            <a:endParaRPr lang="zh-CN" altLang="zh-CN" sz="3810" dirty="0">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7" name="任意多边形: 形状 6">
            <a:extLst>
              <a:ext uri="{FF2B5EF4-FFF2-40B4-BE49-F238E27FC236}">
                <a16:creationId xmlns:a16="http://schemas.microsoft.com/office/drawing/2014/main" id="{1D56269C-476F-E037-D339-DBF0C1A58977}"/>
              </a:ext>
            </a:extLst>
          </p:cNvPr>
          <p:cNvSpPr/>
          <p:nvPr/>
        </p:nvSpPr>
        <p:spPr>
          <a:xfrm>
            <a:off x="5829996" y="2847698"/>
            <a:ext cx="4306871" cy="107083"/>
          </a:xfrm>
          <a:custGeom>
            <a:avLst/>
            <a:gdLst>
              <a:gd name="connsiteX0" fmla="*/ 0 w 10668000"/>
              <a:gd name="connsiteY0" fmla="*/ 0 h 0"/>
              <a:gd name="connsiteX1" fmla="*/ 10668000 w 10668000"/>
              <a:gd name="connsiteY1" fmla="*/ 0 h 0"/>
            </a:gdLst>
            <a:ahLst/>
            <a:cxnLst>
              <a:cxn ang="0">
                <a:pos x="connsiteX0" y="connsiteY0"/>
              </a:cxn>
              <a:cxn ang="0">
                <a:pos x="connsiteX1" y="connsiteY1"/>
              </a:cxn>
            </a:cxnLst>
            <a:rect l="l" t="t" r="r" b="b"/>
            <a:pathLst>
              <a:path w="10668000">
                <a:moveTo>
                  <a:pt x="0" y="0"/>
                </a:moveTo>
                <a:lnTo>
                  <a:pt x="10668000" y="0"/>
                </a:lnTo>
              </a:path>
            </a:pathLst>
          </a:custGeom>
          <a:noFill/>
          <a:ln w="19050">
            <a:gradFill flip="none" rotWithShape="1">
              <a:gsLst>
                <a:gs pos="0">
                  <a:schemeClr val="accent1">
                    <a:alpha val="0"/>
                  </a:schemeClr>
                </a:gs>
                <a:gs pos="100000">
                  <a:schemeClr val="accent1"/>
                </a:gs>
              </a:gsLst>
              <a:lin ang="108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81463"/>
            <a:endParaRPr lang="zh-CN" altLang="en-US" sz="714" dirty="0">
              <a:solidFill>
                <a:schemeClr val="tx1"/>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8" name="矩形 7">
            <a:extLst>
              <a:ext uri="{FF2B5EF4-FFF2-40B4-BE49-F238E27FC236}">
                <a16:creationId xmlns:a16="http://schemas.microsoft.com/office/drawing/2014/main" id="{6C4D3861-5233-29B0-EDA8-35D6AD435A39}"/>
              </a:ext>
            </a:extLst>
          </p:cNvPr>
          <p:cNvSpPr/>
          <p:nvPr/>
        </p:nvSpPr>
        <p:spPr>
          <a:xfrm>
            <a:off x="5829997" y="2992216"/>
            <a:ext cx="5490062" cy="584775"/>
          </a:xfrm>
          <a:prstGeom prst="rect">
            <a:avLst/>
          </a:prstGeom>
        </p:spPr>
        <p:txBody>
          <a:bodyPr wrap="square">
            <a:spAutoFit/>
          </a:bodyPr>
          <a:lstStyle/>
          <a:p>
            <a:r>
              <a:rPr lang="en" altLang="zh-CN" sz="1600" b="1" dirty="0"/>
              <a:t>Medical Imaging | 3D–2D Registration | Temporal Modeling</a:t>
            </a:r>
          </a:p>
        </p:txBody>
      </p:sp>
      <p:sp>
        <p:nvSpPr>
          <p:cNvPr id="9" name="矩形 8">
            <a:extLst>
              <a:ext uri="{FF2B5EF4-FFF2-40B4-BE49-F238E27FC236}">
                <a16:creationId xmlns:a16="http://schemas.microsoft.com/office/drawing/2014/main" id="{7D9C7068-65C5-76BA-4AA3-7A6876F5413E}"/>
              </a:ext>
            </a:extLst>
          </p:cNvPr>
          <p:cNvSpPr/>
          <p:nvPr/>
        </p:nvSpPr>
        <p:spPr>
          <a:xfrm>
            <a:off x="5829996" y="3657786"/>
            <a:ext cx="4784005" cy="2062103"/>
          </a:xfrm>
          <a:prstGeom prst="rect">
            <a:avLst/>
          </a:prstGeom>
        </p:spPr>
        <p:txBody>
          <a:bodyPr wrap="square">
            <a:spAutoFit/>
          </a:bodyPr>
          <a:lstStyle/>
          <a:p>
            <a:pPr marL="285750" indent="-285750">
              <a:spcAft>
                <a:spcPts val="0"/>
              </a:spcAft>
              <a:buFont typeface="Arial" panose="020B0604020202020204" pitchFamily="34" charset="0"/>
              <a:buChar char="•"/>
              <a:defRPr sz="1800"/>
            </a:pPr>
            <a:r>
              <a:rPr lang="en" altLang="zh-CN" sz="1600" dirty="0"/>
              <a:t>Build end-to-end imaging pipelines (data → preprocessing → model → evaluation)</a:t>
            </a:r>
          </a:p>
          <a:p>
            <a:pPr marL="285750" indent="-285750">
              <a:spcAft>
                <a:spcPts val="0"/>
              </a:spcAft>
              <a:buFont typeface="Arial" panose="020B0604020202020204" pitchFamily="34" charset="0"/>
              <a:buChar char="•"/>
              <a:defRPr sz="1800"/>
            </a:pPr>
            <a:r>
              <a:rPr lang="en" altLang="zh-CN" sz="1600" dirty="0"/>
              <a:t>Combine geometry constraints with learning (registration, centerline/topology priors)</a:t>
            </a:r>
          </a:p>
          <a:p>
            <a:pPr marL="285750" indent="-285750">
              <a:spcAft>
                <a:spcPts val="0"/>
              </a:spcAft>
              <a:buFont typeface="Arial" panose="020B0604020202020204" pitchFamily="34" charset="0"/>
              <a:buChar char="•"/>
              <a:defRPr sz="1800"/>
            </a:pPr>
            <a:r>
              <a:rPr lang="en" altLang="zh-CN" sz="1600" dirty="0"/>
              <a:t>Reproducible research habits: scripts, ablations, reports</a:t>
            </a:r>
          </a:p>
          <a:p>
            <a:pPr marL="285750" indent="-285750">
              <a:spcAft>
                <a:spcPts val="0"/>
              </a:spcAft>
              <a:buFont typeface="Arial" panose="020B0604020202020204" pitchFamily="34" charset="0"/>
              <a:buChar char="•"/>
              <a:defRPr sz="1800"/>
            </a:pPr>
            <a:r>
              <a:rPr lang="en" altLang="zh-CN" sz="1600" dirty="0"/>
              <a:t>Cross-domain engineering: sensing/robotics experience transfers to real-time systems</a:t>
            </a:r>
          </a:p>
        </p:txBody>
      </p:sp>
      <p:pic>
        <p:nvPicPr>
          <p:cNvPr id="3" name="图片 2">
            <a:extLst>
              <a:ext uri="{FF2B5EF4-FFF2-40B4-BE49-F238E27FC236}">
                <a16:creationId xmlns:a16="http://schemas.microsoft.com/office/drawing/2014/main" id="{C6BD7A53-E20A-8CA2-640C-6C26919696B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rot="5400000">
            <a:off x="1044313" y="2030665"/>
            <a:ext cx="4524537" cy="3393402"/>
          </a:xfrm>
          <a:prstGeom prst="rect">
            <a:avLst/>
          </a:prstGeom>
        </p:spPr>
      </p:pic>
      <p:sp>
        <p:nvSpPr>
          <p:cNvPr id="2" name="灯片编号占位符 1">
            <a:extLst>
              <a:ext uri="{FF2B5EF4-FFF2-40B4-BE49-F238E27FC236}">
                <a16:creationId xmlns:a16="http://schemas.microsoft.com/office/drawing/2014/main" id="{E1E45143-5B27-E503-78F2-D8B6F8F1EDAE}"/>
              </a:ext>
            </a:extLst>
          </p:cNvPr>
          <p:cNvSpPr>
            <a:spLocks noGrp="1"/>
          </p:cNvSpPr>
          <p:nvPr>
            <p:ph type="sldNum" sz="quarter" idx="12"/>
          </p:nvPr>
        </p:nvSpPr>
        <p:spPr/>
        <p:txBody>
          <a:bodyPr/>
          <a:lstStyle/>
          <a:p>
            <a:fld id="{CCBA9D17-A0D3-409F-BFF9-E5BAE63FEE36}" type="slidenum">
              <a:rPr lang="zh-CN" altLang="en-US" smtClean="0"/>
              <a:pPr/>
              <a:t>3</a:t>
            </a:fld>
            <a:endParaRPr lang="zh-CN" altLang="en-US" dirty="0"/>
          </a:p>
        </p:txBody>
      </p:sp>
      <p:sp>
        <p:nvSpPr>
          <p:cNvPr id="10" name="文本框 9">
            <a:extLst>
              <a:ext uri="{FF2B5EF4-FFF2-40B4-BE49-F238E27FC236}">
                <a16:creationId xmlns:a16="http://schemas.microsoft.com/office/drawing/2014/main" id="{28A0FE9A-E286-6428-5B0A-AE2D29ADEE8F}"/>
              </a:ext>
            </a:extLst>
          </p:cNvPr>
          <p:cNvSpPr txBox="1"/>
          <p:nvPr/>
        </p:nvSpPr>
        <p:spPr>
          <a:xfrm>
            <a:off x="5829996" y="6053562"/>
            <a:ext cx="4626085" cy="738664"/>
          </a:xfrm>
          <a:prstGeom prst="rect">
            <a:avLst/>
          </a:prstGeom>
          <a:noFill/>
        </p:spPr>
        <p:txBody>
          <a:bodyPr wrap="square">
            <a:spAutoFit/>
          </a:bodyPr>
          <a:lstStyle/>
          <a:p>
            <a:pPr>
              <a:buNone/>
            </a:pPr>
            <a:r>
              <a:rPr lang="en" altLang="zh-CN" sz="1400" b="1" dirty="0">
                <a:solidFill>
                  <a:schemeClr val="tx1">
                    <a:lumMod val="50000"/>
                    <a:lumOff val="50000"/>
                  </a:schemeClr>
                </a:solidFill>
              </a:rPr>
              <a:t>Interests: multimodal medical foundation models · temporal modeling for cine/DSA · generative reconstruction</a:t>
            </a:r>
          </a:p>
        </p:txBody>
      </p:sp>
    </p:spTree>
    <p:extLst>
      <p:ext uri="{BB962C8B-B14F-4D97-AF65-F5344CB8AC3E}">
        <p14:creationId xmlns:p14="http://schemas.microsoft.com/office/powerpoint/2010/main" val="409089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5C7BFE9B-1CD8-4E95-B819-7BF15FD90247}"/>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DFC742C7-25EC-42DE-BE25-70F1D2F3DB69}"/>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2FF0A074-1447-4830-8230-9D2F0137344D}"/>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Experience map</a:t>
            </a:r>
            <a:endParaRPr lang="zh-CN" altLang="en-US" sz="2400" b="1" dirty="0">
              <a:solidFill>
                <a:schemeClr val="accent1"/>
              </a:solidFill>
              <a:latin typeface="+mj-ea"/>
              <a:ea typeface="+mj-ea"/>
            </a:endParaRPr>
          </a:p>
        </p:txBody>
      </p:sp>
      <p:pic>
        <p:nvPicPr>
          <p:cNvPr id="7" name="图片 6" descr="黑白色的标志&#10;&#10;中度可信度描述已自动生成">
            <a:extLst>
              <a:ext uri="{FF2B5EF4-FFF2-40B4-BE49-F238E27FC236}">
                <a16:creationId xmlns:a16="http://schemas.microsoft.com/office/drawing/2014/main" id="{89630CB9-A218-4E54-A6EF-D66AD72FD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cxnSp>
        <p:nvCxnSpPr>
          <p:cNvPr id="14" name="直接连接符 13">
            <a:extLst>
              <a:ext uri="{FF2B5EF4-FFF2-40B4-BE49-F238E27FC236}">
                <a16:creationId xmlns:a16="http://schemas.microsoft.com/office/drawing/2014/main" id="{9E44BCA0-583A-48AF-9334-68BB5C060C39}"/>
              </a:ext>
            </a:extLst>
          </p:cNvPr>
          <p:cNvCxnSpPr>
            <a:cxnSpLocks/>
          </p:cNvCxnSpPr>
          <p:nvPr/>
        </p:nvCxnSpPr>
        <p:spPr>
          <a:xfrm>
            <a:off x="1842540" y="3405108"/>
            <a:ext cx="7950827"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15" name="直接连接符 14">
            <a:extLst>
              <a:ext uri="{FF2B5EF4-FFF2-40B4-BE49-F238E27FC236}">
                <a16:creationId xmlns:a16="http://schemas.microsoft.com/office/drawing/2014/main" id="{B255FC0C-766C-4649-9F5B-3AE2018D0452}"/>
              </a:ext>
            </a:extLst>
          </p:cNvPr>
          <p:cNvCxnSpPr>
            <a:cxnSpLocks/>
          </p:cNvCxnSpPr>
          <p:nvPr/>
        </p:nvCxnSpPr>
        <p:spPr>
          <a:xfrm>
            <a:off x="1842540" y="4375845"/>
            <a:ext cx="7950827" cy="0"/>
          </a:xfrm>
          <a:prstGeom prst="line">
            <a:avLst/>
          </a:prstGeom>
        </p:spPr>
        <p:style>
          <a:lnRef idx="1">
            <a:schemeClr val="accent3"/>
          </a:lnRef>
          <a:fillRef idx="0">
            <a:schemeClr val="accent3"/>
          </a:fillRef>
          <a:effectRef idx="0">
            <a:schemeClr val="accent3"/>
          </a:effectRef>
          <a:fontRef idx="minor">
            <a:schemeClr val="tx1"/>
          </a:fontRef>
        </p:style>
      </p:cxnSp>
      <p:sp>
        <p:nvSpPr>
          <p:cNvPr id="10" name="灯片编号占位符 9">
            <a:extLst>
              <a:ext uri="{FF2B5EF4-FFF2-40B4-BE49-F238E27FC236}">
                <a16:creationId xmlns:a16="http://schemas.microsoft.com/office/drawing/2014/main" id="{6A396BDF-E325-4D65-8CEE-C03489FA7CF0}"/>
              </a:ext>
            </a:extLst>
          </p:cNvPr>
          <p:cNvSpPr>
            <a:spLocks noGrp="1"/>
          </p:cNvSpPr>
          <p:nvPr>
            <p:ph type="sldNum" sz="quarter" idx="12"/>
          </p:nvPr>
        </p:nvSpPr>
        <p:spPr/>
        <p:txBody>
          <a:bodyPr/>
          <a:lstStyle/>
          <a:p>
            <a:fld id="{CCBA9D17-A0D3-409F-BFF9-E5BAE63FEE36}" type="slidenum">
              <a:rPr lang="zh-CN" altLang="en-US" smtClean="0"/>
              <a:pPr/>
              <a:t>4</a:t>
            </a:fld>
            <a:endParaRPr lang="zh-CN" altLang="en-US" dirty="0"/>
          </a:p>
        </p:txBody>
      </p:sp>
      <p:pic>
        <p:nvPicPr>
          <p:cNvPr id="12" name="图片 11">
            <a:extLst>
              <a:ext uri="{FF2B5EF4-FFF2-40B4-BE49-F238E27FC236}">
                <a16:creationId xmlns:a16="http://schemas.microsoft.com/office/drawing/2014/main" id="{003410F2-AF37-DD1B-83A1-03AC26C9CD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067" y="1376407"/>
            <a:ext cx="10526308" cy="4674181"/>
          </a:xfrm>
          <a:prstGeom prst="rect">
            <a:avLst/>
          </a:prstGeom>
        </p:spPr>
      </p:pic>
    </p:spTree>
    <p:extLst>
      <p:ext uri="{BB962C8B-B14F-4D97-AF65-F5344CB8AC3E}">
        <p14:creationId xmlns:p14="http://schemas.microsoft.com/office/powerpoint/2010/main" val="1778566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7C632-95C9-B396-CF85-562A30223720}"/>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12496C48-D062-D456-3968-AB6511DD6228}"/>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506BF2E6-ACA1-5C28-BF30-8FDDEF05A572}"/>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Arduino + STM32</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for acquisition/control</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Multi-sensor integration via I2C</a:t>
            </a:r>
            <a:r>
              <a:rPr lang="zh-CN" altLang="en-US"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 </a:t>
            </a: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and related interfaces</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02202D3D-2508-B0C6-6654-F5E956CCAC6C}"/>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F48AF33-2B37-90DD-0159-CD468A6B9543}"/>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0F683DB-F708-C885-6687-AFEC5964D725}"/>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20174A96-5345-1775-B3B4-92E07A4D92F5}"/>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Iterative testing under realistic motion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Prioritized repeatability over one-off demos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Logged issues/failure cases to drive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388C2FCE-F7F7-EC15-45DB-8D16D5571511}"/>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6D9B45B4-B26A-359E-2F4A-3E16D8369066}"/>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B23B566-5795-BFD4-67BC-F85DFF093E26}"/>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A4992659-0E6D-F4CE-7B2A-30B53670AD2E}"/>
              </a:ext>
            </a:extLst>
          </p:cNvPr>
          <p:cNvSpPr txBox="1"/>
          <p:nvPr/>
        </p:nvSpPr>
        <p:spPr>
          <a:xfrm flipH="1">
            <a:off x="452511" y="2419288"/>
            <a:ext cx="3560055" cy="1019253"/>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Wearable sensing for motion/load monitoring under realistic movement, emphasizing stable data acquisition.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D50BF15-0E82-2651-7FEA-229CCE0272A4}"/>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F748B1C3-1974-77D8-202B-64287258C1A8}"/>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AD9B8DFD-869B-5363-9E4C-6FA69810F6D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FDEEF483-119D-CE24-6FB0-EB847A78A379}"/>
              </a:ext>
            </a:extLst>
          </p:cNvPr>
          <p:cNvSpPr txBox="1"/>
          <p:nvPr/>
        </p:nvSpPr>
        <p:spPr>
          <a:xfrm flipH="1">
            <a:off x="314324" y="4936902"/>
            <a:ext cx="3683550"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planning &amp; system architecture</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PCB/circuit design; component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Integration and bring-up across HW/FW/comm</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483F4DA3-7677-506B-04B7-5A26EAC2A54E}"/>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C08F736-BC47-8A57-FDED-C7833AFB225C}"/>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8279C9E-E472-1955-B695-CE49315743CF}"/>
              </a:ext>
            </a:extLst>
          </p:cNvPr>
          <p:cNvPicPr>
            <a:picLocks noChangeAspect="1"/>
          </p:cNvPicPr>
          <p:nvPr/>
        </p:nvPicPr>
        <p:blipFill>
          <a:blip r:embed="rId3">
            <a:extLst>
              <a:ext uri="{28A0092B-C50C-407E-A947-70E740481C1C}">
                <a14:useLocalDpi xmlns:a14="http://schemas.microsoft.com/office/drawing/2010/main" val="0"/>
              </a:ext>
            </a:extLst>
          </a:blip>
          <a:srcRect l="9954" r="9954"/>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EF681545-1FF7-BE13-AAA3-C5AC65499174}"/>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61293AA-B411-41A5-1C84-5629CB5FF608}"/>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1: Wearable leg-guard sensing system</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CB0CC31E-4953-67C9-E44A-659A18CC29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80C13F10-1798-086F-52D7-5C975CE04BA1}"/>
              </a:ext>
            </a:extLst>
          </p:cNvPr>
          <p:cNvSpPr>
            <a:spLocks noGrp="1"/>
          </p:cNvSpPr>
          <p:nvPr>
            <p:ph type="sldNum" sz="quarter" idx="12"/>
          </p:nvPr>
        </p:nvSpPr>
        <p:spPr/>
        <p:txBody>
          <a:bodyPr/>
          <a:lstStyle/>
          <a:p>
            <a:fld id="{CCBA9D17-A0D3-409F-BFF9-E5BAE63FEE36}" type="slidenum">
              <a:rPr lang="zh-CN" altLang="en-US" smtClean="0"/>
              <a:pPr/>
              <a:t>5</a:t>
            </a:fld>
            <a:endParaRPr lang="zh-CN" altLang="en-US" dirty="0"/>
          </a:p>
        </p:txBody>
      </p:sp>
    </p:spTree>
    <p:extLst>
      <p:ext uri="{BB962C8B-B14F-4D97-AF65-F5344CB8AC3E}">
        <p14:creationId xmlns:p14="http://schemas.microsoft.com/office/powerpoint/2010/main" val="1244361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C0D21-8499-2EFB-58AE-8D20F5536B94}"/>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D9E56090-DD5E-E027-522E-E7ABB2258EAD}"/>
              </a:ext>
            </a:extLst>
          </p:cNvPr>
          <p:cNvSpPr txBox="1"/>
          <p:nvPr/>
        </p:nvSpPr>
        <p:spPr>
          <a:xfrm>
            <a:off x="8139511" y="1970462"/>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Implementation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25E8E9F8-90C7-CBC6-0459-D6852850E0B9}"/>
              </a:ext>
            </a:extLst>
          </p:cNvPr>
          <p:cNvSpPr txBox="1"/>
          <p:nvPr/>
        </p:nvSpPr>
        <p:spPr>
          <a:xfrm>
            <a:off x="8139508" y="2419288"/>
            <a:ext cx="3890567" cy="1019253"/>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Mechanism + detailed part design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Manufacturing/assembly constraints considered early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26" name="直接连接符 25">
            <a:extLst>
              <a:ext uri="{FF2B5EF4-FFF2-40B4-BE49-F238E27FC236}">
                <a16:creationId xmlns:a16="http://schemas.microsoft.com/office/drawing/2014/main" id="{14B0BA6C-317E-C52C-A30D-88931559D3C5}"/>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FAB2C624-3635-B406-88D5-119CC97D6268}"/>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A7061482-0822-AE01-BB9D-443E4C05FB70}"/>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Validation</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文本框 42">
            <a:extLst>
              <a:ext uri="{FF2B5EF4-FFF2-40B4-BE49-F238E27FC236}">
                <a16:creationId xmlns:a16="http://schemas.microsoft.com/office/drawing/2014/main" id="{FFCD784C-2C9E-A10C-0B5D-9F197B619707}"/>
              </a:ext>
            </a:extLst>
          </p:cNvPr>
          <p:cNvSpPr txBox="1"/>
          <p:nvPr/>
        </p:nvSpPr>
        <p:spPr>
          <a:xfrm>
            <a:off x="8036024" y="4936902"/>
            <a:ext cx="3994051" cy="1339341"/>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Prototype feedback: tolerances, interference, robustness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Iterated geometry and interfaces accordingly</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44" name="直接连接符 43">
            <a:extLst>
              <a:ext uri="{FF2B5EF4-FFF2-40B4-BE49-F238E27FC236}">
                <a16:creationId xmlns:a16="http://schemas.microsoft.com/office/drawing/2014/main" id="{FB40112D-F869-2DD9-C127-7AAA045499D3}"/>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8B70C3B-C7B1-0943-C43C-D0B9C32B7BCD}"/>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F31E2E1B-A4C9-9AC2-07A3-EE8C039EFB5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226E12BC-52E4-F1F5-431A-01447A35435C}"/>
              </a:ext>
            </a:extLst>
          </p:cNvPr>
          <p:cNvSpPr txBox="1"/>
          <p:nvPr/>
        </p:nvSpPr>
        <p:spPr>
          <a:xfrm flipH="1">
            <a:off x="452511" y="2419288"/>
            <a:ext cx="3560055" cy="699166"/>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End-to-end mechanical design and prototyping of a Delta parallel robot.</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EBE2889F-845C-6565-7616-58D6106B6ED1}"/>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B0B832-7AF1-ABF3-0632-430CFB1585AD}"/>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02EA957E-C623-0744-5D2B-8D396FAD2767}"/>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8D2F1C3F-F065-951C-9C0D-4E5AA7CD1031}"/>
              </a:ext>
            </a:extLst>
          </p:cNvPr>
          <p:cNvSpPr txBox="1"/>
          <p:nvPr/>
        </p:nvSpPr>
        <p:spPr>
          <a:xfrm flipH="1">
            <a:off x="314324" y="4936902"/>
            <a:ext cx="3683550" cy="1659429"/>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 owned requirements, timeline, and integration decisions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SolidWorks modeling</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Planning and parts selection</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3D printing and assembly; iteration</a:t>
            </a:r>
            <a:endParaRPr kumimoji="0" lang="zh-CN" altLang="en-US" sz="16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cxnSp>
        <p:nvCxnSpPr>
          <p:cNvPr id="66" name="直接连接符 65">
            <a:extLst>
              <a:ext uri="{FF2B5EF4-FFF2-40B4-BE49-F238E27FC236}">
                <a16:creationId xmlns:a16="http://schemas.microsoft.com/office/drawing/2014/main" id="{A7A36CE2-51E7-C4D9-7CE6-09463D55B264}"/>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C0A2D47-DDE2-2F17-5E8F-5800BCF90AB5}"/>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53F083B1-4590-4271-7044-A0CE7D12A541}"/>
              </a:ext>
            </a:extLst>
          </p:cNvPr>
          <p:cNvPicPr>
            <a:picLocks noChangeAspect="1"/>
          </p:cNvPicPr>
          <p:nvPr/>
        </p:nvPicPr>
        <p:blipFill>
          <a:blip r:embed="rId3">
            <a:extLst>
              <a:ext uri="{28A0092B-C50C-407E-A947-70E740481C1C}">
                <a14:useLocalDpi xmlns:a14="http://schemas.microsoft.com/office/drawing/2010/main" val="0"/>
              </a:ext>
            </a:extLst>
          </a:blip>
          <a:srcRect l="3517" r="3517"/>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2067CD13-A3DC-90C6-4DC9-EE0053EFD4BE}"/>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B401585-DE1E-D4AC-3873-CC7ADB0429B1}"/>
              </a:ext>
            </a:extLst>
          </p:cNvPr>
          <p:cNvSpPr txBox="1"/>
          <p:nvPr/>
        </p:nvSpPr>
        <p:spPr>
          <a:xfrm>
            <a:off x="452512" y="300592"/>
            <a:ext cx="8820076" cy="461665"/>
          </a:xfrm>
          <a:prstGeom prst="rect">
            <a:avLst/>
          </a:prstGeom>
          <a:noFill/>
        </p:spPr>
        <p:txBody>
          <a:bodyPr wrap="square" rtlCol="0">
            <a:spAutoFit/>
          </a:bodyPr>
          <a:lstStyle/>
          <a:p>
            <a:r>
              <a:rPr lang="en-US" altLang="zh-CN" sz="2400" b="1" dirty="0">
                <a:solidFill>
                  <a:schemeClr val="accent1"/>
                </a:solidFill>
                <a:latin typeface="+mj-ea"/>
                <a:ea typeface="+mj-ea"/>
              </a:rPr>
              <a:t>Project 2: 3-DOF Delta robot (mechanical capstone)</a:t>
            </a:r>
            <a:endParaRPr lang="zh-CN" altLang="en-US" sz="2400" b="1" dirty="0">
              <a:solidFill>
                <a:schemeClr val="accent1"/>
              </a:solidFill>
              <a:latin typeface="+mj-ea"/>
              <a:ea typeface="+mj-ea"/>
            </a:endParaRPr>
          </a:p>
        </p:txBody>
      </p:sp>
      <p:pic>
        <p:nvPicPr>
          <p:cNvPr id="32" name="图片 31" descr="黑白色的标志&#10;&#10;中度可信度描述已自动生成">
            <a:extLst>
              <a:ext uri="{FF2B5EF4-FFF2-40B4-BE49-F238E27FC236}">
                <a16:creationId xmlns:a16="http://schemas.microsoft.com/office/drawing/2014/main" id="{3E3F20EB-C479-73A4-F44A-7D6AF14DDD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DA8DF10C-7D89-6048-E12E-B8399AA2CF02}"/>
              </a:ext>
            </a:extLst>
          </p:cNvPr>
          <p:cNvSpPr>
            <a:spLocks noGrp="1"/>
          </p:cNvSpPr>
          <p:nvPr>
            <p:ph type="sldNum" sz="quarter" idx="12"/>
          </p:nvPr>
        </p:nvSpPr>
        <p:spPr/>
        <p:txBody>
          <a:bodyPr/>
          <a:lstStyle/>
          <a:p>
            <a:fld id="{CCBA9D17-A0D3-409F-BFF9-E5BAE63FEE36}" type="slidenum">
              <a:rPr lang="zh-CN" altLang="en-US" smtClean="0"/>
              <a:pPr/>
              <a:t>6</a:t>
            </a:fld>
            <a:endParaRPr lang="zh-CN" altLang="en-US" dirty="0"/>
          </a:p>
        </p:txBody>
      </p:sp>
    </p:spTree>
    <p:extLst>
      <p:ext uri="{BB962C8B-B14F-4D97-AF65-F5344CB8AC3E}">
        <p14:creationId xmlns:p14="http://schemas.microsoft.com/office/powerpoint/2010/main" val="4091569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B7F45-C54A-DA98-362A-9580207EA73A}"/>
            </a:ext>
          </a:extLst>
        </p:cNvPr>
        <p:cNvGrpSpPr/>
        <p:nvPr/>
      </p:nvGrpSpPr>
      <p:grpSpPr>
        <a:xfrm>
          <a:off x="0" y="0"/>
          <a:ext cx="0" cy="0"/>
          <a:chOff x="0" y="0"/>
          <a:chExt cx="0" cy="0"/>
        </a:xfrm>
      </p:grpSpPr>
      <p:sp>
        <p:nvSpPr>
          <p:cNvPr id="21" name="文本框 20">
            <a:extLst>
              <a:ext uri="{FF2B5EF4-FFF2-40B4-BE49-F238E27FC236}">
                <a16:creationId xmlns:a16="http://schemas.microsoft.com/office/drawing/2014/main" id="{3BFA182E-F3D1-0072-03B4-D7AF11DF3441}"/>
              </a:ext>
            </a:extLst>
          </p:cNvPr>
          <p:cNvSpPr txBox="1"/>
          <p:nvPr/>
        </p:nvSpPr>
        <p:spPr>
          <a:xfrm>
            <a:off x="8139511" y="1970462"/>
            <a:ext cx="2804714"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Current progress</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34C008C4-49DA-24C4-7C99-F8E0759D95D3}"/>
              </a:ext>
            </a:extLst>
          </p:cNvPr>
          <p:cNvSpPr txBox="1"/>
          <p:nvPr/>
        </p:nvSpPr>
        <p:spPr>
          <a:xfrm>
            <a:off x="8139508" y="2419288"/>
            <a:ext cx="3890567" cy="1963614"/>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Surveyed workflows + established a first working pipeline</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Segmentation → centerline extraction → centerline-driven representation/rendering</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Defined output schema (tree/branch structure) for consistent experiments</a:t>
            </a:r>
          </a:p>
        </p:txBody>
      </p:sp>
      <p:cxnSp>
        <p:nvCxnSpPr>
          <p:cNvPr id="26" name="直接连接符 25">
            <a:extLst>
              <a:ext uri="{FF2B5EF4-FFF2-40B4-BE49-F238E27FC236}">
                <a16:creationId xmlns:a16="http://schemas.microsoft.com/office/drawing/2014/main" id="{C1D269BB-E790-8587-FCC8-CBA53925E14E}"/>
              </a:ext>
            </a:extLst>
          </p:cNvPr>
          <p:cNvCxnSpPr>
            <a:cxnSpLocks/>
          </p:cNvCxnSpPr>
          <p:nvPr/>
        </p:nvCxnSpPr>
        <p:spPr>
          <a:xfrm>
            <a:off x="771906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39ABBD6F-F6AC-D949-E7DB-95CE70D4EF9B}"/>
              </a:ext>
            </a:extLst>
          </p:cNvPr>
          <p:cNvCxnSpPr>
            <a:cxnSpLocks/>
          </p:cNvCxnSpPr>
          <p:nvPr/>
        </p:nvCxnSpPr>
        <p:spPr>
          <a:xfrm flipV="1">
            <a:off x="7346372"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F824CBDC-5731-C1E5-FD85-A2F6ED754121}"/>
              </a:ext>
            </a:extLst>
          </p:cNvPr>
          <p:cNvSpPr txBox="1"/>
          <p:nvPr/>
        </p:nvSpPr>
        <p:spPr>
          <a:xfrm>
            <a:off x="8036026" y="4488076"/>
            <a:ext cx="1943681" cy="369332"/>
          </a:xfrm>
          <a:prstGeom prst="rect">
            <a:avLst/>
          </a:prstGeom>
          <a:noFill/>
        </p:spPr>
        <p:txBody>
          <a:bodyPr wrap="square" lIns="0" rtlCol="0">
            <a:spAutoFit/>
          </a:bodyPr>
          <a:lstStyle/>
          <a:p>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Next phase</a:t>
            </a:r>
          </a:p>
        </p:txBody>
      </p:sp>
      <p:sp>
        <p:nvSpPr>
          <p:cNvPr id="43" name="文本框 42">
            <a:extLst>
              <a:ext uri="{FF2B5EF4-FFF2-40B4-BE49-F238E27FC236}">
                <a16:creationId xmlns:a16="http://schemas.microsoft.com/office/drawing/2014/main" id="{E767FC74-4AA6-AC98-1E71-332E621EF58C}"/>
              </a:ext>
            </a:extLst>
          </p:cNvPr>
          <p:cNvSpPr txBox="1"/>
          <p:nvPr/>
        </p:nvSpPr>
        <p:spPr>
          <a:xfrm>
            <a:off x="7449857" y="4944965"/>
            <a:ext cx="4683703" cy="1979516"/>
          </a:xfrm>
          <a:prstGeom prst="rect">
            <a:avLst/>
          </a:prstGeom>
          <a:noFill/>
        </p:spPr>
        <p:txBody>
          <a:bodyPr wrap="square" lIns="0" rtlCol="0">
            <a:spAutoFit/>
          </a:bodyPr>
          <a:lstStyle/>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Incorporate hospital data constraints and clinical feedback loops</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Anatomically consistent labeling (segment-level) for standardization</a:t>
            </a:r>
          </a:p>
          <a:p>
            <a:pPr lvl="0">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Evaluation aligned with navigation/decision support (robustness + usability)</a:t>
            </a:r>
          </a:p>
        </p:txBody>
      </p:sp>
      <p:cxnSp>
        <p:nvCxnSpPr>
          <p:cNvPr id="44" name="直接连接符 43">
            <a:extLst>
              <a:ext uri="{FF2B5EF4-FFF2-40B4-BE49-F238E27FC236}">
                <a16:creationId xmlns:a16="http://schemas.microsoft.com/office/drawing/2014/main" id="{488513A3-A621-C328-40A5-2A2071D1B604}"/>
              </a:ext>
            </a:extLst>
          </p:cNvPr>
          <p:cNvCxnSpPr>
            <a:cxnSpLocks/>
          </p:cNvCxnSpPr>
          <p:nvPr/>
        </p:nvCxnSpPr>
        <p:spPr>
          <a:xfrm>
            <a:off x="7615578"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B0D6625-59F3-5B75-3939-E1BF955EEF82}"/>
              </a:ext>
            </a:extLst>
          </p:cNvPr>
          <p:cNvCxnSpPr>
            <a:cxnSpLocks/>
          </p:cNvCxnSpPr>
          <p:nvPr/>
        </p:nvCxnSpPr>
        <p:spPr>
          <a:xfrm>
            <a:off x="7449857"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5BA89668-1F97-D627-D12A-0E8E41AFBA68}"/>
              </a:ext>
            </a:extLst>
          </p:cNvPr>
          <p:cNvSpPr txBox="1"/>
          <p:nvPr/>
        </p:nvSpPr>
        <p:spPr>
          <a:xfrm flipH="1">
            <a:off x="2068884" y="1970462"/>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Objective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文本框 49">
            <a:extLst>
              <a:ext uri="{FF2B5EF4-FFF2-40B4-BE49-F238E27FC236}">
                <a16:creationId xmlns:a16="http://schemas.microsoft.com/office/drawing/2014/main" id="{8A82FFE1-8FEA-D38E-0F9F-1626566AD404}"/>
              </a:ext>
            </a:extLst>
          </p:cNvPr>
          <p:cNvSpPr txBox="1"/>
          <p:nvPr/>
        </p:nvSpPr>
        <p:spPr>
          <a:xfrm flipH="1">
            <a:off x="452511" y="2419288"/>
            <a:ext cx="3560055" cy="1339341"/>
          </a:xfrm>
          <a:prstGeom prst="rect">
            <a:avLst/>
          </a:prstGeom>
          <a:noFill/>
        </p:spPr>
        <p:txBody>
          <a:bodyPr wrap="square" lIns="0" rIns="0" rtlCol="0">
            <a:spAutoFit/>
          </a:bodyPr>
          <a:lstStyle/>
          <a:p>
            <a:pPr algn="r">
              <a:lnSpc>
                <a:spcPct val="130000"/>
              </a:lnSpc>
            </a:pPr>
            <a:r>
              <a:rPr lang="en" altLang="zh-CN"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Build a reconstruction/modeling pipeline with long-term relevance to clinically grounded workflows and evaluation.</a:t>
            </a:r>
            <a:endParaRPr lang="zh-CN" altLang="en-US" sz="1600"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1" name="直接连接符 50">
            <a:extLst>
              <a:ext uri="{FF2B5EF4-FFF2-40B4-BE49-F238E27FC236}">
                <a16:creationId xmlns:a16="http://schemas.microsoft.com/office/drawing/2014/main" id="{269AEABB-612B-BD0A-748A-962AC0CAB99B}"/>
              </a:ext>
            </a:extLst>
          </p:cNvPr>
          <p:cNvCxnSpPr>
            <a:cxnSpLocks/>
          </p:cNvCxnSpPr>
          <p:nvPr/>
        </p:nvCxnSpPr>
        <p:spPr>
          <a:xfrm flipH="1">
            <a:off x="2412443" y="2379541"/>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5B244E2C-E8C7-DC5B-7971-EBC2D0E09641}"/>
              </a:ext>
            </a:extLst>
          </p:cNvPr>
          <p:cNvCxnSpPr>
            <a:cxnSpLocks/>
          </p:cNvCxnSpPr>
          <p:nvPr/>
        </p:nvCxnSpPr>
        <p:spPr>
          <a:xfrm flipH="1" flipV="1">
            <a:off x="4433013" y="2379541"/>
            <a:ext cx="372691" cy="21717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27E42079-D28D-BA12-51DB-AADA5EFCD3ED}"/>
              </a:ext>
            </a:extLst>
          </p:cNvPr>
          <p:cNvSpPr txBox="1"/>
          <p:nvPr/>
        </p:nvSpPr>
        <p:spPr>
          <a:xfrm flipH="1">
            <a:off x="2054193" y="4488076"/>
            <a:ext cx="1943681" cy="369332"/>
          </a:xfrm>
          <a:prstGeom prst="rect">
            <a:avLst/>
          </a:prstGeom>
          <a:noFill/>
        </p:spPr>
        <p:txBody>
          <a:bodyPr wrap="square" lIns="0" rIns="0" rtlCol="0">
            <a:spAutoFit/>
          </a:bodyPr>
          <a:lstStyle/>
          <a:p>
            <a:pPr algn="r"/>
            <a:r>
              <a:rPr lang="en"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My role</a:t>
            </a:r>
            <a:endParaRPr lang="zh-CN" altLang="en-US"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65" name="文本框 64">
            <a:extLst>
              <a:ext uri="{FF2B5EF4-FFF2-40B4-BE49-F238E27FC236}">
                <a16:creationId xmlns:a16="http://schemas.microsoft.com/office/drawing/2014/main" id="{995322D0-6160-5E6F-9FCA-8E44C3138D6C}"/>
              </a:ext>
            </a:extLst>
          </p:cNvPr>
          <p:cNvSpPr txBox="1"/>
          <p:nvPr/>
        </p:nvSpPr>
        <p:spPr>
          <a:xfrm flipH="1">
            <a:off x="-1" y="4936902"/>
            <a:ext cx="4639983" cy="1339341"/>
          </a:xfrm>
          <a:prstGeom prst="rect">
            <a:avLst/>
          </a:prstGeom>
          <a:noFill/>
        </p:spPr>
        <p:txBody>
          <a:bodyPr wrap="square" lIns="0" rIns="0" rtlCol="0">
            <a:spAutoFit/>
          </a:bodyPr>
          <a:lstStyle/>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Project lead &amp; upstream workflow owner (problem framing, milestones, interface definitions)</a:t>
            </a:r>
          </a:p>
          <a:p>
            <a:pPr lvl="0" algn="r">
              <a:lnSpc>
                <a:spcPct val="130000"/>
              </a:lnSpc>
              <a:defRPr/>
            </a:pPr>
            <a:r>
              <a:rPr lang="en" altLang="zh-CN" sz="1600" dirty="0">
                <a:solidFill>
                  <a:prstClr val="black">
                    <a:lumMod val="50000"/>
                    <a:lumOff val="50000"/>
                  </a:prstClr>
                </a:solidFill>
                <a:latin typeface="Arial" panose="020B0604020202020204" pitchFamily="34" charset="0"/>
                <a:ea typeface="微软雅黑" panose="020B0503020204020204" pitchFamily="34" charset="-122"/>
                <a:sym typeface="Arial" panose="020B0604020202020204" pitchFamily="34" charset="0"/>
              </a:rPr>
              <a:t>Built the pipeline end-to-end and standardized outputs for evaluation and downstream use</a:t>
            </a:r>
          </a:p>
        </p:txBody>
      </p:sp>
      <p:cxnSp>
        <p:nvCxnSpPr>
          <p:cNvPr id="66" name="直接连接符 65">
            <a:extLst>
              <a:ext uri="{FF2B5EF4-FFF2-40B4-BE49-F238E27FC236}">
                <a16:creationId xmlns:a16="http://schemas.microsoft.com/office/drawing/2014/main" id="{54E15825-712B-BB5C-F626-45384AF5E8F8}"/>
              </a:ext>
            </a:extLst>
          </p:cNvPr>
          <p:cNvCxnSpPr>
            <a:cxnSpLocks/>
          </p:cNvCxnSpPr>
          <p:nvPr/>
        </p:nvCxnSpPr>
        <p:spPr>
          <a:xfrm flipH="1">
            <a:off x="2397752" y="4897155"/>
            <a:ext cx="202057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E8B1239-E28D-7937-185B-BA59AABC3568}"/>
              </a:ext>
            </a:extLst>
          </p:cNvPr>
          <p:cNvCxnSpPr>
            <a:cxnSpLocks/>
          </p:cNvCxnSpPr>
          <p:nvPr/>
        </p:nvCxnSpPr>
        <p:spPr>
          <a:xfrm flipH="1">
            <a:off x="4418322" y="4624037"/>
            <a:ext cx="165721" cy="2731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pic>
        <p:nvPicPr>
          <p:cNvPr id="28" name="图片 27">
            <a:extLst>
              <a:ext uri="{FF2B5EF4-FFF2-40B4-BE49-F238E27FC236}">
                <a16:creationId xmlns:a16="http://schemas.microsoft.com/office/drawing/2014/main" id="{318D0A37-4FC1-9EC2-46FC-AD23EB006CD7}"/>
              </a:ext>
            </a:extLst>
          </p:cNvPr>
          <p:cNvPicPr>
            <a:picLocks noChangeAspect="1"/>
          </p:cNvPicPr>
          <p:nvPr/>
        </p:nvPicPr>
        <p:blipFill>
          <a:blip r:embed="rId3">
            <a:extLst>
              <a:ext uri="{28A0092B-C50C-407E-A947-70E740481C1C}">
                <a14:useLocalDpi xmlns:a14="http://schemas.microsoft.com/office/drawing/2010/main" val="0"/>
              </a:ext>
            </a:extLst>
          </a:blip>
          <a:srcRect l="5556" r="5556"/>
          <a:stretch/>
        </p:blipFill>
        <p:spPr>
          <a:xfrm>
            <a:off x="4391707" y="1971541"/>
            <a:ext cx="3408586" cy="3408586"/>
          </a:xfrm>
          <a:prstGeom prst="ellipse">
            <a:avLst/>
          </a:prstGeom>
          <a:effectLst>
            <a:outerShdw blurRad="190500" sx="102000" sy="102000" algn="ctr" rotWithShape="0">
              <a:prstClr val="black">
                <a:alpha val="10000"/>
              </a:prstClr>
            </a:outerShdw>
          </a:effectLst>
        </p:spPr>
      </p:pic>
      <p:cxnSp>
        <p:nvCxnSpPr>
          <p:cNvPr id="30" name="直接连接符 29">
            <a:extLst>
              <a:ext uri="{FF2B5EF4-FFF2-40B4-BE49-F238E27FC236}">
                <a16:creationId xmlns:a16="http://schemas.microsoft.com/office/drawing/2014/main" id="{6D270B45-AD77-6E66-29FE-133E40F796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0AABAB3-FEF5-CF6D-410D-A6E3FF760A75}"/>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Ongoing research: coronary reconstruction pipeline</a:t>
            </a:r>
          </a:p>
        </p:txBody>
      </p:sp>
      <p:pic>
        <p:nvPicPr>
          <p:cNvPr id="32" name="图片 31" descr="黑白色的标志&#10;&#10;中度可信度描述已自动生成">
            <a:extLst>
              <a:ext uri="{FF2B5EF4-FFF2-40B4-BE49-F238E27FC236}">
                <a16:creationId xmlns:a16="http://schemas.microsoft.com/office/drawing/2014/main" id="{3825185A-C443-9957-327F-0A38631DD2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C3FD90BE-E38E-A6C1-5901-2FA4EF3EAB76}"/>
              </a:ext>
            </a:extLst>
          </p:cNvPr>
          <p:cNvSpPr>
            <a:spLocks noGrp="1"/>
          </p:cNvSpPr>
          <p:nvPr>
            <p:ph type="sldNum" sz="quarter" idx="12"/>
          </p:nvPr>
        </p:nvSpPr>
        <p:spPr/>
        <p:txBody>
          <a:bodyPr/>
          <a:lstStyle/>
          <a:p>
            <a:fld id="{CCBA9D17-A0D3-409F-BFF9-E5BAE63FEE36}" type="slidenum">
              <a:rPr lang="zh-CN" altLang="en-US" smtClean="0"/>
              <a:pPr/>
              <a:t>7</a:t>
            </a:fld>
            <a:endParaRPr lang="zh-CN" altLang="en-US" dirty="0"/>
          </a:p>
        </p:txBody>
      </p:sp>
    </p:spTree>
    <p:extLst>
      <p:ext uri="{BB962C8B-B14F-4D97-AF65-F5344CB8AC3E}">
        <p14:creationId xmlns:p14="http://schemas.microsoft.com/office/powerpoint/2010/main" val="248104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C31B-CC64-1517-43D2-3E4687F240D0}"/>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D21B0E16-42DD-9078-3EAF-E2DC7ED825CE}"/>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0A28BEE6-6766-8F84-515F-3AED55B0C66B}"/>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Vessel_seg:</a:t>
            </a:r>
            <a:r>
              <a:rPr lang="zh-CN" altLang="en-US" sz="2400" b="1" dirty="0">
                <a:solidFill>
                  <a:schemeClr val="accent1"/>
                </a:solidFill>
                <a:latin typeface="+mj-ea"/>
                <a:ea typeface="+mj-ea"/>
              </a:rPr>
              <a:t> </a:t>
            </a:r>
            <a:r>
              <a:rPr lang="en-US" altLang="zh-CN" sz="2400" b="1" dirty="0">
                <a:solidFill>
                  <a:schemeClr val="accent1"/>
                </a:solidFill>
                <a:latin typeface="+mj-ea"/>
                <a:ea typeface="+mj-ea"/>
              </a:rPr>
              <a:t>Research Progress</a:t>
            </a:r>
          </a:p>
        </p:txBody>
      </p:sp>
      <p:pic>
        <p:nvPicPr>
          <p:cNvPr id="32" name="图片 31" descr="黑白色的标志&#10;&#10;中度可信度描述已自动生成">
            <a:extLst>
              <a:ext uri="{FF2B5EF4-FFF2-40B4-BE49-F238E27FC236}">
                <a16:creationId xmlns:a16="http://schemas.microsoft.com/office/drawing/2014/main" id="{7F84F326-6EA2-616F-9B1D-601F4089B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03131F1E-458F-E62E-758D-8FF607AF0B48}"/>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6" name="Picture 2" descr="image.png">
            <a:extLst>
              <a:ext uri="{FF2B5EF4-FFF2-40B4-BE49-F238E27FC236}">
                <a16:creationId xmlns:a16="http://schemas.microsoft.com/office/drawing/2014/main" id="{2F885141-12A3-E9DD-93C6-D99BE2869628}"/>
              </a:ext>
            </a:extLst>
          </p:cNvPr>
          <p:cNvPicPr>
            <a:picLocks noChangeAspect="1"/>
          </p:cNvPicPr>
          <p:nvPr/>
        </p:nvPicPr>
        <p:blipFill>
          <a:blip r:embed="rId4"/>
          <a:stretch>
            <a:fillRect/>
          </a:stretch>
        </p:blipFill>
        <p:spPr>
          <a:xfrm>
            <a:off x="576775" y="1623317"/>
            <a:ext cx="11038449" cy="4366693"/>
          </a:xfrm>
          <a:prstGeom prst="rect">
            <a:avLst/>
          </a:prstGeom>
        </p:spPr>
      </p:pic>
    </p:spTree>
    <p:extLst>
      <p:ext uri="{BB962C8B-B14F-4D97-AF65-F5344CB8AC3E}">
        <p14:creationId xmlns:p14="http://schemas.microsoft.com/office/powerpoint/2010/main" val="2644064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6472-23D8-279C-CF80-2C286E2E3627}"/>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3BBA105F-30D7-564C-95F8-6E3E48E9E6EB}"/>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4004811-2535-DEDB-D876-37A76E4C0F6D}"/>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Step1 Segmentation: Normal_1</a:t>
            </a:r>
          </a:p>
        </p:txBody>
      </p:sp>
      <p:pic>
        <p:nvPicPr>
          <p:cNvPr id="32" name="图片 31" descr="黑白色的标志&#10;&#10;中度可信度描述已自动生成">
            <a:extLst>
              <a:ext uri="{FF2B5EF4-FFF2-40B4-BE49-F238E27FC236}">
                <a16:creationId xmlns:a16="http://schemas.microsoft.com/office/drawing/2014/main" id="{895463AD-2713-9BDE-4880-3661F55A4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B86EA908-EA4E-17F8-C831-995B7E7F09F2}"/>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3" name="Picture 4" descr="image.png">
            <a:extLst>
              <a:ext uri="{FF2B5EF4-FFF2-40B4-BE49-F238E27FC236}">
                <a16:creationId xmlns:a16="http://schemas.microsoft.com/office/drawing/2014/main" id="{0F285532-E91C-9731-0467-28E91D9FA13E}"/>
              </a:ext>
            </a:extLst>
          </p:cNvPr>
          <p:cNvPicPr>
            <a:picLocks noChangeAspect="1"/>
          </p:cNvPicPr>
          <p:nvPr/>
        </p:nvPicPr>
        <p:blipFill>
          <a:blip r:embed="rId4"/>
          <a:stretch>
            <a:fillRect/>
          </a:stretch>
        </p:blipFill>
        <p:spPr>
          <a:xfrm>
            <a:off x="-447339" y="2250041"/>
            <a:ext cx="11569578" cy="3490830"/>
          </a:xfrm>
          <a:prstGeom prst="rect">
            <a:avLst/>
          </a:prstGeom>
        </p:spPr>
      </p:pic>
      <p:sp>
        <p:nvSpPr>
          <p:cNvPr id="2" name="TextBox 3">
            <a:extLst>
              <a:ext uri="{FF2B5EF4-FFF2-40B4-BE49-F238E27FC236}">
                <a16:creationId xmlns:a16="http://schemas.microsoft.com/office/drawing/2014/main" id="{4B1995F7-0FA9-F32B-FFE2-8BA9048C3F0B}"/>
              </a:ext>
            </a:extLst>
          </p:cNvPr>
          <p:cNvSpPr txBox="1"/>
          <p:nvPr/>
        </p:nvSpPr>
        <p:spPr>
          <a:xfrm>
            <a:off x="9009698" y="1117130"/>
            <a:ext cx="3383280" cy="3474720"/>
          </a:xfrm>
          <a:prstGeom prst="rect">
            <a:avLst/>
          </a:prstGeom>
          <a:noFill/>
        </p:spPr>
        <p:txBody>
          <a:bodyPr wrap="square">
            <a:spAutoFit/>
          </a:bodyPr>
          <a:lstStyle/>
          <a:p>
            <a:pPr>
              <a:spcAft>
                <a:spcPts val="1200"/>
              </a:spcAft>
              <a:defRPr sz="1700">
                <a:latin typeface="Calibri"/>
              </a:defRPr>
            </a:pPr>
            <a:r>
              <a:rPr dirty="0"/>
              <a:t>Dice = 0.8450</a:t>
            </a:r>
          </a:p>
          <a:p>
            <a:pPr>
              <a:spcAft>
                <a:spcPts val="1200"/>
              </a:spcAft>
              <a:defRPr sz="1700">
                <a:latin typeface="Calibri"/>
              </a:defRPr>
            </a:pPr>
            <a:r>
              <a:rPr dirty="0"/>
              <a:t>HD95 = 0.625 mm</a:t>
            </a:r>
          </a:p>
          <a:p>
            <a:pPr>
              <a:spcAft>
                <a:spcPts val="1200"/>
              </a:spcAft>
              <a:defRPr sz="1700">
                <a:latin typeface="Calibri"/>
              </a:defRPr>
            </a:pPr>
            <a:r>
              <a:rPr dirty="0"/>
              <a:t>Interpretation: strong upstream quality for downstream steps</a:t>
            </a:r>
          </a:p>
        </p:txBody>
      </p:sp>
    </p:spTree>
    <p:extLst>
      <p:ext uri="{BB962C8B-B14F-4D97-AF65-F5344CB8AC3E}">
        <p14:creationId xmlns:p14="http://schemas.microsoft.com/office/powerpoint/2010/main" val="68916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EE554-D915-A807-BCBB-BC58A0BDDAD4}"/>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B0DDCAA4-2C06-F976-8D85-776DF36F2278}"/>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FC82BF47-36B5-3CEA-EE10-C6C1F2F435A3}"/>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Step1 Segmentation: Normal_2</a:t>
            </a:r>
          </a:p>
        </p:txBody>
      </p:sp>
      <p:pic>
        <p:nvPicPr>
          <p:cNvPr id="32" name="图片 31" descr="黑白色的标志&#10;&#10;中度可信度描述已自动生成">
            <a:extLst>
              <a:ext uri="{FF2B5EF4-FFF2-40B4-BE49-F238E27FC236}">
                <a16:creationId xmlns:a16="http://schemas.microsoft.com/office/drawing/2014/main" id="{1E327170-AB21-EBE1-DF30-83E26C7975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15F32847-AC75-0857-7C1B-372394EB4010}"/>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6" name="Picture 4" descr="image.png">
            <a:extLst>
              <a:ext uri="{FF2B5EF4-FFF2-40B4-BE49-F238E27FC236}">
                <a16:creationId xmlns:a16="http://schemas.microsoft.com/office/drawing/2014/main" id="{2A8E3655-36E8-8D79-D269-2EB8877B8C44}"/>
              </a:ext>
            </a:extLst>
          </p:cNvPr>
          <p:cNvPicPr>
            <a:picLocks noChangeAspect="1"/>
          </p:cNvPicPr>
          <p:nvPr/>
        </p:nvPicPr>
        <p:blipFill>
          <a:blip r:embed="rId4"/>
          <a:stretch>
            <a:fillRect/>
          </a:stretch>
        </p:blipFill>
        <p:spPr>
          <a:xfrm>
            <a:off x="-260615" y="2420723"/>
            <a:ext cx="12452615" cy="3754046"/>
          </a:xfrm>
          <a:prstGeom prst="rect">
            <a:avLst/>
          </a:prstGeom>
        </p:spPr>
      </p:pic>
      <p:sp>
        <p:nvSpPr>
          <p:cNvPr id="5" name="TextBox 3">
            <a:extLst>
              <a:ext uri="{FF2B5EF4-FFF2-40B4-BE49-F238E27FC236}">
                <a16:creationId xmlns:a16="http://schemas.microsoft.com/office/drawing/2014/main" id="{EACBFBBD-B8E5-18DB-6778-9E669A722300}"/>
              </a:ext>
            </a:extLst>
          </p:cNvPr>
          <p:cNvSpPr txBox="1"/>
          <p:nvPr/>
        </p:nvSpPr>
        <p:spPr>
          <a:xfrm>
            <a:off x="9164288" y="816136"/>
            <a:ext cx="3383280" cy="3474720"/>
          </a:xfrm>
          <a:prstGeom prst="rect">
            <a:avLst/>
          </a:prstGeom>
          <a:noFill/>
        </p:spPr>
        <p:txBody>
          <a:bodyPr wrap="square">
            <a:spAutoFit/>
          </a:bodyPr>
          <a:lstStyle/>
          <a:p>
            <a:pPr>
              <a:spcAft>
                <a:spcPts val="1200"/>
              </a:spcAft>
              <a:defRPr sz="1700">
                <a:latin typeface="Calibri"/>
              </a:defRPr>
            </a:pPr>
            <a:r>
              <a:rPr dirty="0"/>
              <a:t>Dice = 0.7274</a:t>
            </a:r>
          </a:p>
          <a:p>
            <a:pPr>
              <a:spcAft>
                <a:spcPts val="1200"/>
              </a:spcAft>
              <a:defRPr sz="1700">
                <a:latin typeface="Calibri"/>
              </a:defRPr>
            </a:pPr>
            <a:r>
              <a:rPr dirty="0"/>
              <a:t>HD95 = 10.2556 mm</a:t>
            </a:r>
          </a:p>
          <a:p>
            <a:pPr>
              <a:spcAft>
                <a:spcPts val="1200"/>
              </a:spcAft>
              <a:defRPr sz="1700">
                <a:latin typeface="Calibri"/>
              </a:defRPr>
            </a:pPr>
            <a:r>
              <a:rPr dirty="0"/>
              <a:t>Main bottleneck: segmentation quality variance</a:t>
            </a:r>
          </a:p>
        </p:txBody>
      </p:sp>
    </p:spTree>
    <p:extLst>
      <p:ext uri="{BB962C8B-B14F-4D97-AF65-F5344CB8AC3E}">
        <p14:creationId xmlns:p14="http://schemas.microsoft.com/office/powerpoint/2010/main" val="3409689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9EE23-5F1C-C734-1C4F-2F08D05CD19C}"/>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C4E54DAE-A34E-FA16-90A6-0D09F70B7CF9}"/>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3A03E8D-8F11-E7C1-BFBB-249FB97D6037}"/>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Step3 Centerline Comparison</a:t>
            </a:r>
          </a:p>
        </p:txBody>
      </p:sp>
      <p:pic>
        <p:nvPicPr>
          <p:cNvPr id="32" name="图片 31" descr="黑白色的标志&#10;&#10;中度可信度描述已自动生成">
            <a:extLst>
              <a:ext uri="{FF2B5EF4-FFF2-40B4-BE49-F238E27FC236}">
                <a16:creationId xmlns:a16="http://schemas.microsoft.com/office/drawing/2014/main" id="{050C8A91-7CBE-F7A1-8439-24FE8021AA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96EDF34E-FA31-D96E-28A1-F98B1C288F99}"/>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2" name="Picture 2" descr="image.png">
            <a:extLst>
              <a:ext uri="{FF2B5EF4-FFF2-40B4-BE49-F238E27FC236}">
                <a16:creationId xmlns:a16="http://schemas.microsoft.com/office/drawing/2014/main" id="{50A99140-5831-F7F2-CC0D-21C9141C91BF}"/>
              </a:ext>
            </a:extLst>
          </p:cNvPr>
          <p:cNvPicPr>
            <a:picLocks noChangeAspect="1"/>
          </p:cNvPicPr>
          <p:nvPr/>
        </p:nvPicPr>
        <p:blipFill>
          <a:blip r:embed="rId4"/>
          <a:stretch>
            <a:fillRect/>
          </a:stretch>
        </p:blipFill>
        <p:spPr>
          <a:xfrm>
            <a:off x="426720" y="1366269"/>
            <a:ext cx="5669280" cy="4536183"/>
          </a:xfrm>
          <a:prstGeom prst="rect">
            <a:avLst/>
          </a:prstGeom>
        </p:spPr>
      </p:pic>
      <p:pic>
        <p:nvPicPr>
          <p:cNvPr id="3" name="Picture 3" descr="image.png">
            <a:extLst>
              <a:ext uri="{FF2B5EF4-FFF2-40B4-BE49-F238E27FC236}">
                <a16:creationId xmlns:a16="http://schemas.microsoft.com/office/drawing/2014/main" id="{34872408-38BD-933A-4E8C-955D8AC79D11}"/>
              </a:ext>
            </a:extLst>
          </p:cNvPr>
          <p:cNvPicPr>
            <a:picLocks noChangeAspect="1"/>
          </p:cNvPicPr>
          <p:nvPr/>
        </p:nvPicPr>
        <p:blipFill>
          <a:blip r:embed="rId5"/>
          <a:stretch>
            <a:fillRect/>
          </a:stretch>
        </p:blipFill>
        <p:spPr>
          <a:xfrm>
            <a:off x="6215605" y="1366268"/>
            <a:ext cx="5486400" cy="4536183"/>
          </a:xfrm>
          <a:prstGeom prst="rect">
            <a:avLst/>
          </a:prstGeom>
        </p:spPr>
      </p:pic>
    </p:spTree>
    <p:extLst>
      <p:ext uri="{BB962C8B-B14F-4D97-AF65-F5344CB8AC3E}">
        <p14:creationId xmlns:p14="http://schemas.microsoft.com/office/powerpoint/2010/main" val="132336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A240-0AFE-5026-164C-EDA6544D69F0}"/>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3293A82D-3BC8-B6E7-A581-60958181F752}"/>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F09BB4C5-BC8E-C4F0-C9EA-F47E3027A949}"/>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Key Engineering Fix: Repair Topology</a:t>
            </a:r>
          </a:p>
        </p:txBody>
      </p:sp>
      <p:pic>
        <p:nvPicPr>
          <p:cNvPr id="32" name="图片 31" descr="黑白色的标志&#10;&#10;中度可信度描述已自动生成">
            <a:extLst>
              <a:ext uri="{FF2B5EF4-FFF2-40B4-BE49-F238E27FC236}">
                <a16:creationId xmlns:a16="http://schemas.microsoft.com/office/drawing/2014/main" id="{82C19BAE-B417-873A-3B0A-9CEF2C19D0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B104962F-19F0-20B8-2BAC-5D963544CEB7}"/>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5" name="Picture 4" descr="image.png">
            <a:extLst>
              <a:ext uri="{FF2B5EF4-FFF2-40B4-BE49-F238E27FC236}">
                <a16:creationId xmlns:a16="http://schemas.microsoft.com/office/drawing/2014/main" id="{0A4A4887-8F21-CA6F-8E1A-F5B8D19F3184}"/>
              </a:ext>
            </a:extLst>
          </p:cNvPr>
          <p:cNvPicPr>
            <a:picLocks noChangeAspect="1"/>
          </p:cNvPicPr>
          <p:nvPr/>
        </p:nvPicPr>
        <p:blipFill>
          <a:blip r:embed="rId4"/>
          <a:stretch>
            <a:fillRect/>
          </a:stretch>
        </p:blipFill>
        <p:spPr>
          <a:xfrm>
            <a:off x="452511" y="1795169"/>
            <a:ext cx="9022080" cy="4630845"/>
          </a:xfrm>
          <a:prstGeom prst="rect">
            <a:avLst/>
          </a:prstGeom>
        </p:spPr>
      </p:pic>
      <p:sp>
        <p:nvSpPr>
          <p:cNvPr id="6" name="TextBox 3">
            <a:extLst>
              <a:ext uri="{FF2B5EF4-FFF2-40B4-BE49-F238E27FC236}">
                <a16:creationId xmlns:a16="http://schemas.microsoft.com/office/drawing/2014/main" id="{8CFFC302-1096-07FE-608C-9400B44E4285}"/>
              </a:ext>
            </a:extLst>
          </p:cNvPr>
          <p:cNvSpPr txBox="1"/>
          <p:nvPr/>
        </p:nvSpPr>
        <p:spPr>
          <a:xfrm>
            <a:off x="8189531" y="1218116"/>
            <a:ext cx="3749039" cy="4297680"/>
          </a:xfrm>
          <a:prstGeom prst="rect">
            <a:avLst/>
          </a:prstGeom>
          <a:noFill/>
        </p:spPr>
        <p:txBody>
          <a:bodyPr wrap="square">
            <a:spAutoFit/>
          </a:bodyPr>
          <a:lstStyle/>
          <a:p>
            <a:pPr>
              <a:spcAft>
                <a:spcPts val="1200"/>
              </a:spcAft>
              <a:defRPr sz="1600">
                <a:latin typeface="Calibri"/>
              </a:defRPr>
            </a:pPr>
            <a:r>
              <a:rPr dirty="0"/>
              <a:t>Root cause: duplicated endpoint points in VTP writer</a:t>
            </a:r>
          </a:p>
          <a:p>
            <a:pPr>
              <a:spcAft>
                <a:spcPts val="1200"/>
              </a:spcAft>
              <a:defRPr sz="1600">
                <a:latin typeface="Calibri"/>
              </a:defRPr>
            </a:pPr>
            <a:r>
              <a:rPr dirty="0"/>
              <a:t>Fix: merge coincident endpoints to shared point IDs</a:t>
            </a:r>
          </a:p>
          <a:p>
            <a:pPr>
              <a:spcAft>
                <a:spcPts val="1200"/>
              </a:spcAft>
              <a:defRPr sz="1600">
                <a:latin typeface="Calibri"/>
              </a:defRPr>
            </a:pPr>
            <a:r>
              <a:rPr dirty="0"/>
              <a:t>Outcome: disconnected fragments -&gt; anatomically coherent components</a:t>
            </a:r>
          </a:p>
        </p:txBody>
      </p:sp>
    </p:spTree>
    <p:extLst>
      <p:ext uri="{BB962C8B-B14F-4D97-AF65-F5344CB8AC3E}">
        <p14:creationId xmlns:p14="http://schemas.microsoft.com/office/powerpoint/2010/main" val="30580623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6B933-80E0-72AF-8B5A-075F4B01F65A}"/>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27EDD8AA-689D-3C2C-975A-3235D5443FAC}"/>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059E900C-50D4-3138-592E-F896E5F495DF}"/>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Cross-case Quantitative Summary</a:t>
            </a:r>
          </a:p>
        </p:txBody>
      </p:sp>
      <p:pic>
        <p:nvPicPr>
          <p:cNvPr id="32" name="图片 31" descr="黑白色的标志&#10;&#10;中度可信度描述已自动生成">
            <a:extLst>
              <a:ext uri="{FF2B5EF4-FFF2-40B4-BE49-F238E27FC236}">
                <a16:creationId xmlns:a16="http://schemas.microsoft.com/office/drawing/2014/main" id="{6FAA974D-FDDA-975F-B50F-C5C159D2F9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E6438CB8-2DB6-540A-2619-D54062CDB52A}"/>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2" name="Picture 2" descr="image.png">
            <a:extLst>
              <a:ext uri="{FF2B5EF4-FFF2-40B4-BE49-F238E27FC236}">
                <a16:creationId xmlns:a16="http://schemas.microsoft.com/office/drawing/2014/main" id="{0F91898A-9EC9-97B0-3FA9-A60EBEE12609}"/>
              </a:ext>
            </a:extLst>
          </p:cNvPr>
          <p:cNvPicPr>
            <a:picLocks noChangeAspect="1"/>
          </p:cNvPicPr>
          <p:nvPr/>
        </p:nvPicPr>
        <p:blipFill>
          <a:blip r:embed="rId4"/>
          <a:stretch>
            <a:fillRect/>
          </a:stretch>
        </p:blipFill>
        <p:spPr>
          <a:xfrm>
            <a:off x="823562" y="1472004"/>
            <a:ext cx="10332720" cy="4716874"/>
          </a:xfrm>
          <a:prstGeom prst="rect">
            <a:avLst/>
          </a:prstGeom>
        </p:spPr>
      </p:pic>
    </p:spTree>
    <p:extLst>
      <p:ext uri="{BB962C8B-B14F-4D97-AF65-F5344CB8AC3E}">
        <p14:creationId xmlns:p14="http://schemas.microsoft.com/office/powerpoint/2010/main" val="60584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776D1-BD11-C0DC-ACFA-3C51BFF3AC40}"/>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D1C9A77F-CF16-15E0-A09F-7D7B58616915}"/>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57823086-0F99-F91B-569D-11610240CB83}"/>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Step4 Feature Extraction</a:t>
            </a:r>
          </a:p>
        </p:txBody>
      </p:sp>
      <p:pic>
        <p:nvPicPr>
          <p:cNvPr id="32" name="图片 31" descr="黑白色的标志&#10;&#10;中度可信度描述已自动生成">
            <a:extLst>
              <a:ext uri="{FF2B5EF4-FFF2-40B4-BE49-F238E27FC236}">
                <a16:creationId xmlns:a16="http://schemas.microsoft.com/office/drawing/2014/main" id="{7A872F29-618D-AFA8-E994-54693B522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A68243B1-11EA-0DF6-098A-774BE9713A5E}"/>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pic>
        <p:nvPicPr>
          <p:cNvPr id="3" name="Picture 2" descr="image.png">
            <a:extLst>
              <a:ext uri="{FF2B5EF4-FFF2-40B4-BE49-F238E27FC236}">
                <a16:creationId xmlns:a16="http://schemas.microsoft.com/office/drawing/2014/main" id="{568E85D0-DD2B-D7E5-DF7C-DE9B447EB0DF}"/>
              </a:ext>
            </a:extLst>
          </p:cNvPr>
          <p:cNvPicPr>
            <a:picLocks noChangeAspect="1"/>
          </p:cNvPicPr>
          <p:nvPr/>
        </p:nvPicPr>
        <p:blipFill>
          <a:blip r:embed="rId4"/>
          <a:stretch>
            <a:fillRect/>
          </a:stretch>
        </p:blipFill>
        <p:spPr>
          <a:xfrm>
            <a:off x="528706" y="1828800"/>
            <a:ext cx="5669280" cy="3307080"/>
          </a:xfrm>
          <a:prstGeom prst="rect">
            <a:avLst/>
          </a:prstGeom>
        </p:spPr>
      </p:pic>
      <p:pic>
        <p:nvPicPr>
          <p:cNvPr id="5" name="Picture 3" descr="image.png">
            <a:extLst>
              <a:ext uri="{FF2B5EF4-FFF2-40B4-BE49-F238E27FC236}">
                <a16:creationId xmlns:a16="http://schemas.microsoft.com/office/drawing/2014/main" id="{48DE9368-8DB3-958B-8070-07955D74F49D}"/>
              </a:ext>
            </a:extLst>
          </p:cNvPr>
          <p:cNvPicPr>
            <a:picLocks noChangeAspect="1"/>
          </p:cNvPicPr>
          <p:nvPr/>
        </p:nvPicPr>
        <p:blipFill>
          <a:blip r:embed="rId5"/>
          <a:stretch>
            <a:fillRect/>
          </a:stretch>
        </p:blipFill>
        <p:spPr>
          <a:xfrm>
            <a:off x="6291894" y="1935480"/>
            <a:ext cx="5486400" cy="3200400"/>
          </a:xfrm>
          <a:prstGeom prst="rect">
            <a:avLst/>
          </a:prstGeom>
        </p:spPr>
      </p:pic>
    </p:spTree>
    <p:extLst>
      <p:ext uri="{BB962C8B-B14F-4D97-AF65-F5344CB8AC3E}">
        <p14:creationId xmlns:p14="http://schemas.microsoft.com/office/powerpoint/2010/main" val="2547037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1EC8-5FB0-1C3D-F4F8-66D0ABE7876E}"/>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80C41070-CD1A-D29B-D5C9-8F92FEF99504}"/>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EFCC708-FDD1-C8AE-99A9-5A34A6ADB926}"/>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Current Risks and Following Weeks</a:t>
            </a:r>
          </a:p>
        </p:txBody>
      </p:sp>
      <p:pic>
        <p:nvPicPr>
          <p:cNvPr id="32" name="图片 31" descr="黑白色的标志&#10;&#10;中度可信度描述已自动生成">
            <a:extLst>
              <a:ext uri="{FF2B5EF4-FFF2-40B4-BE49-F238E27FC236}">
                <a16:creationId xmlns:a16="http://schemas.microsoft.com/office/drawing/2014/main" id="{C8B17454-F159-6EBE-8698-279252D988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4813AE6F-3768-EFC7-AAD6-7ADEDE5C4F6B}"/>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sp>
        <p:nvSpPr>
          <p:cNvPr id="2" name="TextBox 2">
            <a:extLst>
              <a:ext uri="{FF2B5EF4-FFF2-40B4-BE49-F238E27FC236}">
                <a16:creationId xmlns:a16="http://schemas.microsoft.com/office/drawing/2014/main" id="{CB010EE2-86BF-F0C5-08CB-6FAFA2E4B2AE}"/>
              </a:ext>
            </a:extLst>
          </p:cNvPr>
          <p:cNvSpPr txBox="1"/>
          <p:nvPr/>
        </p:nvSpPr>
        <p:spPr>
          <a:xfrm>
            <a:off x="659600" y="2185313"/>
            <a:ext cx="5303520" cy="457200"/>
          </a:xfrm>
          <a:prstGeom prst="rect">
            <a:avLst/>
          </a:prstGeom>
          <a:noFill/>
        </p:spPr>
        <p:txBody>
          <a:bodyPr wrap="none">
            <a:spAutoFit/>
          </a:bodyPr>
          <a:lstStyle/>
          <a:p>
            <a:pPr>
              <a:defRPr sz="2000" b="1"/>
            </a:pPr>
            <a:r>
              <a:rPr dirty="0"/>
              <a:t>Open Risks</a:t>
            </a:r>
          </a:p>
        </p:txBody>
      </p:sp>
      <p:sp>
        <p:nvSpPr>
          <p:cNvPr id="6" name="TextBox 4">
            <a:extLst>
              <a:ext uri="{FF2B5EF4-FFF2-40B4-BE49-F238E27FC236}">
                <a16:creationId xmlns:a16="http://schemas.microsoft.com/office/drawing/2014/main" id="{C8CEAC62-3F7C-5991-59BA-75AA570B143B}"/>
              </a:ext>
            </a:extLst>
          </p:cNvPr>
          <p:cNvSpPr txBox="1"/>
          <p:nvPr/>
        </p:nvSpPr>
        <p:spPr>
          <a:xfrm>
            <a:off x="659600" y="2642513"/>
            <a:ext cx="5303520" cy="4389120"/>
          </a:xfrm>
          <a:prstGeom prst="rect">
            <a:avLst/>
          </a:prstGeom>
          <a:noFill/>
        </p:spPr>
        <p:txBody>
          <a:bodyPr wrap="square">
            <a:spAutoFit/>
          </a:bodyPr>
          <a:lstStyle/>
          <a:p>
            <a:pPr>
              <a:spcAft>
                <a:spcPts val="1200"/>
              </a:spcAft>
              <a:defRPr sz="1700">
                <a:latin typeface="Calibri"/>
              </a:defRPr>
            </a:pPr>
            <a:r>
              <a:rPr dirty="0"/>
              <a:t>Step4 still has branch count mismatch on some cases</a:t>
            </a:r>
          </a:p>
          <a:p>
            <a:pPr>
              <a:spcAft>
                <a:spcPts val="1200"/>
              </a:spcAft>
              <a:defRPr sz="1700">
                <a:latin typeface="Calibri"/>
              </a:defRPr>
            </a:pPr>
            <a:r>
              <a:rPr dirty="0"/>
              <a:t>Case-to-case variability remains high</a:t>
            </a:r>
          </a:p>
          <a:p>
            <a:pPr>
              <a:spcAft>
                <a:spcPts val="1200"/>
              </a:spcAft>
              <a:defRPr sz="1700">
                <a:latin typeface="Calibri"/>
              </a:defRPr>
            </a:pPr>
            <a:r>
              <a:rPr dirty="0"/>
              <a:t>Need stronger failure-case regression set</a:t>
            </a:r>
          </a:p>
        </p:txBody>
      </p:sp>
      <p:sp>
        <p:nvSpPr>
          <p:cNvPr id="7" name="TextBox 3">
            <a:extLst>
              <a:ext uri="{FF2B5EF4-FFF2-40B4-BE49-F238E27FC236}">
                <a16:creationId xmlns:a16="http://schemas.microsoft.com/office/drawing/2014/main" id="{0B62F8BD-F0B7-4102-358E-12284199D898}"/>
              </a:ext>
            </a:extLst>
          </p:cNvPr>
          <p:cNvSpPr txBox="1"/>
          <p:nvPr/>
        </p:nvSpPr>
        <p:spPr>
          <a:xfrm>
            <a:off x="6235125" y="2185313"/>
            <a:ext cx="5303520" cy="457200"/>
          </a:xfrm>
          <a:prstGeom prst="rect">
            <a:avLst/>
          </a:prstGeom>
          <a:noFill/>
        </p:spPr>
        <p:txBody>
          <a:bodyPr wrap="none">
            <a:spAutoFit/>
          </a:bodyPr>
          <a:lstStyle/>
          <a:p>
            <a:pPr>
              <a:defRPr sz="2000" b="1"/>
            </a:pPr>
            <a:r>
              <a:rPr dirty="0"/>
              <a:t>Execution Plan</a:t>
            </a:r>
          </a:p>
        </p:txBody>
      </p:sp>
      <p:sp>
        <p:nvSpPr>
          <p:cNvPr id="8" name="TextBox 5">
            <a:extLst>
              <a:ext uri="{FF2B5EF4-FFF2-40B4-BE49-F238E27FC236}">
                <a16:creationId xmlns:a16="http://schemas.microsoft.com/office/drawing/2014/main" id="{51433ECB-76A8-D5C2-2956-7D3CAA363FBF}"/>
              </a:ext>
            </a:extLst>
          </p:cNvPr>
          <p:cNvSpPr txBox="1"/>
          <p:nvPr/>
        </p:nvSpPr>
        <p:spPr>
          <a:xfrm>
            <a:off x="6228880" y="2642513"/>
            <a:ext cx="5303520" cy="1446550"/>
          </a:xfrm>
          <a:prstGeom prst="rect">
            <a:avLst/>
          </a:prstGeom>
          <a:noFill/>
        </p:spPr>
        <p:txBody>
          <a:bodyPr wrap="square">
            <a:spAutoFit/>
          </a:bodyPr>
          <a:lstStyle/>
          <a:p>
            <a:pPr>
              <a:spcAft>
                <a:spcPts val="1200"/>
              </a:spcAft>
              <a:defRPr sz="1700">
                <a:latin typeface="Calibri"/>
              </a:defRPr>
            </a:pPr>
            <a:r>
              <a:rPr dirty="0"/>
              <a:t>Week 1: repair trigger + topology constraints</a:t>
            </a:r>
          </a:p>
          <a:p>
            <a:pPr>
              <a:spcAft>
                <a:spcPts val="1200"/>
              </a:spcAft>
              <a:defRPr sz="1700">
                <a:latin typeface="Calibri"/>
              </a:defRPr>
            </a:pPr>
            <a:r>
              <a:rPr dirty="0"/>
              <a:t>Week 2</a:t>
            </a:r>
            <a:r>
              <a:rPr lang="en-US" dirty="0"/>
              <a:t>&amp;3</a:t>
            </a:r>
            <a:r>
              <a:rPr dirty="0"/>
              <a:t>: branch governance + batch evaluation (10-20 cases)</a:t>
            </a:r>
          </a:p>
          <a:p>
            <a:pPr>
              <a:spcAft>
                <a:spcPts val="1200"/>
              </a:spcAft>
              <a:defRPr sz="1700">
                <a:latin typeface="Calibri"/>
              </a:defRPr>
            </a:pPr>
            <a:r>
              <a:rPr dirty="0"/>
              <a:t>Deliver reproducible report-ready figures/tables</a:t>
            </a:r>
          </a:p>
        </p:txBody>
      </p:sp>
    </p:spTree>
    <p:extLst>
      <p:ext uri="{BB962C8B-B14F-4D97-AF65-F5344CB8AC3E}">
        <p14:creationId xmlns:p14="http://schemas.microsoft.com/office/powerpoint/2010/main" val="3800516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71FD8-2BEC-C26F-9167-FD33450FE6FA}"/>
            </a:ext>
          </a:extLst>
        </p:cNvPr>
        <p:cNvGrpSpPr/>
        <p:nvPr/>
      </p:nvGrpSpPr>
      <p:grpSpPr>
        <a:xfrm>
          <a:off x="0" y="0"/>
          <a:ext cx="0" cy="0"/>
          <a:chOff x="0" y="0"/>
          <a:chExt cx="0" cy="0"/>
        </a:xfrm>
      </p:grpSpPr>
      <p:cxnSp>
        <p:nvCxnSpPr>
          <p:cNvPr id="30" name="直接连接符 29">
            <a:extLst>
              <a:ext uri="{FF2B5EF4-FFF2-40B4-BE49-F238E27FC236}">
                <a16:creationId xmlns:a16="http://schemas.microsoft.com/office/drawing/2014/main" id="{093D7205-B36D-4D95-52C1-0FE678DA51BF}"/>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317CA85E-CCFF-787A-894A-417AEAFD2701}"/>
              </a:ext>
            </a:extLst>
          </p:cNvPr>
          <p:cNvSpPr txBox="1"/>
          <p:nvPr/>
        </p:nvSpPr>
        <p:spPr>
          <a:xfrm>
            <a:off x="452512" y="300592"/>
            <a:ext cx="10248826" cy="461665"/>
          </a:xfrm>
          <a:prstGeom prst="rect">
            <a:avLst/>
          </a:prstGeom>
          <a:noFill/>
        </p:spPr>
        <p:txBody>
          <a:bodyPr wrap="square" rtlCol="0">
            <a:spAutoFit/>
          </a:bodyPr>
          <a:lstStyle/>
          <a:p>
            <a:r>
              <a:rPr lang="en-US" altLang="zh-CN" sz="2400" b="1" dirty="0">
                <a:solidFill>
                  <a:schemeClr val="accent1"/>
                </a:solidFill>
                <a:latin typeface="+mj-ea"/>
                <a:ea typeface="+mj-ea"/>
              </a:rPr>
              <a:t>My Core Contributions</a:t>
            </a:r>
          </a:p>
        </p:txBody>
      </p:sp>
      <p:pic>
        <p:nvPicPr>
          <p:cNvPr id="32" name="图片 31" descr="黑白色的标志&#10;&#10;中度可信度描述已自动生成">
            <a:extLst>
              <a:ext uri="{FF2B5EF4-FFF2-40B4-BE49-F238E27FC236}">
                <a16:creationId xmlns:a16="http://schemas.microsoft.com/office/drawing/2014/main" id="{9E824939-6DD6-F711-B7A3-28605FF6F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4" name="文本框 3">
            <a:extLst>
              <a:ext uri="{FF2B5EF4-FFF2-40B4-BE49-F238E27FC236}">
                <a16:creationId xmlns:a16="http://schemas.microsoft.com/office/drawing/2014/main" id="{4B09DBBE-AAB1-E83F-2387-A9AF40AE9C7C}"/>
              </a:ext>
            </a:extLst>
          </p:cNvPr>
          <p:cNvSpPr txBox="1"/>
          <p:nvPr/>
        </p:nvSpPr>
        <p:spPr>
          <a:xfrm>
            <a:off x="452511" y="955548"/>
            <a:ext cx="8506294" cy="323165"/>
          </a:xfrm>
          <a:prstGeom prst="rect">
            <a:avLst/>
          </a:prstGeom>
          <a:noFill/>
        </p:spPr>
        <p:txBody>
          <a:bodyPr wrap="square">
            <a:spAutoFit/>
          </a:bodyPr>
          <a:lstStyle/>
          <a:p>
            <a:pPr>
              <a:defRPr sz="1500">
                <a:solidFill>
                  <a:srgbClr val="5A5A5A"/>
                </a:solidFill>
                <a:latin typeface="Calibri"/>
              </a:defRPr>
            </a:pPr>
            <a:r>
              <a:rPr lang="en-US" altLang="zh-CN" dirty="0"/>
              <a:t>CT -&gt; Segmentation -&gt; Centerline -&gt; Repair -&gt; Feature -&gt; Reconstruction</a:t>
            </a:r>
          </a:p>
        </p:txBody>
      </p:sp>
      <p:sp>
        <p:nvSpPr>
          <p:cNvPr id="10" name="文本框 9">
            <a:extLst>
              <a:ext uri="{FF2B5EF4-FFF2-40B4-BE49-F238E27FC236}">
                <a16:creationId xmlns:a16="http://schemas.microsoft.com/office/drawing/2014/main" id="{93D3DF0A-67B5-D158-66E3-1CD36914E623}"/>
              </a:ext>
            </a:extLst>
          </p:cNvPr>
          <p:cNvSpPr txBox="1"/>
          <p:nvPr/>
        </p:nvSpPr>
        <p:spPr>
          <a:xfrm>
            <a:off x="2123754" y="2447624"/>
            <a:ext cx="7944492" cy="2585323"/>
          </a:xfrm>
          <a:prstGeom prst="rect">
            <a:avLst/>
          </a:prstGeom>
          <a:noFill/>
        </p:spPr>
        <p:txBody>
          <a:bodyPr wrap="square">
            <a:spAutoFit/>
          </a:bodyPr>
          <a:lstStyle/>
          <a:p>
            <a:pPr>
              <a:spcAft>
                <a:spcPts val="1200"/>
              </a:spcAft>
              <a:defRPr sz="2200">
                <a:latin typeface="Calibri"/>
              </a:defRPr>
            </a:pPr>
            <a:r>
              <a:rPr lang="en-US" altLang="zh-CN" dirty="0"/>
              <a:t>Built an end-to-end quantitative pipeline (not isolated scripts)</a:t>
            </a:r>
          </a:p>
          <a:p>
            <a:pPr>
              <a:spcAft>
                <a:spcPts val="1200"/>
              </a:spcAft>
              <a:defRPr sz="2200">
                <a:latin typeface="Calibri"/>
              </a:defRPr>
            </a:pPr>
            <a:r>
              <a:rPr lang="en-US" altLang="zh-CN" dirty="0"/>
              <a:t>Defined step-wise metrics to make progress measurable and auditable</a:t>
            </a:r>
          </a:p>
          <a:p>
            <a:pPr>
              <a:spcAft>
                <a:spcPts val="1200"/>
              </a:spcAft>
              <a:defRPr sz="2200">
                <a:latin typeface="Calibri"/>
              </a:defRPr>
            </a:pPr>
            <a:r>
              <a:rPr lang="en-US" altLang="zh-CN" dirty="0"/>
              <a:t>Diagnosed and fixed topology-level bug with reproducible evidence</a:t>
            </a:r>
          </a:p>
          <a:p>
            <a:pPr>
              <a:spcAft>
                <a:spcPts val="1200"/>
              </a:spcAft>
              <a:defRPr sz="2200">
                <a:latin typeface="Calibri"/>
              </a:defRPr>
            </a:pPr>
            <a:r>
              <a:rPr lang="en-US" altLang="zh-CN" dirty="0"/>
              <a:t>Converted blockers into actionable engineering tasks and benchmarks</a:t>
            </a:r>
          </a:p>
        </p:txBody>
      </p:sp>
    </p:spTree>
    <p:extLst>
      <p:ext uri="{BB962C8B-B14F-4D97-AF65-F5344CB8AC3E}">
        <p14:creationId xmlns:p14="http://schemas.microsoft.com/office/powerpoint/2010/main" val="1434405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711ED97-9587-43BA-998C-9ACB197C5B0D}"/>
              </a:ext>
            </a:extLst>
          </p:cNvPr>
          <p:cNvGrpSpPr/>
          <p:nvPr/>
        </p:nvGrpSpPr>
        <p:grpSpPr>
          <a:xfrm>
            <a:off x="663627" y="1902582"/>
            <a:ext cx="2447024" cy="3815048"/>
            <a:chOff x="660400" y="1931150"/>
            <a:chExt cx="2447024" cy="2995699"/>
          </a:xfrm>
        </p:grpSpPr>
        <p:sp>
          <p:nvSpPr>
            <p:cNvPr id="16" name="矩形 15">
              <a:extLst>
                <a:ext uri="{FF2B5EF4-FFF2-40B4-BE49-F238E27FC236}">
                  <a16:creationId xmlns:a16="http://schemas.microsoft.com/office/drawing/2014/main" id="{252E6937-857D-4B39-AACE-FD9965982714}"/>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3608503A-08CC-410A-BA51-92F669E54600}"/>
                </a:ext>
              </a:extLst>
            </p:cNvPr>
            <p:cNvSpPr/>
            <p:nvPr/>
          </p:nvSpPr>
          <p:spPr>
            <a:xfrm>
              <a:off x="832674" y="2057889"/>
              <a:ext cx="1922451" cy="396583"/>
            </a:xfrm>
            <a:prstGeom prst="rect">
              <a:avLst/>
            </a:prstGeom>
          </p:spPr>
          <p:txBody>
            <a:bodyPr wrap="square" lIns="0">
              <a:normAutofit fontScale="92500"/>
            </a:bodyPr>
            <a:lstStyle/>
            <a:p>
              <a:pPr>
                <a:lnSpc>
                  <a:spcPct val="120000"/>
                </a:lnSpc>
              </a:pPr>
              <a:r>
                <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Why I’m excited</a:t>
              </a:r>
              <a:endPar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矩形 17">
              <a:extLst>
                <a:ext uri="{FF2B5EF4-FFF2-40B4-BE49-F238E27FC236}">
                  <a16:creationId xmlns:a16="http://schemas.microsoft.com/office/drawing/2014/main" id="{C2A46C09-2480-4C19-B557-FD6AE6F2D228}"/>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38BD91C1-276F-4DC1-8E7B-A272B43712E8}"/>
                </a:ext>
              </a:extLst>
            </p:cNvPr>
            <p:cNvSpPr/>
            <p:nvPr/>
          </p:nvSpPr>
          <p:spPr>
            <a:xfrm>
              <a:off x="832675" y="2512480"/>
              <a:ext cx="2225740" cy="1933593"/>
            </a:xfrm>
            <a:prstGeom prst="rect">
              <a:avLst/>
            </a:prstGeom>
          </p:spPr>
          <p:txBody>
            <a:bodyPr wrap="square" lIns="0">
              <a:normAutofit lnSpcReduction="10000"/>
            </a:bodyPr>
            <a:lstStyle/>
            <a:p>
              <a:pPr>
                <a:lnSpc>
                  <a:spcPct val="130000"/>
                </a:lnSpc>
              </a:pPr>
              <a:r>
                <a:rPr lang="en-US" altLang="zh-CN" dirty="0" err="1"/>
                <a:t>PixAIL</a:t>
              </a:r>
              <a:r>
                <a:rPr lang="en-US" altLang="zh-CN" dirty="0"/>
                <a:t> directions: multimodal medical foundation models;</a:t>
              </a:r>
            </a:p>
            <a:p>
              <a:pPr>
                <a:lnSpc>
                  <a:spcPct val="130000"/>
                </a:lnSpc>
              </a:pPr>
              <a:r>
                <a:rPr lang="en-US" altLang="zh-CN" dirty="0"/>
                <a:t>multimodal agents; fine-grained temporal modeling;</a:t>
              </a:r>
            </a:p>
            <a:p>
              <a:pPr>
                <a:lnSpc>
                  <a:spcPct val="130000"/>
                </a:lnSpc>
              </a:pPr>
              <a:r>
                <a:rPr lang="en-US" altLang="zh-CN" dirty="0"/>
                <a:t>generative models</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21" name="组合 20">
              <a:extLst>
                <a:ext uri="{FF2B5EF4-FFF2-40B4-BE49-F238E27FC236}">
                  <a16:creationId xmlns:a16="http://schemas.microsoft.com/office/drawing/2014/main" id="{24EF1A26-B66E-4461-8ECD-952E97DB9799}"/>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5F797A6A-C52A-4C34-B3E4-C05B9D6ABA09}"/>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A0BF61EB-A5FC-459A-98F0-279C56852DAA}"/>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AAF67AD6-DD97-41A1-A6C1-D357870D853A}"/>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52EAFD20-F81D-45AD-A7AA-AD7C1FCDA67B}"/>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B0F049F1-2D4C-4687-94EC-B5E1C6430ADF}"/>
              </a:ext>
            </a:extLst>
          </p:cNvPr>
          <p:cNvGrpSpPr/>
          <p:nvPr/>
        </p:nvGrpSpPr>
        <p:grpSpPr>
          <a:xfrm>
            <a:off x="3471684" y="1902582"/>
            <a:ext cx="2808058" cy="3815045"/>
            <a:chOff x="3468457" y="1931150"/>
            <a:chExt cx="2808058" cy="2995699"/>
          </a:xfrm>
        </p:grpSpPr>
        <p:sp>
          <p:nvSpPr>
            <p:cNvPr id="28" name="矩形 27">
              <a:extLst>
                <a:ext uri="{FF2B5EF4-FFF2-40B4-BE49-F238E27FC236}">
                  <a16:creationId xmlns:a16="http://schemas.microsoft.com/office/drawing/2014/main" id="{12ED2F12-7CC4-4721-BBAE-BB848C4A7E0A}"/>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772494DF-8E2C-476B-9076-C63E9D0C976E}"/>
                </a:ext>
              </a:extLst>
            </p:cNvPr>
            <p:cNvSpPr/>
            <p:nvPr/>
          </p:nvSpPr>
          <p:spPr>
            <a:xfrm>
              <a:off x="3468457" y="2057889"/>
              <a:ext cx="2808058"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Directions I align with</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矩形 29">
              <a:extLst>
                <a:ext uri="{FF2B5EF4-FFF2-40B4-BE49-F238E27FC236}">
                  <a16:creationId xmlns:a16="http://schemas.microsoft.com/office/drawing/2014/main" id="{F3E9A5AC-EF2A-48BF-9601-5DB7BC21ED7A}"/>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74529A3A-9447-4A78-937E-AE293E2B4852}"/>
                </a:ext>
              </a:extLst>
            </p:cNvPr>
            <p:cNvSpPr/>
            <p:nvPr/>
          </p:nvSpPr>
          <p:spPr>
            <a:xfrm>
              <a:off x="3554982" y="2638607"/>
              <a:ext cx="2311491" cy="1498552"/>
            </a:xfrm>
            <a:prstGeom prst="rect">
              <a:avLst/>
            </a:prstGeom>
          </p:spPr>
          <p:txBody>
            <a:bodyPr wrap="square" lIns="0">
              <a:normAutofit fontScale="92500" lnSpcReduction="20000"/>
            </a:bodyPr>
            <a:lstStyle/>
            <a:p>
              <a:pPr>
                <a:lnSpc>
                  <a:spcPct val="130000"/>
                </a:lnSpc>
              </a:pPr>
              <a:r>
                <a:rPr lang="en-US" altLang="zh-CN" dirty="0"/>
                <a:t>multimodal imaging (CCTA + DSA),</a:t>
              </a:r>
            </a:p>
            <a:p>
              <a:pPr>
                <a:lnSpc>
                  <a:spcPct val="130000"/>
                </a:lnSpc>
              </a:pPr>
              <a:r>
                <a:rPr lang="en-US" altLang="zh-CN" dirty="0"/>
                <a:t>3D–2D registration,</a:t>
              </a:r>
            </a:p>
            <a:p>
              <a:pPr>
                <a:lnSpc>
                  <a:spcPct val="130000"/>
                </a:lnSpc>
              </a:pPr>
              <a:r>
                <a:rPr lang="en-US" altLang="zh-CN" dirty="0"/>
                <a:t>temporal modeling, and generative shape priors</a:t>
              </a:r>
              <a:endPar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59" name="组合 58">
              <a:extLst>
                <a:ext uri="{FF2B5EF4-FFF2-40B4-BE49-F238E27FC236}">
                  <a16:creationId xmlns:a16="http://schemas.microsoft.com/office/drawing/2014/main" id="{7B314BF5-9309-44FA-9D37-49848DA0BB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83626811-FDD3-4084-ADDE-37899F88EA1C}"/>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67290ECA-5A3F-4B53-84AA-8C0337397F87}"/>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9CB8AFA-25DA-422F-BC32-8D5A03461CAC}"/>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641553BD-209C-4EBC-83D5-DAE061D91C77}"/>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E76F9C9F-AFDC-4F6D-8D93-20FF51C50896}"/>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7BC818EB-8126-4AB0-96B3-3BF8970C9BE3}"/>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EBAB56F0-5B59-4A8B-B239-E72627214B1B}"/>
              </a:ext>
            </a:extLst>
          </p:cNvPr>
          <p:cNvGrpSpPr/>
          <p:nvPr/>
        </p:nvGrpSpPr>
        <p:grpSpPr>
          <a:xfrm>
            <a:off x="6279743" y="1902582"/>
            <a:ext cx="2508656" cy="3815041"/>
            <a:chOff x="6276516" y="1931150"/>
            <a:chExt cx="2508656" cy="2995699"/>
          </a:xfrm>
        </p:grpSpPr>
        <p:sp>
          <p:nvSpPr>
            <p:cNvPr id="38" name="矩形 37">
              <a:extLst>
                <a:ext uri="{FF2B5EF4-FFF2-40B4-BE49-F238E27FC236}">
                  <a16:creationId xmlns:a16="http://schemas.microsoft.com/office/drawing/2014/main" id="{5C8C8DFB-9AC7-474A-BE48-D7B39A540B0D}"/>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21F2FDFD-BF68-4C11-8278-3433B10048DF}"/>
                </a:ext>
              </a:extLst>
            </p:cNvPr>
            <p:cNvSpPr/>
            <p:nvPr/>
          </p:nvSpPr>
          <p:spPr>
            <a:xfrm>
              <a:off x="6338149" y="2047057"/>
              <a:ext cx="244702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How I can contribute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40" name="矩形 39">
              <a:extLst>
                <a:ext uri="{FF2B5EF4-FFF2-40B4-BE49-F238E27FC236}">
                  <a16:creationId xmlns:a16="http://schemas.microsoft.com/office/drawing/2014/main" id="{B789138A-F452-40F2-8AE7-549064D1D9FB}"/>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7AC56F17-B839-499A-9E04-A17C2F624E54}"/>
                </a:ext>
              </a:extLst>
            </p:cNvPr>
            <p:cNvSpPr/>
            <p:nvPr/>
          </p:nvSpPr>
          <p:spPr>
            <a:xfrm>
              <a:off x="6338149" y="2597232"/>
              <a:ext cx="2225740" cy="1778129"/>
            </a:xfrm>
            <a:prstGeom prst="rect">
              <a:avLst/>
            </a:prstGeom>
          </p:spPr>
          <p:txBody>
            <a:bodyPr wrap="square" lIns="0">
              <a:normAutofit fontScale="92500"/>
            </a:bodyPr>
            <a:lstStyle/>
            <a:p>
              <a:pPr>
                <a:lnSpc>
                  <a:spcPct val="130000"/>
                </a:lnSpc>
              </a:pPr>
              <a:r>
                <a:rPr lang="en-US" altLang="zh-CN" dirty="0"/>
                <a:t>clean data/model/eval pipelines;</a:t>
              </a:r>
            </a:p>
            <a:p>
              <a:pPr>
                <a:lnSpc>
                  <a:spcPct val="130000"/>
                </a:lnSpc>
              </a:pPr>
              <a:r>
                <a:rPr lang="en-US" altLang="zh-CN" dirty="0"/>
                <a:t>geometry + learning; clinical workflow awareness (PCI </a:t>
              </a:r>
              <a:r>
                <a:rPr lang="en-US" altLang="zh-CN" dirty="0" err="1"/>
                <a:t>observership</a:t>
              </a:r>
              <a:r>
                <a:rPr lang="en-US" altLang="zh-CN" dirty="0"/>
                <a:t>)</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67" name="组合 66">
              <a:extLst>
                <a:ext uri="{FF2B5EF4-FFF2-40B4-BE49-F238E27FC236}">
                  <a16:creationId xmlns:a16="http://schemas.microsoft.com/office/drawing/2014/main" id="{B461B236-F47B-440F-9421-B787E5806109}"/>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9FEF784D-2D4A-455C-B7AB-DC6904B0B7B9}"/>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11A87584-D703-4F08-9753-A9D3A941E365}"/>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B31A45B2-1803-4364-A834-5283E85A606F}"/>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8E405FF0-EE72-478C-82D4-37EC38837E7E}"/>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CFFDAA22-16CF-4175-94FB-A1FB93A75B91}"/>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5777420-1A91-4068-BF05-113D8251F952}"/>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F131C47E-1295-49C1-AFB1-1C32F4FFD22A}"/>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52956298-5DC0-449C-920F-2F6D225A5A65}"/>
              </a:ext>
            </a:extLst>
          </p:cNvPr>
          <p:cNvGrpSpPr/>
          <p:nvPr/>
        </p:nvGrpSpPr>
        <p:grpSpPr>
          <a:xfrm>
            <a:off x="9087802" y="1902582"/>
            <a:ext cx="2447024" cy="3815038"/>
            <a:chOff x="9084575" y="1931150"/>
            <a:chExt cx="2447024" cy="2995699"/>
          </a:xfrm>
        </p:grpSpPr>
        <p:sp>
          <p:nvSpPr>
            <p:cNvPr id="48" name="矩形 47">
              <a:extLst>
                <a:ext uri="{FF2B5EF4-FFF2-40B4-BE49-F238E27FC236}">
                  <a16:creationId xmlns:a16="http://schemas.microsoft.com/office/drawing/2014/main" id="{AFE2A724-362A-4415-991C-ECC2C91A2F8C}"/>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5B326D90-96C2-40EC-B0CB-27464C12416C}"/>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C5723DFA-5972-4E31-8C99-340878CBADB0}"/>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237798E0-F1E9-420F-8E02-BC2011CC4353}"/>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Fast iteration</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Small tests first </a:t>
              </a:r>
            </a:p>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then scale</a:t>
              </a:r>
              <a:endParaRPr lang="zh-CN" altLang="en-US"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76" name="组合 75">
              <a:extLst>
                <a:ext uri="{FF2B5EF4-FFF2-40B4-BE49-F238E27FC236}">
                  <a16:creationId xmlns:a16="http://schemas.microsoft.com/office/drawing/2014/main" id="{D6494545-E9F0-4D35-BBA7-1634AF6848A0}"/>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71EFF66-BD64-4219-9252-D7D1D1ABC026}"/>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BAC37453-25A7-4BDE-8B50-4B8CE3DCBEE2}"/>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BD127DE5-08FD-4CB8-BDAB-23BD7AA21E4F}"/>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0C8B888E-F5E0-428D-8D45-A703F47334AA}"/>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B0B62FE5-689A-4C0E-835B-1BE7D3308C3D}"/>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3D834D4-A02B-4395-8638-530A762068C0}"/>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4285F7A0-B237-4C9D-99D0-40D023D29340}"/>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Why </a:t>
            </a:r>
            <a:r>
              <a:rPr lang="en-US" altLang="zh-CN" sz="2400" b="1" dirty="0" err="1">
                <a:solidFill>
                  <a:schemeClr val="accent1"/>
                </a:solidFill>
                <a:latin typeface="+mj-ea"/>
                <a:ea typeface="+mj-ea"/>
              </a:rPr>
              <a:t>PixAIL</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CA1BDCC9-1A8F-40E1-9A71-1C52F10B96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E3288C86-D5D5-4B2E-AC83-3877B515629F}"/>
              </a:ext>
            </a:extLst>
          </p:cNvPr>
          <p:cNvSpPr>
            <a:spLocks noGrp="1"/>
          </p:cNvSpPr>
          <p:nvPr>
            <p:ph type="sldNum" sz="quarter" idx="12"/>
          </p:nvPr>
        </p:nvSpPr>
        <p:spPr/>
        <p:txBody>
          <a:bodyPr/>
          <a:lstStyle/>
          <a:p>
            <a:fld id="{CCBA9D17-A0D3-409F-BFF9-E5BAE63FEE36}" type="slidenum">
              <a:rPr lang="zh-CN" altLang="en-US" smtClean="0"/>
              <a:pPr/>
              <a:t>17</a:t>
            </a:fld>
            <a:endParaRPr lang="zh-CN" altLang="en-US" dirty="0"/>
          </a:p>
        </p:txBody>
      </p:sp>
    </p:spTree>
    <p:extLst>
      <p:ext uri="{BB962C8B-B14F-4D97-AF65-F5344CB8AC3E}">
        <p14:creationId xmlns:p14="http://schemas.microsoft.com/office/powerpoint/2010/main" val="2433904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2590-693A-E90A-7F0B-A0D772877227}"/>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18609143-AA2A-A74A-9296-392A9F61BEBB}"/>
              </a:ext>
            </a:extLst>
          </p:cNvPr>
          <p:cNvGrpSpPr/>
          <p:nvPr/>
        </p:nvGrpSpPr>
        <p:grpSpPr>
          <a:xfrm>
            <a:off x="663627" y="1902582"/>
            <a:ext cx="2534916" cy="4567792"/>
            <a:chOff x="660400" y="1931150"/>
            <a:chExt cx="2534916" cy="2995699"/>
          </a:xfrm>
        </p:grpSpPr>
        <p:sp>
          <p:nvSpPr>
            <p:cNvPr id="16" name="矩形 15">
              <a:extLst>
                <a:ext uri="{FF2B5EF4-FFF2-40B4-BE49-F238E27FC236}">
                  <a16:creationId xmlns:a16="http://schemas.microsoft.com/office/drawing/2014/main" id="{16985666-B67D-D945-BEE7-DC163BDE7A21}"/>
                </a:ext>
              </a:extLst>
            </p:cNvPr>
            <p:cNvSpPr/>
            <p:nvPr/>
          </p:nvSpPr>
          <p:spPr>
            <a:xfrm>
              <a:off x="660400"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16">
              <a:extLst>
                <a:ext uri="{FF2B5EF4-FFF2-40B4-BE49-F238E27FC236}">
                  <a16:creationId xmlns:a16="http://schemas.microsoft.com/office/drawing/2014/main" id="{197ECE9B-70A8-5F34-2FE7-50D00245FF87}"/>
                </a:ext>
              </a:extLst>
            </p:cNvPr>
            <p:cNvSpPr/>
            <p:nvPr/>
          </p:nvSpPr>
          <p:spPr>
            <a:xfrm>
              <a:off x="832674" y="1990804"/>
              <a:ext cx="2086203" cy="463668"/>
            </a:xfrm>
            <a:prstGeom prst="rect">
              <a:avLst/>
            </a:prstGeom>
          </p:spPr>
          <p:txBody>
            <a:bodyPr wrap="square" lIns="0">
              <a:normAutofit/>
            </a:bodyPr>
            <a:lstStyle/>
            <a:p>
              <a:pPr>
                <a:lnSpc>
                  <a:spcPct val="120000"/>
                </a:lnSpc>
              </a:pPr>
              <a:r>
                <a:rPr lang="en-US"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 1–2</a:t>
              </a:r>
              <a:endParaRPr lang="en" altLang="zh-CN" sz="2000"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8" name="矩形 17">
              <a:extLst>
                <a:ext uri="{FF2B5EF4-FFF2-40B4-BE49-F238E27FC236}">
                  <a16:creationId xmlns:a16="http://schemas.microsoft.com/office/drawing/2014/main" id="{DB5A7B80-1D9A-999E-1577-68AC848E8D95}"/>
                </a:ext>
              </a:extLst>
            </p:cNvPr>
            <p:cNvSpPr/>
            <p:nvPr/>
          </p:nvSpPr>
          <p:spPr>
            <a:xfrm>
              <a:off x="660401"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75F922BD-85B1-D687-517B-CFC16BAD1E5C}"/>
                </a:ext>
              </a:extLst>
            </p:cNvPr>
            <p:cNvSpPr/>
            <p:nvPr/>
          </p:nvSpPr>
          <p:spPr>
            <a:xfrm>
              <a:off x="741840" y="2518634"/>
              <a:ext cx="2453476" cy="1933593"/>
            </a:xfrm>
            <a:prstGeom prst="rect">
              <a:avLst/>
            </a:prstGeom>
          </p:spPr>
          <p:txBody>
            <a:bodyPr wrap="square" lIns="0">
              <a:normAutofit/>
            </a:bodyPr>
            <a:lstStyle/>
            <a:p>
              <a:pPr>
                <a:lnSpc>
                  <a:spcPct val="130000"/>
                </a:lnSpc>
              </a:pPr>
              <a:r>
                <a:rPr lang="en-US" altLang="zh-CN" dirty="0"/>
                <a:t>reproduce baselines; set up data preprocessing + evaluation (</a:t>
              </a:r>
              <a:r>
                <a:rPr lang="en-US" altLang="zh-CN" dirty="0" err="1"/>
                <a:t>SimpleITK</a:t>
              </a:r>
              <a:r>
                <a:rPr lang="en-US" altLang="zh-CN" dirty="0"/>
                <a:t>/VTK/3D Slicer)</a:t>
              </a:r>
              <a:endPar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21" name="组合 20">
              <a:extLst>
                <a:ext uri="{FF2B5EF4-FFF2-40B4-BE49-F238E27FC236}">
                  <a16:creationId xmlns:a16="http://schemas.microsoft.com/office/drawing/2014/main" id="{1671E902-387B-1686-ABE8-C504B1F2C878}"/>
                </a:ext>
              </a:extLst>
            </p:cNvPr>
            <p:cNvGrpSpPr/>
            <p:nvPr/>
          </p:nvGrpSpPr>
          <p:grpSpPr>
            <a:xfrm flipH="1">
              <a:off x="832675" y="4463181"/>
              <a:ext cx="364235" cy="369223"/>
              <a:chOff x="9363075" y="4967288"/>
              <a:chExt cx="463551" cy="469900"/>
            </a:xfrm>
            <a:solidFill>
              <a:schemeClr val="bg1"/>
            </a:solidFill>
          </p:grpSpPr>
          <p:sp>
            <p:nvSpPr>
              <p:cNvPr id="22" name="Freeform 22">
                <a:extLst>
                  <a:ext uri="{FF2B5EF4-FFF2-40B4-BE49-F238E27FC236}">
                    <a16:creationId xmlns:a16="http://schemas.microsoft.com/office/drawing/2014/main" id="{BBD97E4D-9091-C59F-BFDD-EF569E6F5846}"/>
                  </a:ext>
                </a:extLst>
              </p:cNvPr>
              <p:cNvSpPr>
                <a:spLocks/>
              </p:cNvSpPr>
              <p:nvPr/>
            </p:nvSpPr>
            <p:spPr bwMode="auto">
              <a:xfrm>
                <a:off x="9371013" y="5280025"/>
                <a:ext cx="158750" cy="150813"/>
              </a:xfrm>
              <a:custGeom>
                <a:avLst/>
                <a:gdLst>
                  <a:gd name="T0" fmla="*/ 14 w 100"/>
                  <a:gd name="T1" fmla="*/ 95 h 95"/>
                  <a:gd name="T2" fmla="*/ 0 w 100"/>
                  <a:gd name="T3" fmla="*/ 80 h 95"/>
                  <a:gd name="T4" fmla="*/ 85 w 100"/>
                  <a:gd name="T5" fmla="*/ 0 h 95"/>
                  <a:gd name="T6" fmla="*/ 100 w 100"/>
                  <a:gd name="T7" fmla="*/ 14 h 95"/>
                  <a:gd name="T8" fmla="*/ 14 w 100"/>
                  <a:gd name="T9" fmla="*/ 95 h 95"/>
                </a:gdLst>
                <a:ahLst/>
                <a:cxnLst>
                  <a:cxn ang="0">
                    <a:pos x="T0" y="T1"/>
                  </a:cxn>
                  <a:cxn ang="0">
                    <a:pos x="T2" y="T3"/>
                  </a:cxn>
                  <a:cxn ang="0">
                    <a:pos x="T4" y="T5"/>
                  </a:cxn>
                  <a:cxn ang="0">
                    <a:pos x="T6" y="T7"/>
                  </a:cxn>
                  <a:cxn ang="0">
                    <a:pos x="T8" y="T9"/>
                  </a:cxn>
                </a:cxnLst>
                <a:rect l="0" t="0" r="r" b="b"/>
                <a:pathLst>
                  <a:path w="100" h="95">
                    <a:moveTo>
                      <a:pt x="14" y="95"/>
                    </a:moveTo>
                    <a:lnTo>
                      <a:pt x="0" y="80"/>
                    </a:lnTo>
                    <a:lnTo>
                      <a:pt x="85" y="0"/>
                    </a:lnTo>
                    <a:lnTo>
                      <a:pt x="100" y="14"/>
                    </a:lnTo>
                    <a:lnTo>
                      <a:pt x="14"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3" name="Freeform 23">
                <a:extLst>
                  <a:ext uri="{FF2B5EF4-FFF2-40B4-BE49-F238E27FC236}">
                    <a16:creationId xmlns:a16="http://schemas.microsoft.com/office/drawing/2014/main" id="{92D3FA5D-01DD-34A9-67BE-F0D2B2703BA4}"/>
                  </a:ext>
                </a:extLst>
              </p:cNvPr>
              <p:cNvSpPr>
                <a:spLocks noEditPoints="1"/>
              </p:cNvSpPr>
              <p:nvPr/>
            </p:nvSpPr>
            <p:spPr bwMode="auto">
              <a:xfrm>
                <a:off x="9486900" y="5200650"/>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Freeform 24">
                <a:extLst>
                  <a:ext uri="{FF2B5EF4-FFF2-40B4-BE49-F238E27FC236}">
                    <a16:creationId xmlns:a16="http://schemas.microsoft.com/office/drawing/2014/main" id="{37BA3D9D-E2FD-38FC-3FF3-8ACAD691EC09}"/>
                  </a:ext>
                </a:extLst>
              </p:cNvPr>
              <p:cNvSpPr>
                <a:spLocks noEditPoints="1"/>
              </p:cNvSpPr>
              <p:nvPr/>
            </p:nvSpPr>
            <p:spPr bwMode="auto">
              <a:xfrm>
                <a:off x="9577388" y="4967288"/>
                <a:ext cx="249238" cy="249238"/>
              </a:xfrm>
              <a:custGeom>
                <a:avLst/>
                <a:gdLst>
                  <a:gd name="T0" fmla="*/ 32 w 66"/>
                  <a:gd name="T1" fmla="*/ 66 h 66"/>
                  <a:gd name="T2" fmla="*/ 9 w 66"/>
                  <a:gd name="T3" fmla="*/ 57 h 66"/>
                  <a:gd name="T4" fmla="*/ 0 w 66"/>
                  <a:gd name="T5" fmla="*/ 34 h 66"/>
                  <a:gd name="T6" fmla="*/ 9 w 66"/>
                  <a:gd name="T7" fmla="*/ 11 h 66"/>
                  <a:gd name="T8" fmla="*/ 20 w 66"/>
                  <a:gd name="T9" fmla="*/ 0 h 66"/>
                  <a:gd name="T10" fmla="*/ 66 w 66"/>
                  <a:gd name="T11" fmla="*/ 46 h 66"/>
                  <a:gd name="T12" fmla="*/ 55 w 66"/>
                  <a:gd name="T13" fmla="*/ 57 h 66"/>
                  <a:gd name="T14" fmla="*/ 32 w 66"/>
                  <a:gd name="T15" fmla="*/ 66 h 66"/>
                  <a:gd name="T16" fmla="*/ 20 w 66"/>
                  <a:gd name="T17" fmla="*/ 12 h 66"/>
                  <a:gd name="T18" fmla="*/ 15 w 66"/>
                  <a:gd name="T19" fmla="*/ 17 h 66"/>
                  <a:gd name="T20" fmla="*/ 8 w 66"/>
                  <a:gd name="T21" fmla="*/ 34 h 66"/>
                  <a:gd name="T22" fmla="*/ 15 w 66"/>
                  <a:gd name="T23" fmla="*/ 51 h 66"/>
                  <a:gd name="T24" fmla="*/ 32 w 66"/>
                  <a:gd name="T25" fmla="*/ 58 h 66"/>
                  <a:gd name="T26" fmla="*/ 49 w 66"/>
                  <a:gd name="T27" fmla="*/ 51 h 66"/>
                  <a:gd name="T28" fmla="*/ 54 w 66"/>
                  <a:gd name="T29" fmla="*/ 46 h 66"/>
                  <a:gd name="T30" fmla="*/ 20 w 66"/>
                  <a:gd name="T31" fmla="*/ 1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6" h="66">
                    <a:moveTo>
                      <a:pt x="32" y="66"/>
                    </a:moveTo>
                    <a:cubicBezTo>
                      <a:pt x="23" y="66"/>
                      <a:pt x="15" y="63"/>
                      <a:pt x="9" y="57"/>
                    </a:cubicBezTo>
                    <a:cubicBezTo>
                      <a:pt x="3" y="51"/>
                      <a:pt x="0" y="43"/>
                      <a:pt x="0" y="34"/>
                    </a:cubicBezTo>
                    <a:cubicBezTo>
                      <a:pt x="0" y="25"/>
                      <a:pt x="3" y="17"/>
                      <a:pt x="9" y="11"/>
                    </a:cubicBezTo>
                    <a:cubicBezTo>
                      <a:pt x="20" y="0"/>
                      <a:pt x="20" y="0"/>
                      <a:pt x="20" y="0"/>
                    </a:cubicBezTo>
                    <a:cubicBezTo>
                      <a:pt x="66" y="46"/>
                      <a:pt x="66" y="46"/>
                      <a:pt x="66" y="46"/>
                    </a:cubicBezTo>
                    <a:cubicBezTo>
                      <a:pt x="55" y="57"/>
                      <a:pt x="55" y="57"/>
                      <a:pt x="55" y="57"/>
                    </a:cubicBezTo>
                    <a:cubicBezTo>
                      <a:pt x="49" y="63"/>
                      <a:pt x="41" y="66"/>
                      <a:pt x="32" y="66"/>
                    </a:cubicBezTo>
                    <a:moveTo>
                      <a:pt x="20" y="12"/>
                    </a:moveTo>
                    <a:cubicBezTo>
                      <a:pt x="15" y="17"/>
                      <a:pt x="15" y="17"/>
                      <a:pt x="15" y="17"/>
                    </a:cubicBezTo>
                    <a:cubicBezTo>
                      <a:pt x="10" y="22"/>
                      <a:pt x="8" y="28"/>
                      <a:pt x="8" y="34"/>
                    </a:cubicBezTo>
                    <a:cubicBezTo>
                      <a:pt x="8" y="40"/>
                      <a:pt x="10" y="46"/>
                      <a:pt x="15" y="51"/>
                    </a:cubicBezTo>
                    <a:cubicBezTo>
                      <a:pt x="20" y="56"/>
                      <a:pt x="26" y="58"/>
                      <a:pt x="32" y="58"/>
                    </a:cubicBezTo>
                    <a:cubicBezTo>
                      <a:pt x="38" y="58"/>
                      <a:pt x="44" y="56"/>
                      <a:pt x="49" y="51"/>
                    </a:cubicBezTo>
                    <a:cubicBezTo>
                      <a:pt x="54" y="46"/>
                      <a:pt x="54" y="46"/>
                      <a:pt x="54" y="46"/>
                    </a:cubicBezTo>
                    <a:lnTo>
                      <a:pt x="2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Freeform 25">
                <a:extLst>
                  <a:ext uri="{FF2B5EF4-FFF2-40B4-BE49-F238E27FC236}">
                    <a16:creationId xmlns:a16="http://schemas.microsoft.com/office/drawing/2014/main" id="{FDE14038-3BBF-3B9D-6A83-28B0A9FDCD9D}"/>
                  </a:ext>
                </a:extLst>
              </p:cNvPr>
              <p:cNvSpPr>
                <a:spLocks/>
              </p:cNvSpPr>
              <p:nvPr/>
            </p:nvSpPr>
            <p:spPr bwMode="auto">
              <a:xfrm>
                <a:off x="9363075" y="5065713"/>
                <a:ext cx="365125" cy="371475"/>
              </a:xfrm>
              <a:custGeom>
                <a:avLst/>
                <a:gdLst>
                  <a:gd name="T0" fmla="*/ 0 w 230"/>
                  <a:gd name="T1" fmla="*/ 234 h 234"/>
                  <a:gd name="T2" fmla="*/ 22 w 230"/>
                  <a:gd name="T3" fmla="*/ 49 h 234"/>
                  <a:gd name="T4" fmla="*/ 112 w 230"/>
                  <a:gd name="T5" fmla="*/ 0 h 234"/>
                  <a:gd name="T6" fmla="*/ 121 w 230"/>
                  <a:gd name="T7" fmla="*/ 16 h 234"/>
                  <a:gd name="T8" fmla="*/ 41 w 230"/>
                  <a:gd name="T9" fmla="*/ 61 h 234"/>
                  <a:gd name="T10" fmla="*/ 24 w 230"/>
                  <a:gd name="T11" fmla="*/ 211 h 234"/>
                  <a:gd name="T12" fmla="*/ 185 w 230"/>
                  <a:gd name="T13" fmla="*/ 180 h 234"/>
                  <a:gd name="T14" fmla="*/ 211 w 230"/>
                  <a:gd name="T15" fmla="*/ 111 h 234"/>
                  <a:gd name="T16" fmla="*/ 230 w 230"/>
                  <a:gd name="T17" fmla="*/ 116 h 234"/>
                  <a:gd name="T18" fmla="*/ 199 w 230"/>
                  <a:gd name="T19" fmla="*/ 199 h 234"/>
                  <a:gd name="T20" fmla="*/ 0 w 230"/>
                  <a:gd name="T21"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0" h="234">
                    <a:moveTo>
                      <a:pt x="0" y="234"/>
                    </a:moveTo>
                    <a:lnTo>
                      <a:pt x="22" y="49"/>
                    </a:lnTo>
                    <a:lnTo>
                      <a:pt x="112" y="0"/>
                    </a:lnTo>
                    <a:lnTo>
                      <a:pt x="121" y="16"/>
                    </a:lnTo>
                    <a:lnTo>
                      <a:pt x="41" y="61"/>
                    </a:lnTo>
                    <a:lnTo>
                      <a:pt x="24" y="211"/>
                    </a:lnTo>
                    <a:lnTo>
                      <a:pt x="185" y="180"/>
                    </a:lnTo>
                    <a:lnTo>
                      <a:pt x="211" y="111"/>
                    </a:lnTo>
                    <a:lnTo>
                      <a:pt x="230" y="116"/>
                    </a:lnTo>
                    <a:lnTo>
                      <a:pt x="199" y="199"/>
                    </a:lnTo>
                    <a:lnTo>
                      <a:pt x="0" y="2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 name="组合 3">
            <a:extLst>
              <a:ext uri="{FF2B5EF4-FFF2-40B4-BE49-F238E27FC236}">
                <a16:creationId xmlns:a16="http://schemas.microsoft.com/office/drawing/2014/main" id="{5151B9ED-12A8-7388-5A9D-B0A682E20A8E}"/>
              </a:ext>
            </a:extLst>
          </p:cNvPr>
          <p:cNvGrpSpPr/>
          <p:nvPr/>
        </p:nvGrpSpPr>
        <p:grpSpPr>
          <a:xfrm>
            <a:off x="3471684" y="1902582"/>
            <a:ext cx="2447025" cy="4567792"/>
            <a:chOff x="3468457" y="1931150"/>
            <a:chExt cx="2447025" cy="2995699"/>
          </a:xfrm>
        </p:grpSpPr>
        <p:sp>
          <p:nvSpPr>
            <p:cNvPr id="28" name="矩形 27">
              <a:extLst>
                <a:ext uri="{FF2B5EF4-FFF2-40B4-BE49-F238E27FC236}">
                  <a16:creationId xmlns:a16="http://schemas.microsoft.com/office/drawing/2014/main" id="{3399011B-394D-0B51-F1E2-41148FE19899}"/>
                </a:ext>
              </a:extLst>
            </p:cNvPr>
            <p:cNvSpPr/>
            <p:nvPr/>
          </p:nvSpPr>
          <p:spPr>
            <a:xfrm>
              <a:off x="3468458"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9" name="矩形 28">
              <a:extLst>
                <a:ext uri="{FF2B5EF4-FFF2-40B4-BE49-F238E27FC236}">
                  <a16:creationId xmlns:a16="http://schemas.microsoft.com/office/drawing/2014/main" id="{14ED3A8E-B3D2-1960-D093-0026C3F7BBF1}"/>
                </a:ext>
              </a:extLst>
            </p:cNvPr>
            <p:cNvSpPr/>
            <p:nvPr/>
          </p:nvSpPr>
          <p:spPr>
            <a:xfrm>
              <a:off x="3468457" y="1931150"/>
              <a:ext cx="2398016" cy="626577"/>
            </a:xfrm>
            <a:prstGeom prst="rect">
              <a:avLst/>
            </a:prstGeom>
          </p:spPr>
          <p:txBody>
            <a:bodyPr wrap="square" lIns="0">
              <a:normAutofit/>
            </a:bodyPr>
            <a:lstStyle/>
            <a:p>
              <a:pPr>
                <a:lnSpc>
                  <a:spcPct val="120000"/>
                </a:lnSpc>
              </a:pPr>
              <a:r>
                <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 3–6</a:t>
              </a:r>
              <a:endPar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30" name="矩形 29">
              <a:extLst>
                <a:ext uri="{FF2B5EF4-FFF2-40B4-BE49-F238E27FC236}">
                  <a16:creationId xmlns:a16="http://schemas.microsoft.com/office/drawing/2014/main" id="{BFA904F5-F30E-C0EA-CF05-746B03F7FB34}"/>
                </a:ext>
              </a:extLst>
            </p:cNvPr>
            <p:cNvSpPr/>
            <p:nvPr/>
          </p:nvSpPr>
          <p:spPr>
            <a:xfrm>
              <a:off x="3468459"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1" name="矩形 30">
              <a:extLst>
                <a:ext uri="{FF2B5EF4-FFF2-40B4-BE49-F238E27FC236}">
                  <a16:creationId xmlns:a16="http://schemas.microsoft.com/office/drawing/2014/main" id="{E6D8EB63-D539-26D2-7359-C25EB0BBA0A4}"/>
                </a:ext>
              </a:extLst>
            </p:cNvPr>
            <p:cNvSpPr/>
            <p:nvPr/>
          </p:nvSpPr>
          <p:spPr>
            <a:xfrm>
              <a:off x="3511719" y="2571806"/>
              <a:ext cx="2311491" cy="1725413"/>
            </a:xfrm>
            <a:prstGeom prst="rect">
              <a:avLst/>
            </a:prstGeom>
          </p:spPr>
          <p:txBody>
            <a:bodyPr wrap="square" lIns="0">
              <a:normAutofit/>
            </a:bodyPr>
            <a:lstStyle/>
            <a:p>
              <a:pPr>
                <a:lnSpc>
                  <a:spcPct val="130000"/>
                </a:lnSpc>
              </a:pPr>
              <a:r>
                <a:rPr lang="en-US" altLang="zh-CN" dirty="0"/>
                <a:t>prototype temporal-consistency / real-time alignment modules for cine/DSA guidance</a:t>
              </a:r>
              <a:endPar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59" name="组合 58">
              <a:extLst>
                <a:ext uri="{FF2B5EF4-FFF2-40B4-BE49-F238E27FC236}">
                  <a16:creationId xmlns:a16="http://schemas.microsoft.com/office/drawing/2014/main" id="{2788D81D-5B28-600E-F5DC-D1050CEC4FEE}"/>
                </a:ext>
              </a:extLst>
            </p:cNvPr>
            <p:cNvGrpSpPr/>
            <p:nvPr/>
          </p:nvGrpSpPr>
          <p:grpSpPr>
            <a:xfrm>
              <a:off x="3640723" y="4471950"/>
              <a:ext cx="310873" cy="355464"/>
              <a:chOff x="11864960" y="2498733"/>
              <a:chExt cx="420669" cy="481011"/>
            </a:xfrm>
            <a:solidFill>
              <a:schemeClr val="bg1"/>
            </a:solidFill>
          </p:grpSpPr>
          <p:sp>
            <p:nvSpPr>
              <p:cNvPr id="60" name="Freeform 5">
                <a:extLst>
                  <a:ext uri="{FF2B5EF4-FFF2-40B4-BE49-F238E27FC236}">
                    <a16:creationId xmlns:a16="http://schemas.microsoft.com/office/drawing/2014/main" id="{D11E8CEF-9283-1858-4C0F-BDE9FAE513D0}"/>
                  </a:ext>
                </a:extLst>
              </p:cNvPr>
              <p:cNvSpPr>
                <a:spLocks/>
              </p:cNvSpPr>
              <p:nvPr/>
            </p:nvSpPr>
            <p:spPr bwMode="auto">
              <a:xfrm>
                <a:off x="11864960" y="2603505"/>
                <a:ext cx="390525" cy="376239"/>
              </a:xfrm>
              <a:custGeom>
                <a:avLst/>
                <a:gdLst>
                  <a:gd name="T0" fmla="*/ 52 w 104"/>
                  <a:gd name="T1" fmla="*/ 100 h 100"/>
                  <a:gd name="T2" fmla="*/ 0 w 104"/>
                  <a:gd name="T3" fmla="*/ 48 h 100"/>
                  <a:gd name="T4" fmla="*/ 32 w 104"/>
                  <a:gd name="T5" fmla="*/ 0 h 100"/>
                  <a:gd name="T6" fmla="*/ 35 w 104"/>
                  <a:gd name="T7" fmla="*/ 7 h 100"/>
                  <a:gd name="T8" fmla="*/ 8 w 104"/>
                  <a:gd name="T9" fmla="*/ 48 h 100"/>
                  <a:gd name="T10" fmla="*/ 52 w 104"/>
                  <a:gd name="T11" fmla="*/ 92 h 100"/>
                  <a:gd name="T12" fmla="*/ 96 w 104"/>
                  <a:gd name="T13" fmla="*/ 52 h 100"/>
                  <a:gd name="T14" fmla="*/ 104 w 104"/>
                  <a:gd name="T15" fmla="*/ 52 h 100"/>
                  <a:gd name="T16" fmla="*/ 52 w 104"/>
                  <a:gd name="T1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 h="100">
                    <a:moveTo>
                      <a:pt x="52" y="100"/>
                    </a:moveTo>
                    <a:cubicBezTo>
                      <a:pt x="23" y="100"/>
                      <a:pt x="0" y="77"/>
                      <a:pt x="0" y="48"/>
                    </a:cubicBezTo>
                    <a:cubicBezTo>
                      <a:pt x="0" y="27"/>
                      <a:pt x="13" y="8"/>
                      <a:pt x="32" y="0"/>
                    </a:cubicBezTo>
                    <a:cubicBezTo>
                      <a:pt x="35" y="7"/>
                      <a:pt x="35" y="7"/>
                      <a:pt x="35" y="7"/>
                    </a:cubicBezTo>
                    <a:cubicBezTo>
                      <a:pt x="19" y="14"/>
                      <a:pt x="8" y="30"/>
                      <a:pt x="8" y="48"/>
                    </a:cubicBezTo>
                    <a:cubicBezTo>
                      <a:pt x="8" y="72"/>
                      <a:pt x="28" y="92"/>
                      <a:pt x="52" y="92"/>
                    </a:cubicBezTo>
                    <a:cubicBezTo>
                      <a:pt x="75" y="92"/>
                      <a:pt x="94" y="74"/>
                      <a:pt x="96" y="52"/>
                    </a:cubicBezTo>
                    <a:cubicBezTo>
                      <a:pt x="104" y="52"/>
                      <a:pt x="104" y="52"/>
                      <a:pt x="104" y="52"/>
                    </a:cubicBezTo>
                    <a:cubicBezTo>
                      <a:pt x="102" y="79"/>
                      <a:pt x="79" y="100"/>
                      <a:pt x="52" y="10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Freeform 6">
                <a:extLst>
                  <a:ext uri="{FF2B5EF4-FFF2-40B4-BE49-F238E27FC236}">
                    <a16:creationId xmlns:a16="http://schemas.microsoft.com/office/drawing/2014/main" id="{D53124D7-EFE2-4E6F-AED4-8A04443919CE}"/>
                  </a:ext>
                </a:extLst>
              </p:cNvPr>
              <p:cNvSpPr>
                <a:spLocks/>
              </p:cNvSpPr>
              <p:nvPr/>
            </p:nvSpPr>
            <p:spPr bwMode="auto">
              <a:xfrm>
                <a:off x="12123723" y="2603505"/>
                <a:ext cx="131762" cy="166689"/>
              </a:xfrm>
              <a:custGeom>
                <a:avLst/>
                <a:gdLst>
                  <a:gd name="T0" fmla="*/ 27 w 35"/>
                  <a:gd name="T1" fmla="*/ 44 h 44"/>
                  <a:gd name="T2" fmla="*/ 0 w 35"/>
                  <a:gd name="T3" fmla="*/ 7 h 44"/>
                  <a:gd name="T4" fmla="*/ 3 w 35"/>
                  <a:gd name="T5" fmla="*/ 0 h 44"/>
                  <a:gd name="T6" fmla="*/ 35 w 35"/>
                  <a:gd name="T7" fmla="*/ 44 h 44"/>
                  <a:gd name="T8" fmla="*/ 27 w 35"/>
                  <a:gd name="T9" fmla="*/ 44 h 44"/>
                </a:gdLst>
                <a:ahLst/>
                <a:cxnLst>
                  <a:cxn ang="0">
                    <a:pos x="T0" y="T1"/>
                  </a:cxn>
                  <a:cxn ang="0">
                    <a:pos x="T2" y="T3"/>
                  </a:cxn>
                  <a:cxn ang="0">
                    <a:pos x="T4" y="T5"/>
                  </a:cxn>
                  <a:cxn ang="0">
                    <a:pos x="T6" y="T7"/>
                  </a:cxn>
                  <a:cxn ang="0">
                    <a:pos x="T8" y="T9"/>
                  </a:cxn>
                </a:cxnLst>
                <a:rect l="0" t="0" r="r" b="b"/>
                <a:pathLst>
                  <a:path w="35" h="44">
                    <a:moveTo>
                      <a:pt x="27" y="44"/>
                    </a:moveTo>
                    <a:cubicBezTo>
                      <a:pt x="25" y="28"/>
                      <a:pt x="15" y="14"/>
                      <a:pt x="0" y="7"/>
                    </a:cubicBezTo>
                    <a:cubicBezTo>
                      <a:pt x="3" y="0"/>
                      <a:pt x="3" y="0"/>
                      <a:pt x="3" y="0"/>
                    </a:cubicBezTo>
                    <a:cubicBezTo>
                      <a:pt x="21" y="8"/>
                      <a:pt x="33" y="24"/>
                      <a:pt x="35" y="44"/>
                    </a:cubicBezTo>
                    <a:lnTo>
                      <a:pt x="27"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Freeform 7">
                <a:extLst>
                  <a:ext uri="{FF2B5EF4-FFF2-40B4-BE49-F238E27FC236}">
                    <a16:creationId xmlns:a16="http://schemas.microsoft.com/office/drawing/2014/main" id="{759A133C-57D2-5FE5-C09E-9FB47E930DEE}"/>
                  </a:ext>
                </a:extLst>
              </p:cNvPr>
              <p:cNvSpPr>
                <a:spLocks/>
              </p:cNvSpPr>
              <p:nvPr/>
            </p:nvSpPr>
            <p:spPr bwMode="auto">
              <a:xfrm>
                <a:off x="11969747" y="2498733"/>
                <a:ext cx="180975" cy="134938"/>
              </a:xfrm>
              <a:custGeom>
                <a:avLst/>
                <a:gdLst>
                  <a:gd name="T0" fmla="*/ 86 w 114"/>
                  <a:gd name="T1" fmla="*/ 85 h 85"/>
                  <a:gd name="T2" fmla="*/ 67 w 114"/>
                  <a:gd name="T3" fmla="*/ 85 h 85"/>
                  <a:gd name="T4" fmla="*/ 67 w 114"/>
                  <a:gd name="T5" fmla="*/ 38 h 85"/>
                  <a:gd name="T6" fmla="*/ 95 w 114"/>
                  <a:gd name="T7" fmla="*/ 38 h 85"/>
                  <a:gd name="T8" fmla="*/ 95 w 114"/>
                  <a:gd name="T9" fmla="*/ 19 h 85"/>
                  <a:gd name="T10" fmla="*/ 19 w 114"/>
                  <a:gd name="T11" fmla="*/ 19 h 85"/>
                  <a:gd name="T12" fmla="*/ 19 w 114"/>
                  <a:gd name="T13" fmla="*/ 38 h 85"/>
                  <a:gd name="T14" fmla="*/ 48 w 114"/>
                  <a:gd name="T15" fmla="*/ 38 h 85"/>
                  <a:gd name="T16" fmla="*/ 48 w 114"/>
                  <a:gd name="T17" fmla="*/ 85 h 85"/>
                  <a:gd name="T18" fmla="*/ 29 w 114"/>
                  <a:gd name="T19" fmla="*/ 85 h 85"/>
                  <a:gd name="T20" fmla="*/ 29 w 114"/>
                  <a:gd name="T21" fmla="*/ 57 h 85"/>
                  <a:gd name="T22" fmla="*/ 0 w 114"/>
                  <a:gd name="T23" fmla="*/ 57 h 85"/>
                  <a:gd name="T24" fmla="*/ 0 w 114"/>
                  <a:gd name="T25" fmla="*/ 0 h 85"/>
                  <a:gd name="T26" fmla="*/ 114 w 114"/>
                  <a:gd name="T27" fmla="*/ 0 h 85"/>
                  <a:gd name="T28" fmla="*/ 114 w 114"/>
                  <a:gd name="T29" fmla="*/ 57 h 85"/>
                  <a:gd name="T30" fmla="*/ 86 w 114"/>
                  <a:gd name="T31" fmla="*/ 57 h 85"/>
                  <a:gd name="T32" fmla="*/ 86 w 114"/>
                  <a:gd name="T33"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85">
                    <a:moveTo>
                      <a:pt x="86" y="85"/>
                    </a:moveTo>
                    <a:lnTo>
                      <a:pt x="67" y="85"/>
                    </a:lnTo>
                    <a:lnTo>
                      <a:pt x="67" y="38"/>
                    </a:lnTo>
                    <a:lnTo>
                      <a:pt x="95" y="38"/>
                    </a:lnTo>
                    <a:lnTo>
                      <a:pt x="95" y="19"/>
                    </a:lnTo>
                    <a:lnTo>
                      <a:pt x="19" y="19"/>
                    </a:lnTo>
                    <a:lnTo>
                      <a:pt x="19" y="38"/>
                    </a:lnTo>
                    <a:lnTo>
                      <a:pt x="48" y="38"/>
                    </a:lnTo>
                    <a:lnTo>
                      <a:pt x="48" y="85"/>
                    </a:lnTo>
                    <a:lnTo>
                      <a:pt x="29" y="85"/>
                    </a:lnTo>
                    <a:lnTo>
                      <a:pt x="29" y="57"/>
                    </a:lnTo>
                    <a:lnTo>
                      <a:pt x="0" y="57"/>
                    </a:lnTo>
                    <a:lnTo>
                      <a:pt x="0" y="0"/>
                    </a:lnTo>
                    <a:lnTo>
                      <a:pt x="114" y="0"/>
                    </a:lnTo>
                    <a:lnTo>
                      <a:pt x="114" y="57"/>
                    </a:lnTo>
                    <a:lnTo>
                      <a:pt x="86" y="57"/>
                    </a:lnTo>
                    <a:lnTo>
                      <a:pt x="8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Freeform 8">
                <a:extLst>
                  <a:ext uri="{FF2B5EF4-FFF2-40B4-BE49-F238E27FC236}">
                    <a16:creationId xmlns:a16="http://schemas.microsoft.com/office/drawing/2014/main" id="{FA20B950-FB6B-6668-376D-053456B2D8FB}"/>
                  </a:ext>
                </a:extLst>
              </p:cNvPr>
              <p:cNvSpPr>
                <a:spLocks/>
              </p:cNvSpPr>
              <p:nvPr/>
            </p:nvSpPr>
            <p:spPr bwMode="auto">
              <a:xfrm>
                <a:off x="12199936" y="2562233"/>
                <a:ext cx="68263" cy="68263"/>
              </a:xfrm>
              <a:custGeom>
                <a:avLst/>
                <a:gdLst>
                  <a:gd name="T0" fmla="*/ 14 w 43"/>
                  <a:gd name="T1" fmla="*/ 43 h 43"/>
                  <a:gd name="T2" fmla="*/ 0 w 43"/>
                  <a:gd name="T3" fmla="*/ 29 h 43"/>
                  <a:gd name="T4" fmla="*/ 28 w 43"/>
                  <a:gd name="T5" fmla="*/ 0 h 43"/>
                  <a:gd name="T6" fmla="*/ 43 w 43"/>
                  <a:gd name="T7" fmla="*/ 15 h 43"/>
                  <a:gd name="T8" fmla="*/ 14 w 43"/>
                  <a:gd name="T9" fmla="*/ 43 h 43"/>
                </a:gdLst>
                <a:ahLst/>
                <a:cxnLst>
                  <a:cxn ang="0">
                    <a:pos x="T0" y="T1"/>
                  </a:cxn>
                  <a:cxn ang="0">
                    <a:pos x="T2" y="T3"/>
                  </a:cxn>
                  <a:cxn ang="0">
                    <a:pos x="T4" y="T5"/>
                  </a:cxn>
                  <a:cxn ang="0">
                    <a:pos x="T6" y="T7"/>
                  </a:cxn>
                  <a:cxn ang="0">
                    <a:pos x="T8" y="T9"/>
                  </a:cxn>
                </a:cxnLst>
                <a:rect l="0" t="0" r="r" b="b"/>
                <a:pathLst>
                  <a:path w="43" h="43">
                    <a:moveTo>
                      <a:pt x="14" y="43"/>
                    </a:moveTo>
                    <a:lnTo>
                      <a:pt x="0" y="29"/>
                    </a:lnTo>
                    <a:lnTo>
                      <a:pt x="28" y="0"/>
                    </a:lnTo>
                    <a:lnTo>
                      <a:pt x="43" y="15"/>
                    </a:lnTo>
                    <a:lnTo>
                      <a:pt x="1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4" name="Freeform 9">
                <a:extLst>
                  <a:ext uri="{FF2B5EF4-FFF2-40B4-BE49-F238E27FC236}">
                    <a16:creationId xmlns:a16="http://schemas.microsoft.com/office/drawing/2014/main" id="{3AF2B7F1-1BC0-E6F0-3B3D-75D2F7DDDD40}"/>
                  </a:ext>
                </a:extLst>
              </p:cNvPr>
              <p:cNvSpPr>
                <a:spLocks/>
              </p:cNvSpPr>
              <p:nvPr/>
            </p:nvSpPr>
            <p:spPr bwMode="auto">
              <a:xfrm>
                <a:off x="12225304" y="2543181"/>
                <a:ext cx="60325" cy="60325"/>
              </a:xfrm>
              <a:custGeom>
                <a:avLst/>
                <a:gdLst>
                  <a:gd name="T0" fmla="*/ 27 w 38"/>
                  <a:gd name="T1" fmla="*/ 38 h 38"/>
                  <a:gd name="T2" fmla="*/ 0 w 38"/>
                  <a:gd name="T3" fmla="*/ 12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2"/>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5" name="Freeform 10">
                <a:extLst>
                  <a:ext uri="{FF2B5EF4-FFF2-40B4-BE49-F238E27FC236}">
                    <a16:creationId xmlns:a16="http://schemas.microsoft.com/office/drawing/2014/main" id="{0A5F0DFD-4FDB-5A6A-B285-681B22D8A399}"/>
                  </a:ext>
                </a:extLst>
              </p:cNvPr>
              <p:cNvSpPr>
                <a:spLocks/>
              </p:cNvSpPr>
              <p:nvPr/>
            </p:nvSpPr>
            <p:spPr bwMode="auto">
              <a:xfrm>
                <a:off x="12045950" y="2663825"/>
                <a:ext cx="134938" cy="136525"/>
              </a:xfrm>
              <a:custGeom>
                <a:avLst/>
                <a:gdLst>
                  <a:gd name="T0" fmla="*/ 85 w 85"/>
                  <a:gd name="T1" fmla="*/ 86 h 86"/>
                  <a:gd name="T2" fmla="*/ 0 w 85"/>
                  <a:gd name="T3" fmla="*/ 86 h 86"/>
                  <a:gd name="T4" fmla="*/ 0 w 85"/>
                  <a:gd name="T5" fmla="*/ 0 h 86"/>
                  <a:gd name="T6" fmla="*/ 19 w 85"/>
                  <a:gd name="T7" fmla="*/ 0 h 86"/>
                  <a:gd name="T8" fmla="*/ 19 w 85"/>
                  <a:gd name="T9" fmla="*/ 67 h 86"/>
                  <a:gd name="T10" fmla="*/ 85 w 85"/>
                  <a:gd name="T11" fmla="*/ 67 h 86"/>
                  <a:gd name="T12" fmla="*/ 85 w 85"/>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85" h="86">
                    <a:moveTo>
                      <a:pt x="85" y="86"/>
                    </a:moveTo>
                    <a:lnTo>
                      <a:pt x="0" y="86"/>
                    </a:lnTo>
                    <a:lnTo>
                      <a:pt x="0" y="0"/>
                    </a:lnTo>
                    <a:lnTo>
                      <a:pt x="19" y="0"/>
                    </a:lnTo>
                    <a:lnTo>
                      <a:pt x="19" y="67"/>
                    </a:lnTo>
                    <a:lnTo>
                      <a:pt x="85" y="67"/>
                    </a:lnTo>
                    <a:lnTo>
                      <a:pt x="85" y="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5" name="组合 4">
            <a:extLst>
              <a:ext uri="{FF2B5EF4-FFF2-40B4-BE49-F238E27FC236}">
                <a16:creationId xmlns:a16="http://schemas.microsoft.com/office/drawing/2014/main" id="{7A5B8ACF-4457-B012-322A-50125A469088}"/>
              </a:ext>
            </a:extLst>
          </p:cNvPr>
          <p:cNvGrpSpPr/>
          <p:nvPr/>
        </p:nvGrpSpPr>
        <p:grpSpPr>
          <a:xfrm>
            <a:off x="6279743" y="1902582"/>
            <a:ext cx="2508656" cy="4567788"/>
            <a:chOff x="6276516" y="1931150"/>
            <a:chExt cx="2508656" cy="2995699"/>
          </a:xfrm>
        </p:grpSpPr>
        <p:sp>
          <p:nvSpPr>
            <p:cNvPr id="38" name="矩形 37">
              <a:extLst>
                <a:ext uri="{FF2B5EF4-FFF2-40B4-BE49-F238E27FC236}">
                  <a16:creationId xmlns:a16="http://schemas.microsoft.com/office/drawing/2014/main" id="{B2FBEF21-C444-9DB0-D5E0-D9995D403A62}"/>
                </a:ext>
              </a:extLst>
            </p:cNvPr>
            <p:cNvSpPr/>
            <p:nvPr/>
          </p:nvSpPr>
          <p:spPr>
            <a:xfrm>
              <a:off x="6276516" y="1931150"/>
              <a:ext cx="2447024" cy="2995699"/>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9" name="矩形 38">
              <a:extLst>
                <a:ext uri="{FF2B5EF4-FFF2-40B4-BE49-F238E27FC236}">
                  <a16:creationId xmlns:a16="http://schemas.microsoft.com/office/drawing/2014/main" id="{E0741986-6200-1D9B-E137-D47C2D1FBC27}"/>
                </a:ext>
              </a:extLst>
            </p:cNvPr>
            <p:cNvSpPr/>
            <p:nvPr/>
          </p:nvSpPr>
          <p:spPr>
            <a:xfrm>
              <a:off x="6338149" y="2047057"/>
              <a:ext cx="2447023" cy="396583"/>
            </a:xfrm>
            <a:prstGeom prst="rect">
              <a:avLst/>
            </a:prstGeom>
          </p:spPr>
          <p:txBody>
            <a:bodyPr wrap="square" lIns="0">
              <a:normAutofit/>
            </a:bodyPr>
            <a:lstStyle/>
            <a:p>
              <a:pPr>
                <a:lnSpc>
                  <a:spcPct val="120000"/>
                </a:lnSpc>
              </a:pPr>
              <a:r>
                <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 6–8</a:t>
              </a:r>
            </a:p>
          </p:txBody>
        </p:sp>
        <p:sp>
          <p:nvSpPr>
            <p:cNvPr id="40" name="矩形 39">
              <a:extLst>
                <a:ext uri="{FF2B5EF4-FFF2-40B4-BE49-F238E27FC236}">
                  <a16:creationId xmlns:a16="http://schemas.microsoft.com/office/drawing/2014/main" id="{13B7EBA1-96CB-2108-5C7E-11DDB49A6BFD}"/>
                </a:ext>
              </a:extLst>
            </p:cNvPr>
            <p:cNvSpPr/>
            <p:nvPr/>
          </p:nvSpPr>
          <p:spPr>
            <a:xfrm>
              <a:off x="6276517"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1" name="矩形 40">
              <a:extLst>
                <a:ext uri="{FF2B5EF4-FFF2-40B4-BE49-F238E27FC236}">
                  <a16:creationId xmlns:a16="http://schemas.microsoft.com/office/drawing/2014/main" id="{D892B8CA-58C6-D957-EBCD-240CC7019F9B}"/>
                </a:ext>
              </a:extLst>
            </p:cNvPr>
            <p:cNvSpPr/>
            <p:nvPr/>
          </p:nvSpPr>
          <p:spPr>
            <a:xfrm>
              <a:off x="6338148" y="2597232"/>
              <a:ext cx="2385391" cy="1778129"/>
            </a:xfrm>
            <a:prstGeom prst="rect">
              <a:avLst/>
            </a:prstGeom>
          </p:spPr>
          <p:txBody>
            <a:bodyPr wrap="square" lIns="0">
              <a:normAutofit/>
            </a:bodyPr>
            <a:lstStyle/>
            <a:p>
              <a:pPr>
                <a:lnSpc>
                  <a:spcPct val="130000"/>
                </a:lnSpc>
              </a:pPr>
              <a:r>
                <a:rPr lang="en-US" altLang="zh-CN" dirty="0"/>
                <a:t>explore multimodal (imaging + text/structured data) or generative/uncertainty-aware enhancements</a:t>
              </a:r>
              <a:endPar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67" name="组合 66">
              <a:extLst>
                <a:ext uri="{FF2B5EF4-FFF2-40B4-BE49-F238E27FC236}">
                  <a16:creationId xmlns:a16="http://schemas.microsoft.com/office/drawing/2014/main" id="{67DB6CB7-BEF5-068A-79C6-C2B5F2298CC3}"/>
                </a:ext>
              </a:extLst>
            </p:cNvPr>
            <p:cNvGrpSpPr/>
            <p:nvPr/>
          </p:nvGrpSpPr>
          <p:grpSpPr>
            <a:xfrm>
              <a:off x="6448791" y="4465536"/>
              <a:ext cx="368569" cy="355727"/>
              <a:chOff x="11834813" y="3744913"/>
              <a:chExt cx="455613" cy="439738"/>
            </a:xfrm>
            <a:solidFill>
              <a:schemeClr val="bg1"/>
            </a:solidFill>
          </p:grpSpPr>
          <p:sp>
            <p:nvSpPr>
              <p:cNvPr id="68" name="Freeform 11">
                <a:extLst>
                  <a:ext uri="{FF2B5EF4-FFF2-40B4-BE49-F238E27FC236}">
                    <a16:creationId xmlns:a16="http://schemas.microsoft.com/office/drawing/2014/main" id="{ED869FDD-5D46-C448-A5CF-0AADB6AAEAB4}"/>
                  </a:ext>
                </a:extLst>
              </p:cNvPr>
              <p:cNvSpPr>
                <a:spLocks/>
              </p:cNvSpPr>
              <p:nvPr/>
            </p:nvSpPr>
            <p:spPr bwMode="auto">
              <a:xfrm>
                <a:off x="11834813" y="3763963"/>
                <a:ext cx="455613" cy="300038"/>
              </a:xfrm>
              <a:custGeom>
                <a:avLst/>
                <a:gdLst>
                  <a:gd name="T0" fmla="*/ 263 w 287"/>
                  <a:gd name="T1" fmla="*/ 189 h 189"/>
                  <a:gd name="T2" fmla="*/ 78 w 287"/>
                  <a:gd name="T3" fmla="*/ 189 h 189"/>
                  <a:gd name="T4" fmla="*/ 31 w 287"/>
                  <a:gd name="T5" fmla="*/ 18 h 189"/>
                  <a:gd name="T6" fmla="*/ 0 w 287"/>
                  <a:gd name="T7" fmla="*/ 18 h 189"/>
                  <a:gd name="T8" fmla="*/ 0 w 287"/>
                  <a:gd name="T9" fmla="*/ 0 h 189"/>
                  <a:gd name="T10" fmla="*/ 45 w 287"/>
                  <a:gd name="T11" fmla="*/ 0 h 189"/>
                  <a:gd name="T12" fmla="*/ 92 w 287"/>
                  <a:gd name="T13" fmla="*/ 170 h 189"/>
                  <a:gd name="T14" fmla="*/ 249 w 287"/>
                  <a:gd name="T15" fmla="*/ 170 h 189"/>
                  <a:gd name="T16" fmla="*/ 263 w 287"/>
                  <a:gd name="T17" fmla="*/ 85 h 189"/>
                  <a:gd name="T18" fmla="*/ 114 w 287"/>
                  <a:gd name="T19" fmla="*/ 85 h 189"/>
                  <a:gd name="T20" fmla="*/ 114 w 287"/>
                  <a:gd name="T21" fmla="*/ 66 h 189"/>
                  <a:gd name="T22" fmla="*/ 287 w 287"/>
                  <a:gd name="T23" fmla="*/ 66 h 189"/>
                  <a:gd name="T24" fmla="*/ 263 w 287"/>
                  <a:gd name="T25"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7" h="189">
                    <a:moveTo>
                      <a:pt x="263" y="189"/>
                    </a:moveTo>
                    <a:lnTo>
                      <a:pt x="78" y="189"/>
                    </a:lnTo>
                    <a:lnTo>
                      <a:pt x="31" y="18"/>
                    </a:lnTo>
                    <a:lnTo>
                      <a:pt x="0" y="18"/>
                    </a:lnTo>
                    <a:lnTo>
                      <a:pt x="0" y="0"/>
                    </a:lnTo>
                    <a:lnTo>
                      <a:pt x="45" y="0"/>
                    </a:lnTo>
                    <a:lnTo>
                      <a:pt x="92" y="170"/>
                    </a:lnTo>
                    <a:lnTo>
                      <a:pt x="249" y="170"/>
                    </a:lnTo>
                    <a:lnTo>
                      <a:pt x="263" y="85"/>
                    </a:lnTo>
                    <a:lnTo>
                      <a:pt x="114" y="85"/>
                    </a:lnTo>
                    <a:lnTo>
                      <a:pt x="114" y="66"/>
                    </a:lnTo>
                    <a:lnTo>
                      <a:pt x="287" y="66"/>
                    </a:lnTo>
                    <a:lnTo>
                      <a:pt x="263" y="1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9" name="Freeform 12">
                <a:extLst>
                  <a:ext uri="{FF2B5EF4-FFF2-40B4-BE49-F238E27FC236}">
                    <a16:creationId xmlns:a16="http://schemas.microsoft.com/office/drawing/2014/main" id="{4AEAF8E5-3B8E-6268-2377-0785DC8C78C1}"/>
                  </a:ext>
                </a:extLst>
              </p:cNvPr>
              <p:cNvSpPr>
                <a:spLocks noEditPoints="1"/>
              </p:cNvSpPr>
              <p:nvPr/>
            </p:nvSpPr>
            <p:spPr bwMode="auto">
              <a:xfrm>
                <a:off x="11955463"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0" name="Freeform 13">
                <a:extLst>
                  <a:ext uri="{FF2B5EF4-FFF2-40B4-BE49-F238E27FC236}">
                    <a16:creationId xmlns:a16="http://schemas.microsoft.com/office/drawing/2014/main" id="{5B18690E-7EC2-BEBE-0ABC-23CD0F41678C}"/>
                  </a:ext>
                </a:extLst>
              </p:cNvPr>
              <p:cNvSpPr>
                <a:spLocks noEditPoints="1"/>
              </p:cNvSpPr>
              <p:nvPr/>
            </p:nvSpPr>
            <p:spPr bwMode="auto">
              <a:xfrm>
                <a:off x="12150725" y="4094163"/>
                <a:ext cx="90488" cy="90488"/>
              </a:xfrm>
              <a:custGeom>
                <a:avLst/>
                <a:gdLst>
                  <a:gd name="T0" fmla="*/ 12 w 24"/>
                  <a:gd name="T1" fmla="*/ 24 h 24"/>
                  <a:gd name="T2" fmla="*/ 0 w 24"/>
                  <a:gd name="T3" fmla="*/ 12 h 24"/>
                  <a:gd name="T4" fmla="*/ 12 w 24"/>
                  <a:gd name="T5" fmla="*/ 0 h 24"/>
                  <a:gd name="T6" fmla="*/ 24 w 24"/>
                  <a:gd name="T7" fmla="*/ 12 h 24"/>
                  <a:gd name="T8" fmla="*/ 12 w 24"/>
                  <a:gd name="T9" fmla="*/ 24 h 24"/>
                  <a:gd name="T10" fmla="*/ 12 w 24"/>
                  <a:gd name="T11" fmla="*/ 8 h 24"/>
                  <a:gd name="T12" fmla="*/ 8 w 24"/>
                  <a:gd name="T13" fmla="*/ 12 h 24"/>
                  <a:gd name="T14" fmla="*/ 12 w 24"/>
                  <a:gd name="T15" fmla="*/ 16 h 24"/>
                  <a:gd name="T16" fmla="*/ 16 w 24"/>
                  <a:gd name="T17" fmla="*/ 12 h 24"/>
                  <a:gd name="T18" fmla="*/ 12 w 24"/>
                  <a:gd name="T19"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5" y="24"/>
                      <a:pt x="0" y="19"/>
                      <a:pt x="0" y="12"/>
                    </a:cubicBezTo>
                    <a:cubicBezTo>
                      <a:pt x="0" y="5"/>
                      <a:pt x="5" y="0"/>
                      <a:pt x="12" y="0"/>
                    </a:cubicBezTo>
                    <a:cubicBezTo>
                      <a:pt x="19" y="0"/>
                      <a:pt x="24" y="5"/>
                      <a:pt x="24" y="12"/>
                    </a:cubicBezTo>
                    <a:cubicBezTo>
                      <a:pt x="24" y="19"/>
                      <a:pt x="19" y="24"/>
                      <a:pt x="12" y="24"/>
                    </a:cubicBezTo>
                    <a:moveTo>
                      <a:pt x="12" y="8"/>
                    </a:moveTo>
                    <a:cubicBezTo>
                      <a:pt x="10" y="8"/>
                      <a:pt x="8" y="10"/>
                      <a:pt x="8" y="12"/>
                    </a:cubicBezTo>
                    <a:cubicBezTo>
                      <a:pt x="8" y="14"/>
                      <a:pt x="10" y="16"/>
                      <a:pt x="12" y="16"/>
                    </a:cubicBezTo>
                    <a:cubicBezTo>
                      <a:pt x="14" y="16"/>
                      <a:pt x="16" y="14"/>
                      <a:pt x="16" y="12"/>
                    </a:cubicBezTo>
                    <a:cubicBezTo>
                      <a:pt x="16" y="10"/>
                      <a:pt x="14" y="8"/>
                      <a:pt x="12"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 name="Rectangle 14">
                <a:extLst>
                  <a:ext uri="{FF2B5EF4-FFF2-40B4-BE49-F238E27FC236}">
                    <a16:creationId xmlns:a16="http://schemas.microsoft.com/office/drawing/2014/main" id="{39A71DC5-6926-443A-E85F-F265DFD66C6D}"/>
                  </a:ext>
                </a:extLst>
              </p:cNvPr>
              <p:cNvSpPr>
                <a:spLocks noChangeArrowheads="1"/>
              </p:cNvSpPr>
              <p:nvPr/>
            </p:nvSpPr>
            <p:spPr bwMode="auto">
              <a:xfrm>
                <a:off x="12045950"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2" name="Rectangle 15">
                <a:extLst>
                  <a:ext uri="{FF2B5EF4-FFF2-40B4-BE49-F238E27FC236}">
                    <a16:creationId xmlns:a16="http://schemas.microsoft.com/office/drawing/2014/main" id="{ABF09647-B3BB-28C6-AB14-5E7B961DFCDE}"/>
                  </a:ext>
                </a:extLst>
              </p:cNvPr>
              <p:cNvSpPr>
                <a:spLocks noChangeArrowheads="1"/>
              </p:cNvSpPr>
              <p:nvPr/>
            </p:nvSpPr>
            <p:spPr bwMode="auto">
              <a:xfrm>
                <a:off x="12136438" y="3929063"/>
                <a:ext cx="3016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Freeform 16">
                <a:extLst>
                  <a:ext uri="{FF2B5EF4-FFF2-40B4-BE49-F238E27FC236}">
                    <a16:creationId xmlns:a16="http://schemas.microsoft.com/office/drawing/2014/main" id="{D2593D1C-4D6E-BC72-8C4F-D8F40D473271}"/>
                  </a:ext>
                </a:extLst>
              </p:cNvPr>
              <p:cNvSpPr>
                <a:spLocks/>
              </p:cNvSpPr>
              <p:nvPr/>
            </p:nvSpPr>
            <p:spPr bwMode="auto">
              <a:xfrm>
                <a:off x="12015788" y="3763963"/>
                <a:ext cx="107950" cy="74613"/>
              </a:xfrm>
              <a:custGeom>
                <a:avLst/>
                <a:gdLst>
                  <a:gd name="T0" fmla="*/ 19 w 68"/>
                  <a:gd name="T1" fmla="*/ 47 h 47"/>
                  <a:gd name="T2" fmla="*/ 0 w 68"/>
                  <a:gd name="T3" fmla="*/ 47 h 47"/>
                  <a:gd name="T4" fmla="*/ 0 w 68"/>
                  <a:gd name="T5" fmla="*/ 21 h 47"/>
                  <a:gd name="T6" fmla="*/ 64 w 68"/>
                  <a:gd name="T7" fmla="*/ 0 h 47"/>
                  <a:gd name="T8" fmla="*/ 68 w 68"/>
                  <a:gd name="T9" fmla="*/ 18 h 47"/>
                  <a:gd name="T10" fmla="*/ 19 w 68"/>
                  <a:gd name="T11" fmla="*/ 35 h 47"/>
                  <a:gd name="T12" fmla="*/ 19 w 68"/>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68" h="47">
                    <a:moveTo>
                      <a:pt x="19" y="47"/>
                    </a:moveTo>
                    <a:lnTo>
                      <a:pt x="0" y="47"/>
                    </a:lnTo>
                    <a:lnTo>
                      <a:pt x="0" y="21"/>
                    </a:lnTo>
                    <a:lnTo>
                      <a:pt x="64" y="0"/>
                    </a:lnTo>
                    <a:lnTo>
                      <a:pt x="68" y="18"/>
                    </a:lnTo>
                    <a:lnTo>
                      <a:pt x="19" y="35"/>
                    </a:lnTo>
                    <a:lnTo>
                      <a:pt x="19"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4" name="Freeform 17">
                <a:extLst>
                  <a:ext uri="{FF2B5EF4-FFF2-40B4-BE49-F238E27FC236}">
                    <a16:creationId xmlns:a16="http://schemas.microsoft.com/office/drawing/2014/main" id="{4832AEC5-8232-542C-957E-7A8A362DFB72}"/>
                  </a:ext>
                </a:extLst>
              </p:cNvPr>
              <p:cNvSpPr>
                <a:spLocks/>
              </p:cNvSpPr>
              <p:nvPr/>
            </p:nvSpPr>
            <p:spPr bwMode="auto">
              <a:xfrm>
                <a:off x="12106275" y="3744913"/>
                <a:ext cx="149225" cy="93663"/>
              </a:xfrm>
              <a:custGeom>
                <a:avLst/>
                <a:gdLst>
                  <a:gd name="T0" fmla="*/ 94 w 94"/>
                  <a:gd name="T1" fmla="*/ 59 h 59"/>
                  <a:gd name="T2" fmla="*/ 75 w 94"/>
                  <a:gd name="T3" fmla="*/ 59 h 59"/>
                  <a:gd name="T4" fmla="*/ 75 w 94"/>
                  <a:gd name="T5" fmla="*/ 38 h 59"/>
                  <a:gd name="T6" fmla="*/ 19 w 94"/>
                  <a:gd name="T7" fmla="*/ 23 h 59"/>
                  <a:gd name="T8" fmla="*/ 19 w 94"/>
                  <a:gd name="T9" fmla="*/ 59 h 59"/>
                  <a:gd name="T10" fmla="*/ 0 w 94"/>
                  <a:gd name="T11" fmla="*/ 59 h 59"/>
                  <a:gd name="T12" fmla="*/ 0 w 94"/>
                  <a:gd name="T13" fmla="*/ 0 h 59"/>
                  <a:gd name="T14" fmla="*/ 94 w 94"/>
                  <a:gd name="T15" fmla="*/ 23 h 59"/>
                  <a:gd name="T16" fmla="*/ 94 w 94"/>
                  <a:gd name="T17"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 h="59">
                    <a:moveTo>
                      <a:pt x="94" y="59"/>
                    </a:moveTo>
                    <a:lnTo>
                      <a:pt x="75" y="59"/>
                    </a:lnTo>
                    <a:lnTo>
                      <a:pt x="75" y="38"/>
                    </a:lnTo>
                    <a:lnTo>
                      <a:pt x="19" y="23"/>
                    </a:lnTo>
                    <a:lnTo>
                      <a:pt x="19" y="59"/>
                    </a:lnTo>
                    <a:lnTo>
                      <a:pt x="0" y="59"/>
                    </a:lnTo>
                    <a:lnTo>
                      <a:pt x="0" y="0"/>
                    </a:lnTo>
                    <a:lnTo>
                      <a:pt x="94" y="23"/>
                    </a:lnTo>
                    <a:lnTo>
                      <a:pt x="94"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6" name="组合 5">
            <a:extLst>
              <a:ext uri="{FF2B5EF4-FFF2-40B4-BE49-F238E27FC236}">
                <a16:creationId xmlns:a16="http://schemas.microsoft.com/office/drawing/2014/main" id="{E40907AF-E5AA-B7F2-70AC-39CA71E03F81}"/>
              </a:ext>
            </a:extLst>
          </p:cNvPr>
          <p:cNvGrpSpPr/>
          <p:nvPr/>
        </p:nvGrpSpPr>
        <p:grpSpPr>
          <a:xfrm>
            <a:off x="9087802" y="1902581"/>
            <a:ext cx="2447024" cy="4567787"/>
            <a:chOff x="9084575" y="1931150"/>
            <a:chExt cx="2447024" cy="2995699"/>
          </a:xfrm>
        </p:grpSpPr>
        <p:sp>
          <p:nvSpPr>
            <p:cNvPr id="48" name="矩形 47">
              <a:extLst>
                <a:ext uri="{FF2B5EF4-FFF2-40B4-BE49-F238E27FC236}">
                  <a16:creationId xmlns:a16="http://schemas.microsoft.com/office/drawing/2014/main" id="{99F0595C-F5AB-E393-78A3-A9DB6F732321}"/>
                </a:ext>
              </a:extLst>
            </p:cNvPr>
            <p:cNvSpPr/>
            <p:nvPr/>
          </p:nvSpPr>
          <p:spPr>
            <a:xfrm>
              <a:off x="9084575" y="1931150"/>
              <a:ext cx="2447024" cy="2995699"/>
            </a:xfrm>
            <a:prstGeom prst="rect">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8">
              <a:extLst>
                <a:ext uri="{FF2B5EF4-FFF2-40B4-BE49-F238E27FC236}">
                  <a16:creationId xmlns:a16="http://schemas.microsoft.com/office/drawing/2014/main" id="{FE14B98B-BD4D-B15C-6CD4-C6801CABA2CF}"/>
                </a:ext>
              </a:extLst>
            </p:cNvPr>
            <p:cNvSpPr/>
            <p:nvPr/>
          </p:nvSpPr>
          <p:spPr>
            <a:xfrm>
              <a:off x="9256849" y="2057889"/>
              <a:ext cx="1904793" cy="396583"/>
            </a:xfrm>
            <a:prstGeom prst="rect">
              <a:avLst/>
            </a:prstGeom>
          </p:spPr>
          <p:txBody>
            <a:bodyPr wrap="square" lIns="0">
              <a:normAutofit/>
            </a:bodyPr>
            <a:lstStyle/>
            <a:p>
              <a:pPr>
                <a:lnSpc>
                  <a:spcPct val="120000"/>
                </a:lnSpc>
              </a:pPr>
              <a:r>
                <a:rPr lang="en"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Working style</a:t>
              </a:r>
              <a:endParaRPr lang="en-US" altLang="zh-CN" b="1"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50" name="矩形 49">
              <a:extLst>
                <a:ext uri="{FF2B5EF4-FFF2-40B4-BE49-F238E27FC236}">
                  <a16:creationId xmlns:a16="http://schemas.microsoft.com/office/drawing/2014/main" id="{F1911D8E-5B23-EDAC-2742-280F524E22FE}"/>
                </a:ext>
              </a:extLst>
            </p:cNvPr>
            <p:cNvSpPr/>
            <p:nvPr/>
          </p:nvSpPr>
          <p:spPr>
            <a:xfrm>
              <a:off x="9084576" y="2516840"/>
              <a:ext cx="2447023" cy="1888333"/>
            </a:xfrm>
            <a:prstGeom prst="rect">
              <a:avLst/>
            </a:prstGeom>
            <a:pattFill prst="ltUpDiag">
              <a:fgClr>
                <a:schemeClr val="bg1">
                  <a:lumMod val="85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51" name="矩形 50">
              <a:extLst>
                <a:ext uri="{FF2B5EF4-FFF2-40B4-BE49-F238E27FC236}">
                  <a16:creationId xmlns:a16="http://schemas.microsoft.com/office/drawing/2014/main" id="{F1205082-2EC8-CECB-4DA2-607C96B530DF}"/>
                </a:ext>
              </a:extLst>
            </p:cNvPr>
            <p:cNvSpPr/>
            <p:nvPr/>
          </p:nvSpPr>
          <p:spPr>
            <a:xfrm>
              <a:off x="9256850" y="2638607"/>
              <a:ext cx="2225740" cy="1498552"/>
            </a:xfrm>
            <a:prstGeom prst="rect">
              <a:avLst/>
            </a:prstGeom>
          </p:spPr>
          <p:txBody>
            <a:bodyPr wrap="square" lIns="0">
              <a:normAutofit/>
            </a:bodyPr>
            <a:lstStyle/>
            <a:p>
              <a:pPr>
                <a:lnSpc>
                  <a:spcPct val="130000"/>
                </a:lnSpc>
              </a:pPr>
              <a:r>
                <a:rPr lang="en" altLang="zh-CN" dirty="0">
                  <a:solidFill>
                    <a:schemeClr val="tx1">
                      <a:lumMod val="95000"/>
                      <a:lumOff val="5000"/>
                    </a:schemeClr>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Weekly milestones</a:t>
              </a:r>
            </a:p>
            <a:p>
              <a:r>
                <a:rPr lang="en" altLang="zh-CN" dirty="0"/>
                <a:t>measurable outcomes</a:t>
              </a:r>
            </a:p>
          </p:txBody>
        </p:sp>
        <p:grpSp>
          <p:nvGrpSpPr>
            <p:cNvPr id="76" name="组合 75">
              <a:extLst>
                <a:ext uri="{FF2B5EF4-FFF2-40B4-BE49-F238E27FC236}">
                  <a16:creationId xmlns:a16="http://schemas.microsoft.com/office/drawing/2014/main" id="{6C77AEFB-7A51-FB33-BD28-8469D51F432D}"/>
                </a:ext>
              </a:extLst>
            </p:cNvPr>
            <p:cNvGrpSpPr/>
            <p:nvPr/>
          </p:nvGrpSpPr>
          <p:grpSpPr>
            <a:xfrm>
              <a:off x="9256850" y="4479311"/>
              <a:ext cx="353094" cy="353093"/>
              <a:chOff x="13057188" y="3740150"/>
              <a:chExt cx="474663" cy="474663"/>
            </a:xfrm>
            <a:solidFill>
              <a:schemeClr val="bg1"/>
            </a:solidFill>
          </p:grpSpPr>
          <p:sp>
            <p:nvSpPr>
              <p:cNvPr id="77" name="Freeform 18">
                <a:extLst>
                  <a:ext uri="{FF2B5EF4-FFF2-40B4-BE49-F238E27FC236}">
                    <a16:creationId xmlns:a16="http://schemas.microsoft.com/office/drawing/2014/main" id="{F2ABAD32-8920-C2BC-6484-7995336F5CAE}"/>
                  </a:ext>
                </a:extLst>
              </p:cNvPr>
              <p:cNvSpPr>
                <a:spLocks/>
              </p:cNvSpPr>
              <p:nvPr/>
            </p:nvSpPr>
            <p:spPr bwMode="auto">
              <a:xfrm>
                <a:off x="13114338" y="4019550"/>
                <a:ext cx="360363" cy="195263"/>
              </a:xfrm>
              <a:custGeom>
                <a:avLst/>
                <a:gdLst>
                  <a:gd name="T0" fmla="*/ 227 w 227"/>
                  <a:gd name="T1" fmla="*/ 123 h 123"/>
                  <a:gd name="T2" fmla="*/ 0 w 227"/>
                  <a:gd name="T3" fmla="*/ 123 h 123"/>
                  <a:gd name="T4" fmla="*/ 0 w 227"/>
                  <a:gd name="T5" fmla="*/ 0 h 123"/>
                  <a:gd name="T6" fmla="*/ 19 w 227"/>
                  <a:gd name="T7" fmla="*/ 0 h 123"/>
                  <a:gd name="T8" fmla="*/ 19 w 227"/>
                  <a:gd name="T9" fmla="*/ 104 h 123"/>
                  <a:gd name="T10" fmla="*/ 208 w 227"/>
                  <a:gd name="T11" fmla="*/ 104 h 123"/>
                  <a:gd name="T12" fmla="*/ 208 w 227"/>
                  <a:gd name="T13" fmla="*/ 0 h 123"/>
                  <a:gd name="T14" fmla="*/ 227 w 227"/>
                  <a:gd name="T15" fmla="*/ 0 h 123"/>
                  <a:gd name="T16" fmla="*/ 227 w 227"/>
                  <a:gd name="T17" fmla="*/ 12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7" h="123">
                    <a:moveTo>
                      <a:pt x="227" y="123"/>
                    </a:moveTo>
                    <a:lnTo>
                      <a:pt x="0" y="123"/>
                    </a:lnTo>
                    <a:lnTo>
                      <a:pt x="0" y="0"/>
                    </a:lnTo>
                    <a:lnTo>
                      <a:pt x="19" y="0"/>
                    </a:lnTo>
                    <a:lnTo>
                      <a:pt x="19" y="104"/>
                    </a:lnTo>
                    <a:lnTo>
                      <a:pt x="208" y="104"/>
                    </a:lnTo>
                    <a:lnTo>
                      <a:pt x="208" y="0"/>
                    </a:lnTo>
                    <a:lnTo>
                      <a:pt x="227" y="0"/>
                    </a:lnTo>
                    <a:lnTo>
                      <a:pt x="227"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8" name="Freeform 19">
                <a:extLst>
                  <a:ext uri="{FF2B5EF4-FFF2-40B4-BE49-F238E27FC236}">
                    <a16:creationId xmlns:a16="http://schemas.microsoft.com/office/drawing/2014/main" id="{6F32F710-1ED1-9217-6F28-37AC0839001D}"/>
                  </a:ext>
                </a:extLst>
              </p:cNvPr>
              <p:cNvSpPr>
                <a:spLocks/>
              </p:cNvSpPr>
              <p:nvPr/>
            </p:nvSpPr>
            <p:spPr bwMode="auto">
              <a:xfrm>
                <a:off x="13057188" y="3740150"/>
                <a:ext cx="474663" cy="274638"/>
              </a:xfrm>
              <a:custGeom>
                <a:avLst/>
                <a:gdLst>
                  <a:gd name="T0" fmla="*/ 284 w 299"/>
                  <a:gd name="T1" fmla="*/ 173 h 173"/>
                  <a:gd name="T2" fmla="*/ 149 w 299"/>
                  <a:gd name="T3" fmla="*/ 29 h 173"/>
                  <a:gd name="T4" fmla="*/ 14 w 299"/>
                  <a:gd name="T5" fmla="*/ 173 h 173"/>
                  <a:gd name="T6" fmla="*/ 0 w 299"/>
                  <a:gd name="T7" fmla="*/ 159 h 173"/>
                  <a:gd name="T8" fmla="*/ 149 w 299"/>
                  <a:gd name="T9" fmla="*/ 0 h 173"/>
                  <a:gd name="T10" fmla="*/ 299 w 299"/>
                  <a:gd name="T11" fmla="*/ 159 h 173"/>
                  <a:gd name="T12" fmla="*/ 284 w 299"/>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299" h="173">
                    <a:moveTo>
                      <a:pt x="284" y="173"/>
                    </a:moveTo>
                    <a:lnTo>
                      <a:pt x="149" y="29"/>
                    </a:lnTo>
                    <a:lnTo>
                      <a:pt x="14" y="173"/>
                    </a:lnTo>
                    <a:lnTo>
                      <a:pt x="0" y="159"/>
                    </a:lnTo>
                    <a:lnTo>
                      <a:pt x="149" y="0"/>
                    </a:lnTo>
                    <a:lnTo>
                      <a:pt x="299" y="159"/>
                    </a:lnTo>
                    <a:lnTo>
                      <a:pt x="284" y="1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9" name="Freeform 20">
                <a:extLst>
                  <a:ext uri="{FF2B5EF4-FFF2-40B4-BE49-F238E27FC236}">
                    <a16:creationId xmlns:a16="http://schemas.microsoft.com/office/drawing/2014/main" id="{A66AAE26-86D8-3C49-E642-EB3177312E02}"/>
                  </a:ext>
                </a:extLst>
              </p:cNvPr>
              <p:cNvSpPr>
                <a:spLocks/>
              </p:cNvSpPr>
              <p:nvPr/>
            </p:nvSpPr>
            <p:spPr bwMode="auto">
              <a:xfrm>
                <a:off x="13233400" y="4019550"/>
                <a:ext cx="120650" cy="134938"/>
              </a:xfrm>
              <a:custGeom>
                <a:avLst/>
                <a:gdLst>
                  <a:gd name="T0" fmla="*/ 76 w 76"/>
                  <a:gd name="T1" fmla="*/ 85 h 85"/>
                  <a:gd name="T2" fmla="*/ 57 w 76"/>
                  <a:gd name="T3" fmla="*/ 85 h 85"/>
                  <a:gd name="T4" fmla="*/ 57 w 76"/>
                  <a:gd name="T5" fmla="*/ 19 h 85"/>
                  <a:gd name="T6" fmla="*/ 19 w 76"/>
                  <a:gd name="T7" fmla="*/ 19 h 85"/>
                  <a:gd name="T8" fmla="*/ 19 w 76"/>
                  <a:gd name="T9" fmla="*/ 85 h 85"/>
                  <a:gd name="T10" fmla="*/ 0 w 76"/>
                  <a:gd name="T11" fmla="*/ 85 h 85"/>
                  <a:gd name="T12" fmla="*/ 0 w 76"/>
                  <a:gd name="T13" fmla="*/ 0 h 85"/>
                  <a:gd name="T14" fmla="*/ 76 w 76"/>
                  <a:gd name="T15" fmla="*/ 0 h 85"/>
                  <a:gd name="T16" fmla="*/ 76 w 76"/>
                  <a:gd name="T1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85">
                    <a:moveTo>
                      <a:pt x="76" y="85"/>
                    </a:moveTo>
                    <a:lnTo>
                      <a:pt x="57" y="85"/>
                    </a:lnTo>
                    <a:lnTo>
                      <a:pt x="57" y="19"/>
                    </a:lnTo>
                    <a:lnTo>
                      <a:pt x="19" y="19"/>
                    </a:lnTo>
                    <a:lnTo>
                      <a:pt x="19" y="85"/>
                    </a:lnTo>
                    <a:lnTo>
                      <a:pt x="0" y="85"/>
                    </a:lnTo>
                    <a:lnTo>
                      <a:pt x="0" y="0"/>
                    </a:lnTo>
                    <a:lnTo>
                      <a:pt x="76" y="0"/>
                    </a:lnTo>
                    <a:lnTo>
                      <a:pt x="76"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0" name="Freeform 21">
                <a:extLst>
                  <a:ext uri="{FF2B5EF4-FFF2-40B4-BE49-F238E27FC236}">
                    <a16:creationId xmlns:a16="http://schemas.microsoft.com/office/drawing/2014/main" id="{A60FC6E1-2A16-5F1E-0715-BE6D111CE22C}"/>
                  </a:ext>
                </a:extLst>
              </p:cNvPr>
              <p:cNvSpPr>
                <a:spLocks noEditPoints="1"/>
              </p:cNvSpPr>
              <p:nvPr/>
            </p:nvSpPr>
            <p:spPr bwMode="auto">
              <a:xfrm>
                <a:off x="13233400" y="3868738"/>
                <a:ext cx="120650" cy="120650"/>
              </a:xfrm>
              <a:custGeom>
                <a:avLst/>
                <a:gdLst>
                  <a:gd name="T0" fmla="*/ 16 w 32"/>
                  <a:gd name="T1" fmla="*/ 32 h 32"/>
                  <a:gd name="T2" fmla="*/ 0 w 32"/>
                  <a:gd name="T3" fmla="*/ 16 h 32"/>
                  <a:gd name="T4" fmla="*/ 16 w 32"/>
                  <a:gd name="T5" fmla="*/ 0 h 32"/>
                  <a:gd name="T6" fmla="*/ 32 w 32"/>
                  <a:gd name="T7" fmla="*/ 16 h 32"/>
                  <a:gd name="T8" fmla="*/ 16 w 32"/>
                  <a:gd name="T9" fmla="*/ 32 h 32"/>
                  <a:gd name="T10" fmla="*/ 16 w 32"/>
                  <a:gd name="T11" fmla="*/ 8 h 32"/>
                  <a:gd name="T12" fmla="*/ 8 w 32"/>
                  <a:gd name="T13" fmla="*/ 16 h 32"/>
                  <a:gd name="T14" fmla="*/ 16 w 32"/>
                  <a:gd name="T15" fmla="*/ 24 h 32"/>
                  <a:gd name="T16" fmla="*/ 24 w 32"/>
                  <a:gd name="T17" fmla="*/ 16 h 32"/>
                  <a:gd name="T18" fmla="*/ 16 w 32"/>
                  <a:gd name="T19" fmla="*/ 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32"/>
                    </a:moveTo>
                    <a:cubicBezTo>
                      <a:pt x="7" y="32"/>
                      <a:pt x="0" y="25"/>
                      <a:pt x="0" y="16"/>
                    </a:cubicBezTo>
                    <a:cubicBezTo>
                      <a:pt x="0" y="7"/>
                      <a:pt x="7" y="0"/>
                      <a:pt x="16" y="0"/>
                    </a:cubicBezTo>
                    <a:cubicBezTo>
                      <a:pt x="25" y="0"/>
                      <a:pt x="32" y="7"/>
                      <a:pt x="32" y="16"/>
                    </a:cubicBezTo>
                    <a:cubicBezTo>
                      <a:pt x="32" y="25"/>
                      <a:pt x="25" y="32"/>
                      <a:pt x="16" y="32"/>
                    </a:cubicBezTo>
                    <a:moveTo>
                      <a:pt x="16" y="8"/>
                    </a:moveTo>
                    <a:cubicBezTo>
                      <a:pt x="12" y="8"/>
                      <a:pt x="8" y="12"/>
                      <a:pt x="8" y="16"/>
                    </a:cubicBezTo>
                    <a:cubicBezTo>
                      <a:pt x="8" y="20"/>
                      <a:pt x="12" y="24"/>
                      <a:pt x="16" y="24"/>
                    </a:cubicBezTo>
                    <a:cubicBezTo>
                      <a:pt x="20" y="24"/>
                      <a:pt x="24" y="20"/>
                      <a:pt x="24" y="16"/>
                    </a:cubicBezTo>
                    <a:cubicBezTo>
                      <a:pt x="24" y="12"/>
                      <a:pt x="20" y="8"/>
                      <a:pt x="16" y="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cxnSp>
        <p:nvCxnSpPr>
          <p:cNvPr id="52" name="直接连接符 51">
            <a:extLst>
              <a:ext uri="{FF2B5EF4-FFF2-40B4-BE49-F238E27FC236}">
                <a16:creationId xmlns:a16="http://schemas.microsoft.com/office/drawing/2014/main" id="{401E64A7-9A3D-2BB1-A924-8C117572C013}"/>
              </a:ext>
            </a:extLst>
          </p:cNvPr>
          <p:cNvCxnSpPr>
            <a:cxnSpLocks/>
          </p:cNvCxnSpPr>
          <p:nvPr/>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8A3C1A0-116A-CC34-71EA-8AF484644723}"/>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E4A1C0A3-F725-E088-A308-07BA7B028FDB}"/>
              </a:ext>
            </a:extLst>
          </p:cNvPr>
          <p:cNvSpPr txBox="1"/>
          <p:nvPr/>
        </p:nvSpPr>
        <p:spPr>
          <a:xfrm>
            <a:off x="452512" y="300592"/>
            <a:ext cx="7091288" cy="461665"/>
          </a:xfrm>
          <a:prstGeom prst="rect">
            <a:avLst/>
          </a:prstGeom>
          <a:noFill/>
        </p:spPr>
        <p:txBody>
          <a:bodyPr wrap="square" rtlCol="0">
            <a:spAutoFit/>
          </a:bodyPr>
          <a:lstStyle/>
          <a:p>
            <a:r>
              <a:rPr lang="en-US" altLang="zh-CN" sz="2400" b="1" dirty="0">
                <a:solidFill>
                  <a:schemeClr val="accent1"/>
                </a:solidFill>
                <a:latin typeface="+mj-ea"/>
                <a:ea typeface="+mj-ea"/>
              </a:rPr>
              <a:t>What I’d like to work on this summer</a:t>
            </a:r>
            <a:endParaRPr lang="zh-CN" altLang="en-US" sz="2400" b="1" dirty="0">
              <a:solidFill>
                <a:schemeClr val="accent1"/>
              </a:solidFill>
              <a:latin typeface="+mj-ea"/>
              <a:ea typeface="+mj-ea"/>
            </a:endParaRPr>
          </a:p>
        </p:txBody>
      </p:sp>
      <p:pic>
        <p:nvPicPr>
          <p:cNvPr id="55" name="图片 54" descr="黑白色的标志&#10;&#10;中度可信度描述已自动生成">
            <a:extLst>
              <a:ext uri="{FF2B5EF4-FFF2-40B4-BE49-F238E27FC236}">
                <a16:creationId xmlns:a16="http://schemas.microsoft.com/office/drawing/2014/main" id="{B6D92254-C37B-C684-7386-7A1C477D2A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613EFBF5-7AF5-3C87-5D6F-74BAD04B5573}"/>
              </a:ext>
            </a:extLst>
          </p:cNvPr>
          <p:cNvSpPr>
            <a:spLocks noGrp="1"/>
          </p:cNvSpPr>
          <p:nvPr>
            <p:ph type="sldNum" sz="quarter" idx="12"/>
          </p:nvPr>
        </p:nvSpPr>
        <p:spPr/>
        <p:txBody>
          <a:bodyPr/>
          <a:lstStyle/>
          <a:p>
            <a:fld id="{CCBA9D17-A0D3-409F-BFF9-E5BAE63FEE36}" type="slidenum">
              <a:rPr lang="zh-CN" altLang="en-US" smtClean="0"/>
              <a:pPr/>
              <a:t>18</a:t>
            </a:fld>
            <a:endParaRPr lang="zh-CN" altLang="en-US" dirty="0"/>
          </a:p>
        </p:txBody>
      </p:sp>
      <p:sp>
        <p:nvSpPr>
          <p:cNvPr id="7" name="文本框 6">
            <a:extLst>
              <a:ext uri="{FF2B5EF4-FFF2-40B4-BE49-F238E27FC236}">
                <a16:creationId xmlns:a16="http://schemas.microsoft.com/office/drawing/2014/main" id="{58CF1CFC-F198-F420-5DF7-9D6F12412623}"/>
              </a:ext>
            </a:extLst>
          </p:cNvPr>
          <p:cNvSpPr txBox="1"/>
          <p:nvPr/>
        </p:nvSpPr>
        <p:spPr>
          <a:xfrm>
            <a:off x="528706" y="882534"/>
            <a:ext cx="6398868" cy="369332"/>
          </a:xfrm>
          <a:prstGeom prst="rect">
            <a:avLst/>
          </a:prstGeom>
          <a:noFill/>
        </p:spPr>
        <p:txBody>
          <a:bodyPr wrap="square" rtlCol="0">
            <a:spAutoFit/>
          </a:bodyPr>
          <a:lstStyle/>
          <a:p>
            <a:r>
              <a:rPr lang="en" altLang="zh-CN" b="1" dirty="0"/>
              <a:t>I’m flexible on topics—happy to take on new challenges. </a:t>
            </a:r>
            <a:endParaRPr kumimoji="1" lang="zh-CN" altLang="en-US" dirty="0"/>
          </a:p>
        </p:txBody>
      </p:sp>
    </p:spTree>
    <p:extLst>
      <p:ext uri="{BB962C8B-B14F-4D97-AF65-F5344CB8AC3E}">
        <p14:creationId xmlns:p14="http://schemas.microsoft.com/office/powerpoint/2010/main" val="4202688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D5FE7-BB4C-7460-B72F-6BFB0D0981AB}"/>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D0813CB0-A47B-18BB-C2B4-FE300493786E}"/>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80" name="PA-文本框 879">
            <a:extLst>
              <a:ext uri="{FF2B5EF4-FFF2-40B4-BE49-F238E27FC236}">
                <a16:creationId xmlns:a16="http://schemas.microsoft.com/office/drawing/2014/main" id="{D346556C-491E-71DE-9FC4-097C7861C00E}"/>
              </a:ext>
            </a:extLst>
          </p:cNvPr>
          <p:cNvSpPr txBox="1"/>
          <p:nvPr>
            <p:custDataLst>
              <p:tags r:id="rId1"/>
            </p:custDataLst>
          </p:nvPr>
        </p:nvSpPr>
        <p:spPr>
          <a:xfrm>
            <a:off x="2946854" y="1769417"/>
            <a:ext cx="2399737" cy="3031183"/>
          </a:xfrm>
          <a:custGeom>
            <a:avLst/>
            <a:gdLst/>
            <a:ahLst/>
            <a:cxnLst/>
            <a:rect l="l" t="t" r="r" b="b"/>
            <a:pathLst>
              <a:path w="3403492" h="4299058">
                <a:moveTo>
                  <a:pt x="2262900" y="163338"/>
                </a:moveTo>
                <a:cubicBezTo>
                  <a:pt x="2081955" y="165947"/>
                  <a:pt x="1909638" y="233094"/>
                  <a:pt x="1745948" y="364780"/>
                </a:cubicBezTo>
                <a:cubicBezTo>
                  <a:pt x="1582259" y="496466"/>
                  <a:pt x="1430790" y="677036"/>
                  <a:pt x="1291543" y="906491"/>
                </a:cubicBezTo>
                <a:cubicBezTo>
                  <a:pt x="1152296" y="1135945"/>
                  <a:pt x="1028864" y="1398630"/>
                  <a:pt x="921247" y="1694545"/>
                </a:cubicBezTo>
                <a:cubicBezTo>
                  <a:pt x="811914" y="1993230"/>
                  <a:pt x="743052" y="2257567"/>
                  <a:pt x="714663" y="2487558"/>
                </a:cubicBezTo>
                <a:cubicBezTo>
                  <a:pt x="686273" y="2717548"/>
                  <a:pt x="705952" y="2898176"/>
                  <a:pt x="773700" y="3029439"/>
                </a:cubicBezTo>
                <a:cubicBezTo>
                  <a:pt x="841448" y="3160703"/>
                  <a:pt x="964862" y="3227586"/>
                  <a:pt x="1143941" y="3230088"/>
                </a:cubicBezTo>
                <a:cubicBezTo>
                  <a:pt x="1323462" y="3227586"/>
                  <a:pt x="1495031" y="3160703"/>
                  <a:pt x="1658649" y="3029439"/>
                </a:cubicBezTo>
                <a:cubicBezTo>
                  <a:pt x="1822266" y="2898175"/>
                  <a:pt x="1974080" y="2717548"/>
                  <a:pt x="2114094" y="2487558"/>
                </a:cubicBezTo>
                <a:cubicBezTo>
                  <a:pt x="2254106" y="2257567"/>
                  <a:pt x="2378467" y="1993230"/>
                  <a:pt x="2487176" y="1694545"/>
                </a:cubicBezTo>
                <a:cubicBezTo>
                  <a:pt x="2595417" y="1398630"/>
                  <a:pt x="2663350" y="1135945"/>
                  <a:pt x="2690974" y="906491"/>
                </a:cubicBezTo>
                <a:cubicBezTo>
                  <a:pt x="2718598" y="677036"/>
                  <a:pt x="2698572" y="496466"/>
                  <a:pt x="2630897" y="364780"/>
                </a:cubicBezTo>
                <a:cubicBezTo>
                  <a:pt x="2563221" y="233094"/>
                  <a:pt x="2440556" y="165947"/>
                  <a:pt x="2262900" y="163338"/>
                </a:cubicBezTo>
                <a:close/>
                <a:moveTo>
                  <a:pt x="2322496" y="0"/>
                </a:moveTo>
                <a:cubicBezTo>
                  <a:pt x="2601947" y="232"/>
                  <a:pt x="2835708" y="63923"/>
                  <a:pt x="3023781" y="191071"/>
                </a:cubicBezTo>
                <a:cubicBezTo>
                  <a:pt x="3211854" y="318219"/>
                  <a:pt x="3331343" y="507431"/>
                  <a:pt x="3382248" y="758708"/>
                </a:cubicBezTo>
                <a:cubicBezTo>
                  <a:pt x="3433152" y="1009983"/>
                  <a:pt x="3392577" y="1321929"/>
                  <a:pt x="3260522" y="1694545"/>
                </a:cubicBezTo>
                <a:cubicBezTo>
                  <a:pt x="3139990" y="2018208"/>
                  <a:pt x="2983336" y="2296330"/>
                  <a:pt x="2790562" y="2528913"/>
                </a:cubicBezTo>
                <a:cubicBezTo>
                  <a:pt x="2597788" y="2761496"/>
                  <a:pt x="2383879" y="2947559"/>
                  <a:pt x="2148835" y="3087102"/>
                </a:cubicBezTo>
                <a:cubicBezTo>
                  <a:pt x="1913792" y="3226647"/>
                  <a:pt x="1672600" y="3318692"/>
                  <a:pt x="1425260" y="3363238"/>
                </a:cubicBezTo>
                <a:cubicBezTo>
                  <a:pt x="1333267" y="3587748"/>
                  <a:pt x="1321208" y="3763436"/>
                  <a:pt x="1389081" y="3890301"/>
                </a:cubicBezTo>
                <a:cubicBezTo>
                  <a:pt x="1456955" y="4017166"/>
                  <a:pt x="1590965" y="4081723"/>
                  <a:pt x="1791111" y="4083970"/>
                </a:cubicBezTo>
                <a:cubicBezTo>
                  <a:pt x="1853470" y="4084420"/>
                  <a:pt x="1913776" y="4079205"/>
                  <a:pt x="1972029" y="4068326"/>
                </a:cubicBezTo>
                <a:cubicBezTo>
                  <a:pt x="2030283" y="4057446"/>
                  <a:pt x="2094608" y="4038206"/>
                  <a:pt x="2165005" y="4010602"/>
                </a:cubicBezTo>
                <a:cubicBezTo>
                  <a:pt x="2168426" y="4049398"/>
                  <a:pt x="2171847" y="4088193"/>
                  <a:pt x="2175267" y="4126989"/>
                </a:cubicBezTo>
                <a:cubicBezTo>
                  <a:pt x="2074884" y="4179326"/>
                  <a:pt x="1961942" y="4220910"/>
                  <a:pt x="1836442" y="4251739"/>
                </a:cubicBezTo>
                <a:cubicBezTo>
                  <a:pt x="1710943" y="4282568"/>
                  <a:pt x="1587627" y="4298341"/>
                  <a:pt x="1466494" y="4299058"/>
                </a:cubicBezTo>
                <a:cubicBezTo>
                  <a:pt x="1120682" y="4293692"/>
                  <a:pt x="888843" y="4204258"/>
                  <a:pt x="770977" y="4030758"/>
                </a:cubicBezTo>
                <a:cubicBezTo>
                  <a:pt x="653112" y="3857257"/>
                  <a:pt x="639121" y="3631887"/>
                  <a:pt x="729005" y="3354648"/>
                </a:cubicBezTo>
                <a:cubicBezTo>
                  <a:pt x="523105" y="3305803"/>
                  <a:pt x="356281" y="3211299"/>
                  <a:pt x="228533" y="3071138"/>
                </a:cubicBezTo>
                <a:cubicBezTo>
                  <a:pt x="100785" y="2930977"/>
                  <a:pt x="26283" y="2745975"/>
                  <a:pt x="5027" y="2516134"/>
                </a:cubicBezTo>
                <a:cubicBezTo>
                  <a:pt x="-5601" y="2401213"/>
                  <a:pt x="625" y="2275287"/>
                  <a:pt x="23704" y="2138356"/>
                </a:cubicBezTo>
                <a:cubicBezTo>
                  <a:pt x="46784" y="2001425"/>
                  <a:pt x="86717" y="1853488"/>
                  <a:pt x="143504" y="1694545"/>
                </a:cubicBezTo>
                <a:cubicBezTo>
                  <a:pt x="283001" y="1323287"/>
                  <a:pt x="470536" y="1011980"/>
                  <a:pt x="706110" y="760624"/>
                </a:cubicBezTo>
                <a:cubicBezTo>
                  <a:pt x="941684" y="509269"/>
                  <a:pt x="1200396" y="319737"/>
                  <a:pt x="1482244" y="192029"/>
                </a:cubicBezTo>
                <a:cubicBezTo>
                  <a:pt x="1764093" y="64322"/>
                  <a:pt x="2044177" y="313"/>
                  <a:pt x="2322496" y="0"/>
                </a:cubicBezTo>
                <a:close/>
              </a:path>
            </a:pathLst>
          </a:custGeom>
          <a:gradFill>
            <a:gsLst>
              <a:gs pos="0">
                <a:schemeClr val="accent1">
                  <a:alpha val="66000"/>
                </a:schemeClr>
              </a:gs>
              <a:gs pos="80000">
                <a:schemeClr val="accent1">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1" name="PA-文本框 880">
            <a:extLst>
              <a:ext uri="{FF2B5EF4-FFF2-40B4-BE49-F238E27FC236}">
                <a16:creationId xmlns:a16="http://schemas.microsoft.com/office/drawing/2014/main" id="{794186E8-C8C5-9CF4-DBCE-2CEA43F31670}"/>
              </a:ext>
            </a:extLst>
          </p:cNvPr>
          <p:cNvSpPr txBox="1"/>
          <p:nvPr>
            <p:custDataLst>
              <p:tags r:id="rId2"/>
            </p:custDataLst>
          </p:nvPr>
        </p:nvSpPr>
        <p:spPr>
          <a:xfrm>
            <a:off x="5549929" y="3094383"/>
            <a:ext cx="1181071" cy="1089146"/>
          </a:xfrm>
          <a:custGeom>
            <a:avLst/>
            <a:gdLst/>
            <a:ahLst/>
            <a:cxnLst/>
            <a:rect l="l" t="t" r="r" b="b"/>
            <a:pathLst>
              <a:path w="2579925" h="2379125">
                <a:moveTo>
                  <a:pt x="729992" y="1177217"/>
                </a:moveTo>
                <a:cubicBezTo>
                  <a:pt x="652949" y="1246055"/>
                  <a:pt x="593925" y="1316423"/>
                  <a:pt x="552921" y="1388321"/>
                </a:cubicBezTo>
                <a:cubicBezTo>
                  <a:pt x="511915" y="1460218"/>
                  <a:pt x="485313" y="1533646"/>
                  <a:pt x="473114" y="1608603"/>
                </a:cubicBezTo>
                <a:cubicBezTo>
                  <a:pt x="449018" y="1766548"/>
                  <a:pt x="478212" y="1891222"/>
                  <a:pt x="560697" y="1982623"/>
                </a:cubicBezTo>
                <a:cubicBezTo>
                  <a:pt x="643182" y="2074025"/>
                  <a:pt x="763642" y="2120682"/>
                  <a:pt x="922077" y="2122594"/>
                </a:cubicBezTo>
                <a:cubicBezTo>
                  <a:pt x="997275" y="2122594"/>
                  <a:pt x="1067798" y="2113416"/>
                  <a:pt x="1133648" y="2095059"/>
                </a:cubicBezTo>
                <a:cubicBezTo>
                  <a:pt x="1199497" y="2076702"/>
                  <a:pt x="1262666" y="2049167"/>
                  <a:pt x="1323154" y="2012453"/>
                </a:cubicBezTo>
                <a:cubicBezTo>
                  <a:pt x="1267919" y="1941639"/>
                  <a:pt x="1215560" y="1871399"/>
                  <a:pt x="1166078" y="1801732"/>
                </a:cubicBezTo>
                <a:cubicBezTo>
                  <a:pt x="1116596" y="1732065"/>
                  <a:pt x="1069158" y="1665649"/>
                  <a:pt x="1023762" y="1602484"/>
                </a:cubicBezTo>
                <a:cubicBezTo>
                  <a:pt x="954763" y="1504262"/>
                  <a:pt x="896978" y="1421529"/>
                  <a:pt x="850409" y="1354284"/>
                </a:cubicBezTo>
                <a:cubicBezTo>
                  <a:pt x="803840" y="1287039"/>
                  <a:pt x="763701" y="1228017"/>
                  <a:pt x="729992" y="1177217"/>
                </a:cubicBezTo>
                <a:close/>
                <a:moveTo>
                  <a:pt x="1255707" y="131133"/>
                </a:moveTo>
                <a:cubicBezTo>
                  <a:pt x="1173779" y="132408"/>
                  <a:pt x="1103744" y="158165"/>
                  <a:pt x="1045602" y="208403"/>
                </a:cubicBezTo>
                <a:cubicBezTo>
                  <a:pt x="987459" y="258640"/>
                  <a:pt x="950554" y="325708"/>
                  <a:pt x="934886" y="409605"/>
                </a:cubicBezTo>
                <a:cubicBezTo>
                  <a:pt x="924635" y="463348"/>
                  <a:pt x="924670" y="518047"/>
                  <a:pt x="934989" y="573702"/>
                </a:cubicBezTo>
                <a:cubicBezTo>
                  <a:pt x="945309" y="629357"/>
                  <a:pt x="970971" y="694001"/>
                  <a:pt x="1011976" y="767634"/>
                </a:cubicBezTo>
                <a:cubicBezTo>
                  <a:pt x="1029338" y="794606"/>
                  <a:pt x="1047475" y="821740"/>
                  <a:pt x="1066389" y="849035"/>
                </a:cubicBezTo>
                <a:cubicBezTo>
                  <a:pt x="1085303" y="876330"/>
                  <a:pt x="1107625" y="907201"/>
                  <a:pt x="1133354" y="941647"/>
                </a:cubicBezTo>
                <a:cubicBezTo>
                  <a:pt x="1224796" y="861135"/>
                  <a:pt x="1298898" y="778633"/>
                  <a:pt x="1355658" y="694141"/>
                </a:cubicBezTo>
                <a:cubicBezTo>
                  <a:pt x="1412417" y="609649"/>
                  <a:pt x="1449004" y="520924"/>
                  <a:pt x="1465416" y="427966"/>
                </a:cubicBezTo>
                <a:cubicBezTo>
                  <a:pt x="1481331" y="331254"/>
                  <a:pt x="1470989" y="257684"/>
                  <a:pt x="1434393" y="207255"/>
                </a:cubicBezTo>
                <a:cubicBezTo>
                  <a:pt x="1397796" y="156826"/>
                  <a:pt x="1338234" y="131452"/>
                  <a:pt x="1255707" y="131133"/>
                </a:cubicBezTo>
                <a:close/>
                <a:moveTo>
                  <a:pt x="1281318" y="0"/>
                </a:moveTo>
                <a:cubicBezTo>
                  <a:pt x="1479427" y="1958"/>
                  <a:pt x="1624031" y="43067"/>
                  <a:pt x="1715128" y="123328"/>
                </a:cubicBezTo>
                <a:cubicBezTo>
                  <a:pt x="1806225" y="203589"/>
                  <a:pt x="1840669" y="311255"/>
                  <a:pt x="1818459" y="446326"/>
                </a:cubicBezTo>
                <a:cubicBezTo>
                  <a:pt x="1798223" y="564467"/>
                  <a:pt x="1734958" y="667854"/>
                  <a:pt x="1628666" y="756487"/>
                </a:cubicBezTo>
                <a:cubicBezTo>
                  <a:pt x="1522374" y="845121"/>
                  <a:pt x="1372178" y="926214"/>
                  <a:pt x="1178080" y="999768"/>
                </a:cubicBezTo>
                <a:cubicBezTo>
                  <a:pt x="1205455" y="1035971"/>
                  <a:pt x="1238134" y="1077529"/>
                  <a:pt x="1276117" y="1124441"/>
                </a:cubicBezTo>
                <a:cubicBezTo>
                  <a:pt x="1314100" y="1171353"/>
                  <a:pt x="1358049" y="1226679"/>
                  <a:pt x="1407964" y="1290418"/>
                </a:cubicBezTo>
                <a:cubicBezTo>
                  <a:pt x="1469517" y="1367988"/>
                  <a:pt x="1525947" y="1439248"/>
                  <a:pt x="1577255" y="1504198"/>
                </a:cubicBezTo>
                <a:cubicBezTo>
                  <a:pt x="1628564" y="1569148"/>
                  <a:pt x="1677934" y="1630465"/>
                  <a:pt x="1725366" y="1688149"/>
                </a:cubicBezTo>
                <a:cubicBezTo>
                  <a:pt x="1804340" y="1581577"/>
                  <a:pt x="1872237" y="1470417"/>
                  <a:pt x="1929059" y="1354666"/>
                </a:cubicBezTo>
                <a:cubicBezTo>
                  <a:pt x="1985881" y="1238916"/>
                  <a:pt x="2034159" y="1115518"/>
                  <a:pt x="2073894" y="984470"/>
                </a:cubicBezTo>
                <a:cubicBezTo>
                  <a:pt x="1977530" y="971211"/>
                  <a:pt x="1881166" y="957951"/>
                  <a:pt x="1784802" y="944692"/>
                </a:cubicBezTo>
                <a:cubicBezTo>
                  <a:pt x="1789655" y="916274"/>
                  <a:pt x="1794509" y="887855"/>
                  <a:pt x="1799363" y="859437"/>
                </a:cubicBezTo>
                <a:cubicBezTo>
                  <a:pt x="2059550" y="859437"/>
                  <a:pt x="2319738" y="859437"/>
                  <a:pt x="2579925" y="859437"/>
                </a:cubicBezTo>
                <a:cubicBezTo>
                  <a:pt x="2575072" y="887855"/>
                  <a:pt x="2570218" y="916274"/>
                  <a:pt x="2565364" y="944692"/>
                </a:cubicBezTo>
                <a:cubicBezTo>
                  <a:pt x="2475541" y="956927"/>
                  <a:pt x="2385718" y="969161"/>
                  <a:pt x="2295895" y="981395"/>
                </a:cubicBezTo>
                <a:cubicBezTo>
                  <a:pt x="2225188" y="1138191"/>
                  <a:pt x="2151639" y="1275100"/>
                  <a:pt x="2075247" y="1392123"/>
                </a:cubicBezTo>
                <a:cubicBezTo>
                  <a:pt x="1998855" y="1509147"/>
                  <a:pt x="1900013" y="1629229"/>
                  <a:pt x="1778721" y="1752371"/>
                </a:cubicBezTo>
                <a:cubicBezTo>
                  <a:pt x="1838028" y="1823311"/>
                  <a:pt x="1899735" y="1896355"/>
                  <a:pt x="1963843" y="1971502"/>
                </a:cubicBezTo>
                <a:cubicBezTo>
                  <a:pt x="2027951" y="2046649"/>
                  <a:pt x="2099123" y="2129636"/>
                  <a:pt x="2177358" y="2220463"/>
                </a:cubicBezTo>
                <a:cubicBezTo>
                  <a:pt x="2224462" y="2226573"/>
                  <a:pt x="2271565" y="2232682"/>
                  <a:pt x="2318669" y="2238792"/>
                </a:cubicBezTo>
                <a:cubicBezTo>
                  <a:pt x="2312557" y="2268264"/>
                  <a:pt x="2306445" y="2297736"/>
                  <a:pt x="2300333" y="2327209"/>
                </a:cubicBezTo>
                <a:cubicBezTo>
                  <a:pt x="2224079" y="2343814"/>
                  <a:pt x="2160888" y="2355648"/>
                  <a:pt x="2110759" y="2362710"/>
                </a:cubicBezTo>
                <a:cubicBezTo>
                  <a:pt x="2060630" y="2369772"/>
                  <a:pt x="2010920" y="2373208"/>
                  <a:pt x="1961628" y="2373017"/>
                </a:cubicBezTo>
                <a:cubicBezTo>
                  <a:pt x="1862805" y="2374035"/>
                  <a:pt x="1775436" y="2362074"/>
                  <a:pt x="1699522" y="2337134"/>
                </a:cubicBezTo>
                <a:cubicBezTo>
                  <a:pt x="1623607" y="2312193"/>
                  <a:pt x="1554571" y="2268166"/>
                  <a:pt x="1492415" y="2205052"/>
                </a:cubicBezTo>
                <a:cubicBezTo>
                  <a:pt x="1452118" y="2162307"/>
                  <a:pt x="1413432" y="2119524"/>
                  <a:pt x="1376357" y="2076702"/>
                </a:cubicBezTo>
                <a:cubicBezTo>
                  <a:pt x="1288434" y="2160153"/>
                  <a:pt x="1182974" y="2230799"/>
                  <a:pt x="1059979" y="2288642"/>
                </a:cubicBezTo>
                <a:cubicBezTo>
                  <a:pt x="936985" y="2346485"/>
                  <a:pt x="798204" y="2376646"/>
                  <a:pt x="643638" y="2379125"/>
                </a:cubicBezTo>
                <a:cubicBezTo>
                  <a:pt x="401516" y="2374045"/>
                  <a:pt x="228175" y="2313188"/>
                  <a:pt x="123616" y="2196554"/>
                </a:cubicBezTo>
                <a:cubicBezTo>
                  <a:pt x="19056" y="2079920"/>
                  <a:pt x="-19172" y="1937987"/>
                  <a:pt x="8930" y="1770755"/>
                </a:cubicBezTo>
                <a:cubicBezTo>
                  <a:pt x="30029" y="1637795"/>
                  <a:pt x="94722" y="1517456"/>
                  <a:pt x="203011" y="1409737"/>
                </a:cubicBezTo>
                <a:cubicBezTo>
                  <a:pt x="311300" y="1302018"/>
                  <a:pt x="472974" y="1206155"/>
                  <a:pt x="688034" y="1122146"/>
                </a:cubicBezTo>
                <a:cubicBezTo>
                  <a:pt x="676019" y="1104809"/>
                  <a:pt x="664004" y="1087472"/>
                  <a:pt x="651990" y="1070136"/>
                </a:cubicBezTo>
                <a:cubicBezTo>
                  <a:pt x="589261" y="973159"/>
                  <a:pt x="548492" y="881477"/>
                  <a:pt x="529684" y="795091"/>
                </a:cubicBezTo>
                <a:cubicBezTo>
                  <a:pt x="510876" y="708704"/>
                  <a:pt x="509192" y="623050"/>
                  <a:pt x="524632" y="538129"/>
                </a:cubicBezTo>
                <a:cubicBezTo>
                  <a:pt x="556154" y="371118"/>
                  <a:pt x="639922" y="240118"/>
                  <a:pt x="775936" y="145131"/>
                </a:cubicBezTo>
                <a:cubicBezTo>
                  <a:pt x="911950" y="50144"/>
                  <a:pt x="1080411" y="1767"/>
                  <a:pt x="1281318" y="0"/>
                </a:cubicBezTo>
                <a:close/>
              </a:path>
            </a:pathLst>
          </a:custGeom>
          <a:gradFill>
            <a:gsLst>
              <a:gs pos="0">
                <a:schemeClr val="bg1">
                  <a:lumMod val="85000"/>
                </a:schemeClr>
              </a:gs>
              <a:gs pos="80000">
                <a:schemeClr val="accent3">
                  <a:lumMod val="20000"/>
                  <a:lumOff val="8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sp>
        <p:nvSpPr>
          <p:cNvPr id="882" name="PA-文本框 881">
            <a:extLst>
              <a:ext uri="{FF2B5EF4-FFF2-40B4-BE49-F238E27FC236}">
                <a16:creationId xmlns:a16="http://schemas.microsoft.com/office/drawing/2014/main" id="{CF0B9C2A-BB2B-59C9-C093-E2D22E50A848}"/>
              </a:ext>
            </a:extLst>
          </p:cNvPr>
          <p:cNvSpPr txBox="1"/>
          <p:nvPr>
            <p:custDataLst>
              <p:tags r:id="rId3"/>
            </p:custDataLst>
          </p:nvPr>
        </p:nvSpPr>
        <p:spPr>
          <a:xfrm>
            <a:off x="6249458" y="2607617"/>
            <a:ext cx="2009289" cy="2675571"/>
          </a:xfrm>
          <a:custGeom>
            <a:avLst/>
            <a:gdLst/>
            <a:ahLst/>
            <a:cxnLst/>
            <a:rect l="l" t="t" r="r" b="b"/>
            <a:pathLst>
              <a:path w="3228489" h="4299058">
                <a:moveTo>
                  <a:pt x="2414769" y="779693"/>
                </a:moveTo>
                <a:cubicBezTo>
                  <a:pt x="2062991" y="1433258"/>
                  <a:pt x="1711214" y="2086824"/>
                  <a:pt x="1359437" y="2740390"/>
                </a:cubicBezTo>
                <a:cubicBezTo>
                  <a:pt x="1660348" y="2740390"/>
                  <a:pt x="1961260" y="2740390"/>
                  <a:pt x="2262171" y="2740390"/>
                </a:cubicBezTo>
                <a:cubicBezTo>
                  <a:pt x="2313037" y="2086824"/>
                  <a:pt x="2363903" y="1433258"/>
                  <a:pt x="2414769" y="779693"/>
                </a:cubicBezTo>
                <a:close/>
                <a:moveTo>
                  <a:pt x="2701545" y="0"/>
                </a:moveTo>
                <a:cubicBezTo>
                  <a:pt x="2851281" y="0"/>
                  <a:pt x="3001017" y="0"/>
                  <a:pt x="3150753" y="0"/>
                </a:cubicBezTo>
                <a:cubicBezTo>
                  <a:pt x="3066964" y="1350321"/>
                  <a:pt x="2983175" y="2700641"/>
                  <a:pt x="2899387" y="4050962"/>
                </a:cubicBezTo>
                <a:cubicBezTo>
                  <a:pt x="3009087" y="4068191"/>
                  <a:pt x="3118788" y="4085420"/>
                  <a:pt x="3228489" y="4102649"/>
                </a:cubicBezTo>
                <a:cubicBezTo>
                  <a:pt x="3207673" y="4168118"/>
                  <a:pt x="3186857" y="4233588"/>
                  <a:pt x="3166040" y="4299058"/>
                </a:cubicBezTo>
                <a:cubicBezTo>
                  <a:pt x="2675082" y="4299058"/>
                  <a:pt x="2184124" y="4299058"/>
                  <a:pt x="1693166" y="4299058"/>
                </a:cubicBezTo>
                <a:cubicBezTo>
                  <a:pt x="1713759" y="4234292"/>
                  <a:pt x="1734351" y="4169526"/>
                  <a:pt x="1754943" y="4104760"/>
                </a:cubicBezTo>
                <a:cubicBezTo>
                  <a:pt x="1889151" y="4085674"/>
                  <a:pt x="2023358" y="4066589"/>
                  <a:pt x="2157566" y="4047503"/>
                </a:cubicBezTo>
                <a:cubicBezTo>
                  <a:pt x="2187082" y="3678445"/>
                  <a:pt x="2216597" y="3309387"/>
                  <a:pt x="2246113" y="2940329"/>
                </a:cubicBezTo>
                <a:cubicBezTo>
                  <a:pt x="1914967" y="2940329"/>
                  <a:pt x="1583820" y="2940329"/>
                  <a:pt x="1252673" y="2940329"/>
                </a:cubicBezTo>
                <a:cubicBezTo>
                  <a:pt x="1057969" y="3303651"/>
                  <a:pt x="863264" y="3666972"/>
                  <a:pt x="668559" y="4030293"/>
                </a:cubicBezTo>
                <a:cubicBezTo>
                  <a:pt x="796005" y="4055115"/>
                  <a:pt x="923451" y="4079937"/>
                  <a:pt x="1050897" y="4104760"/>
                </a:cubicBezTo>
                <a:cubicBezTo>
                  <a:pt x="1030304" y="4169526"/>
                  <a:pt x="1009712" y="4234292"/>
                  <a:pt x="989120" y="4299058"/>
                </a:cubicBezTo>
                <a:lnTo>
                  <a:pt x="0" y="4299058"/>
                </a:lnTo>
                <a:cubicBezTo>
                  <a:pt x="20592" y="4234292"/>
                  <a:pt x="41184" y="4169526"/>
                  <a:pt x="61776" y="4104760"/>
                </a:cubicBezTo>
                <a:cubicBezTo>
                  <a:pt x="188561" y="4081850"/>
                  <a:pt x="315346" y="4058940"/>
                  <a:pt x="442131" y="4036030"/>
                </a:cubicBezTo>
                <a:cubicBezTo>
                  <a:pt x="1195269" y="2690687"/>
                  <a:pt x="1948407" y="1345344"/>
                  <a:pt x="2701545" y="0"/>
                </a:cubicBezTo>
                <a:close/>
              </a:path>
            </a:pathLst>
          </a:custGeom>
          <a:gradFill>
            <a:gsLst>
              <a:gs pos="0">
                <a:schemeClr val="accent2"/>
              </a:gs>
              <a:gs pos="100000">
                <a:schemeClr val="accent2">
                  <a:lumMod val="60000"/>
                  <a:lumOff val="40000"/>
                  <a:alpha val="0"/>
                </a:schemeClr>
              </a:gs>
            </a:gsLst>
            <a:lin ang="2700000" scaled="1"/>
          </a:gra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4400" i="1" dirty="0">
              <a:latin typeface="Arial" panose="020B0604020202020204" pitchFamily="34" charset="0"/>
              <a:ea typeface="微软雅黑" panose="020B0503020204020204" pitchFamily="34" charset="-122"/>
              <a:sym typeface="Arial" panose="020B0604020202020204" pitchFamily="34" charset="0"/>
            </a:endParaRPr>
          </a:p>
        </p:txBody>
      </p:sp>
      <p:cxnSp>
        <p:nvCxnSpPr>
          <p:cNvPr id="8" name="直接连接符 7">
            <a:extLst>
              <a:ext uri="{FF2B5EF4-FFF2-40B4-BE49-F238E27FC236}">
                <a16:creationId xmlns:a16="http://schemas.microsoft.com/office/drawing/2014/main" id="{53AC59BB-E9DE-C4B1-D609-ED7F6BECB2A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9E727E72-2A19-9D31-F3FE-189671C4ED93}"/>
              </a:ext>
            </a:extLst>
          </p:cNvPr>
          <p:cNvSpPr txBox="1"/>
          <p:nvPr/>
        </p:nvSpPr>
        <p:spPr>
          <a:xfrm>
            <a:off x="452512" y="300592"/>
            <a:ext cx="4606371" cy="461665"/>
          </a:xfrm>
          <a:prstGeom prst="rect">
            <a:avLst/>
          </a:prstGeom>
          <a:noFill/>
        </p:spPr>
        <p:txBody>
          <a:bodyPr wrap="square" rtlCol="0">
            <a:spAutoFit/>
          </a:bodyPr>
          <a:lstStyle/>
          <a:p>
            <a:r>
              <a:rPr lang="en-US" altLang="zh-CN" sz="2400" b="1" dirty="0">
                <a:solidFill>
                  <a:schemeClr val="accent1"/>
                </a:solidFill>
                <a:latin typeface="+mj-ea"/>
                <a:ea typeface="+mj-ea"/>
              </a:rPr>
              <a:t>Q&amp;A</a:t>
            </a:r>
            <a:endParaRPr lang="zh-CN" altLang="en-US" sz="2400" b="1" dirty="0">
              <a:solidFill>
                <a:schemeClr val="accent1"/>
              </a:solidFill>
              <a:latin typeface="+mj-ea"/>
              <a:ea typeface="+mj-ea"/>
            </a:endParaRPr>
          </a:p>
        </p:txBody>
      </p:sp>
      <p:pic>
        <p:nvPicPr>
          <p:cNvPr id="10" name="图片 9" descr="黑白色的标志&#10;&#10;中度可信度描述已自动生成">
            <a:extLst>
              <a:ext uri="{FF2B5EF4-FFF2-40B4-BE49-F238E27FC236}">
                <a16:creationId xmlns:a16="http://schemas.microsoft.com/office/drawing/2014/main" id="{12378245-3FE1-CCA3-DDA7-961F35110B0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56081" y="329205"/>
            <a:ext cx="1322213" cy="372455"/>
          </a:xfrm>
          <a:prstGeom prst="rect">
            <a:avLst/>
          </a:prstGeom>
        </p:spPr>
      </p:pic>
      <p:sp>
        <p:nvSpPr>
          <p:cNvPr id="2" name="灯片编号占位符 1">
            <a:extLst>
              <a:ext uri="{FF2B5EF4-FFF2-40B4-BE49-F238E27FC236}">
                <a16:creationId xmlns:a16="http://schemas.microsoft.com/office/drawing/2014/main" id="{A949E83F-F089-E085-1EA9-590BA72B6CC3}"/>
              </a:ext>
            </a:extLst>
          </p:cNvPr>
          <p:cNvSpPr>
            <a:spLocks noGrp="1"/>
          </p:cNvSpPr>
          <p:nvPr>
            <p:ph type="sldNum" sz="quarter" idx="12"/>
          </p:nvPr>
        </p:nvSpPr>
        <p:spPr/>
        <p:txBody>
          <a:bodyPr/>
          <a:lstStyle/>
          <a:p>
            <a:fld id="{CCBA9D17-A0D3-409F-BFF9-E5BAE63FEE36}" type="slidenum">
              <a:rPr lang="zh-CN" altLang="en-US" smtClean="0"/>
              <a:pPr/>
              <a:t>19</a:t>
            </a:fld>
            <a:endParaRPr lang="zh-CN" altLang="en-US" dirty="0"/>
          </a:p>
        </p:txBody>
      </p:sp>
    </p:spTree>
    <p:extLst>
      <p:ext uri="{BB962C8B-B14F-4D97-AF65-F5344CB8AC3E}">
        <p14:creationId xmlns:p14="http://schemas.microsoft.com/office/powerpoint/2010/main" val="688970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B1AF-E4FF-B9DB-2773-5753F6D024C3}"/>
            </a:ext>
          </a:extLst>
        </p:cNvPr>
        <p:cNvGrpSpPr/>
        <p:nvPr/>
      </p:nvGrpSpPr>
      <p:grpSpPr>
        <a:xfrm>
          <a:off x="0" y="0"/>
          <a:ext cx="0" cy="0"/>
          <a:chOff x="0" y="0"/>
          <a:chExt cx="0" cy="0"/>
        </a:xfrm>
      </p:grpSpPr>
      <p:sp>
        <p:nvSpPr>
          <p:cNvPr id="38" name="文本框 37">
            <a:extLst>
              <a:ext uri="{FF2B5EF4-FFF2-40B4-BE49-F238E27FC236}">
                <a16:creationId xmlns:a16="http://schemas.microsoft.com/office/drawing/2014/main" id="{C4BDB0D7-4255-3F6B-34FD-40524FBD935A}"/>
              </a:ext>
            </a:extLst>
          </p:cNvPr>
          <p:cNvSpPr txBox="1"/>
          <p:nvPr/>
        </p:nvSpPr>
        <p:spPr>
          <a:xfrm>
            <a:off x="1296445" y="394471"/>
            <a:ext cx="6884288" cy="1323439"/>
          </a:xfrm>
          <a:prstGeom prst="rect">
            <a:avLst/>
          </a:prstGeom>
          <a:noFill/>
        </p:spPr>
        <p:txBody>
          <a:bodyPr wrap="square" rtlCol="0">
            <a:spAutoFit/>
          </a:bodyPr>
          <a:lstStyle/>
          <a:p>
            <a:pPr lvl="0">
              <a:defRPr/>
            </a:pPr>
            <a:r>
              <a:rPr lang="en" altLang="zh-CN" sz="4000" b="1" spc="300" dirty="0">
                <a:solidFill>
                  <a:schemeClr val="accent1"/>
                </a:solidFill>
                <a:latin typeface="Arial" panose="020B0604020202020204" pitchFamily="34" charset="0"/>
                <a:ea typeface="Microsoft YaHei" panose="020B0503020204020204" pitchFamily="34" charset="-122"/>
                <a:cs typeface="+mn-ea"/>
                <a:sym typeface="Arial" panose="020B0604020202020204" pitchFamily="34" charset="0"/>
              </a:rPr>
              <a:t>Questions for discussion</a:t>
            </a:r>
            <a:endParaRPr kumimoji="0" lang="zh-CN" altLang="en-US" sz="4000" b="1" i="0" u="none" strike="noStrike" kern="1200" cap="none" spc="300" normalizeH="0" baseline="0" noProof="0" dirty="0">
              <a:ln>
                <a:noFill/>
              </a:ln>
              <a:solidFill>
                <a:schemeClr val="accent1"/>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34" name="组合 33">
            <a:extLst>
              <a:ext uri="{FF2B5EF4-FFF2-40B4-BE49-F238E27FC236}">
                <a16:creationId xmlns:a16="http://schemas.microsoft.com/office/drawing/2014/main" id="{4E51CAC1-2379-286B-7041-27FCE695FD23}"/>
              </a:ext>
            </a:extLst>
          </p:cNvPr>
          <p:cNvGrpSpPr/>
          <p:nvPr/>
        </p:nvGrpSpPr>
        <p:grpSpPr>
          <a:xfrm>
            <a:off x="923306" y="2219780"/>
            <a:ext cx="10345387" cy="1209220"/>
            <a:chOff x="1296445" y="1777506"/>
            <a:chExt cx="10345387" cy="1209220"/>
          </a:xfrm>
        </p:grpSpPr>
        <p:sp>
          <p:nvSpPr>
            <p:cNvPr id="40" name="文本框 39">
              <a:extLst>
                <a:ext uri="{FF2B5EF4-FFF2-40B4-BE49-F238E27FC236}">
                  <a16:creationId xmlns:a16="http://schemas.microsoft.com/office/drawing/2014/main" id="{920D3D78-A95C-396A-4C1B-E06745223D77}"/>
                </a:ext>
              </a:extLst>
            </p:cNvPr>
            <p:cNvSpPr txBox="1"/>
            <p:nvPr/>
          </p:nvSpPr>
          <p:spPr>
            <a:xfrm>
              <a:off x="1912863" y="2155729"/>
              <a:ext cx="9728969" cy="830997"/>
            </a:xfrm>
            <a:prstGeom prst="rect">
              <a:avLst/>
            </a:prstGeom>
            <a:noFill/>
          </p:spPr>
          <p:txBody>
            <a:bodyPr wrap="square" rtlCol="0">
              <a:spAutoFit/>
            </a:bodyPr>
            <a:lstStyle/>
            <a:p>
              <a:r>
                <a:rPr lang="en-US" altLang="zh-CN" sz="2400" b="1" dirty="0"/>
                <a:t>Which modality / project is top priority this summer (CT/MRI/US/pathology, cine/DSA video)?</a:t>
              </a:r>
              <a:endParaRPr lang="en" altLang="zh-CN" sz="2400" dirty="0"/>
            </a:p>
          </p:txBody>
        </p:sp>
        <p:grpSp>
          <p:nvGrpSpPr>
            <p:cNvPr id="41" name="组合 40">
              <a:extLst>
                <a:ext uri="{FF2B5EF4-FFF2-40B4-BE49-F238E27FC236}">
                  <a16:creationId xmlns:a16="http://schemas.microsoft.com/office/drawing/2014/main" id="{360BCFD7-A58A-C503-D8C9-935933F702B3}"/>
                </a:ext>
              </a:extLst>
            </p:cNvPr>
            <p:cNvGrpSpPr/>
            <p:nvPr/>
          </p:nvGrpSpPr>
          <p:grpSpPr>
            <a:xfrm>
              <a:off x="1296445" y="1777506"/>
              <a:ext cx="800100" cy="713161"/>
              <a:chOff x="6976951" y="1586703"/>
              <a:chExt cx="800100" cy="713161"/>
            </a:xfrm>
          </p:grpSpPr>
          <p:cxnSp>
            <p:nvCxnSpPr>
              <p:cNvPr id="43" name="直接连接符 42">
                <a:extLst>
                  <a:ext uri="{FF2B5EF4-FFF2-40B4-BE49-F238E27FC236}">
                    <a16:creationId xmlns:a16="http://schemas.microsoft.com/office/drawing/2014/main" id="{42B88A78-E719-26CE-27D2-B412D298D5F7}"/>
                  </a:ext>
                </a:extLst>
              </p:cNvPr>
              <p:cNvCxnSpPr/>
              <p:nvPr/>
            </p:nvCxnSpPr>
            <p:spPr>
              <a:xfrm flipH="1">
                <a:off x="7160632" y="1829707"/>
                <a:ext cx="432738" cy="47015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8FDE8D1D-7BB7-A3C0-5762-B61356D88325}"/>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1</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grpSp>
        <p:nvGrpSpPr>
          <p:cNvPr id="51" name="组合 50">
            <a:extLst>
              <a:ext uri="{FF2B5EF4-FFF2-40B4-BE49-F238E27FC236}">
                <a16:creationId xmlns:a16="http://schemas.microsoft.com/office/drawing/2014/main" id="{2687811D-9126-3AEC-E3E8-F91ED5D5185F}"/>
              </a:ext>
            </a:extLst>
          </p:cNvPr>
          <p:cNvGrpSpPr/>
          <p:nvPr/>
        </p:nvGrpSpPr>
        <p:grpSpPr>
          <a:xfrm>
            <a:off x="923306" y="3334187"/>
            <a:ext cx="800100" cy="713161"/>
            <a:chOff x="6976951" y="1586703"/>
            <a:chExt cx="800100" cy="713161"/>
          </a:xfrm>
        </p:grpSpPr>
        <p:sp>
          <p:nvSpPr>
            <p:cNvPr id="52" name="文本框 51">
              <a:extLst>
                <a:ext uri="{FF2B5EF4-FFF2-40B4-BE49-F238E27FC236}">
                  <a16:creationId xmlns:a16="http://schemas.microsoft.com/office/drawing/2014/main" id="{D868C39C-3C10-ECBA-6B20-DB9E86C5CE64}"/>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rPr>
                <a:t>2</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3" name="直接连接符 52">
              <a:extLst>
                <a:ext uri="{FF2B5EF4-FFF2-40B4-BE49-F238E27FC236}">
                  <a16:creationId xmlns:a16="http://schemas.microsoft.com/office/drawing/2014/main" id="{C93B9D63-B50F-4055-F119-C3F1E2E4F520}"/>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275B89B8-891E-7303-A8FD-214226D1C59E}"/>
              </a:ext>
            </a:extLst>
          </p:cNvPr>
          <p:cNvGrpSpPr/>
          <p:nvPr/>
        </p:nvGrpSpPr>
        <p:grpSpPr>
          <a:xfrm>
            <a:off x="923306" y="4451492"/>
            <a:ext cx="10072140" cy="799797"/>
            <a:chOff x="1296445" y="1777506"/>
            <a:chExt cx="10072140" cy="799797"/>
          </a:xfrm>
        </p:grpSpPr>
        <p:sp>
          <p:nvSpPr>
            <p:cNvPr id="55" name="文本框 54">
              <a:extLst>
                <a:ext uri="{FF2B5EF4-FFF2-40B4-BE49-F238E27FC236}">
                  <a16:creationId xmlns:a16="http://schemas.microsoft.com/office/drawing/2014/main" id="{31A4187D-F7B8-F1A2-1E1D-BC3D28E07895}"/>
                </a:ext>
              </a:extLst>
            </p:cNvPr>
            <p:cNvSpPr txBox="1"/>
            <p:nvPr/>
          </p:nvSpPr>
          <p:spPr>
            <a:xfrm>
              <a:off x="1830685" y="2115638"/>
              <a:ext cx="9537900" cy="461665"/>
            </a:xfrm>
            <a:prstGeom prst="rect">
              <a:avLst/>
            </a:prstGeom>
            <a:noFill/>
          </p:spPr>
          <p:txBody>
            <a:bodyPr wrap="square" rtlCol="0">
              <a:spAutoFit/>
            </a:bodyPr>
            <a:lstStyle/>
            <a:p>
              <a:pPr lvl="0">
                <a:defRPr/>
              </a:pPr>
              <a:endParaRPr kumimoji="0" lang="zh-CN" altLang="en-US" sz="2400" b="0" i="0" u="none" strike="noStrike" kern="1200" cap="none" spc="40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56" name="组合 55">
              <a:extLst>
                <a:ext uri="{FF2B5EF4-FFF2-40B4-BE49-F238E27FC236}">
                  <a16:creationId xmlns:a16="http://schemas.microsoft.com/office/drawing/2014/main" id="{D79F90D4-73D8-DB2D-3E31-089FEA12EA34}"/>
                </a:ext>
              </a:extLst>
            </p:cNvPr>
            <p:cNvGrpSpPr/>
            <p:nvPr/>
          </p:nvGrpSpPr>
          <p:grpSpPr>
            <a:xfrm>
              <a:off x="1296445" y="1777506"/>
              <a:ext cx="800100" cy="713161"/>
              <a:chOff x="6976951" y="1586703"/>
              <a:chExt cx="800100" cy="713161"/>
            </a:xfrm>
          </p:grpSpPr>
          <p:sp>
            <p:nvSpPr>
              <p:cNvPr id="57" name="文本框 56">
                <a:extLst>
                  <a:ext uri="{FF2B5EF4-FFF2-40B4-BE49-F238E27FC236}">
                    <a16:creationId xmlns:a16="http://schemas.microsoft.com/office/drawing/2014/main" id="{2FA5DF9B-C4BC-0A1A-F6A9-FB2E2104E6A2}"/>
                  </a:ext>
                </a:extLst>
              </p:cNvPr>
              <p:cNvSpPr txBox="1"/>
              <p:nvPr/>
            </p:nvSpPr>
            <p:spPr>
              <a:xfrm>
                <a:off x="6976951" y="1586703"/>
                <a:ext cx="8001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600" dirty="0">
                    <a:solidFill>
                      <a:prstClr val="black">
                        <a:lumMod val="75000"/>
                        <a:lumOff val="25000"/>
                      </a:prstClr>
                    </a:solidFill>
                    <a:latin typeface="Arial" panose="020B0604020202020204" pitchFamily="34" charset="0"/>
                    <a:ea typeface="Microsoft YaHei" panose="020B0503020204020204" pitchFamily="34" charset="-122"/>
                    <a:cs typeface="+mn-ea"/>
                    <a:sym typeface="Arial" panose="020B0604020202020204" pitchFamily="34" charset="0"/>
                  </a:rPr>
                  <a:t>3</a:t>
                </a:r>
                <a:endParaRPr kumimoji="0" lang="zh-CN" altLang="en-US" sz="3600" b="0" i="0" u="none" strike="noStrike" kern="1200" cap="none" spc="0" normalizeH="0" baseline="0" noProof="0" dirty="0">
                  <a:ln>
                    <a:noFill/>
                  </a:ln>
                  <a:solidFill>
                    <a:prstClr val="black">
                      <a:lumMod val="75000"/>
                      <a:lumOff val="25000"/>
                    </a:prstClr>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cxnSp>
            <p:nvCxnSpPr>
              <p:cNvPr id="58" name="直接连接符 57">
                <a:extLst>
                  <a:ext uri="{FF2B5EF4-FFF2-40B4-BE49-F238E27FC236}">
                    <a16:creationId xmlns:a16="http://schemas.microsoft.com/office/drawing/2014/main" id="{F956B2CD-C283-F2F4-B4FD-42FF63186DBB}"/>
                  </a:ext>
                </a:extLst>
              </p:cNvPr>
              <p:cNvCxnSpPr/>
              <p:nvPr/>
            </p:nvCxnSpPr>
            <p:spPr>
              <a:xfrm flipH="1">
                <a:off x="7160632" y="1829707"/>
                <a:ext cx="432738" cy="47015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5" name="文本框 4">
            <a:extLst>
              <a:ext uri="{FF2B5EF4-FFF2-40B4-BE49-F238E27FC236}">
                <a16:creationId xmlns:a16="http://schemas.microsoft.com/office/drawing/2014/main" id="{2CDF5E67-352A-5D51-6E23-4343FD1A81C7}"/>
              </a:ext>
            </a:extLst>
          </p:cNvPr>
          <p:cNvSpPr txBox="1"/>
          <p:nvPr/>
        </p:nvSpPr>
        <p:spPr>
          <a:xfrm>
            <a:off x="1539722" y="3812153"/>
            <a:ext cx="9728969" cy="830997"/>
          </a:xfrm>
          <a:prstGeom prst="rect">
            <a:avLst/>
          </a:prstGeom>
          <a:noFill/>
        </p:spPr>
        <p:txBody>
          <a:bodyPr wrap="square" rtlCol="0">
            <a:spAutoFit/>
          </a:bodyPr>
          <a:lstStyle/>
          <a:p>
            <a:r>
              <a:rPr lang="en-US" altLang="zh-CN" sz="2400" b="1" dirty="0"/>
              <a:t>What is your preferred RA workflow (weekly milestones, code reviews, paper goals, compute/data access)?</a:t>
            </a:r>
            <a:endParaRPr lang="en" altLang="zh-CN" sz="2400" dirty="0"/>
          </a:p>
        </p:txBody>
      </p:sp>
      <p:sp>
        <p:nvSpPr>
          <p:cNvPr id="6" name="文本框 5">
            <a:extLst>
              <a:ext uri="{FF2B5EF4-FFF2-40B4-BE49-F238E27FC236}">
                <a16:creationId xmlns:a16="http://schemas.microsoft.com/office/drawing/2014/main" id="{005F4591-60D9-2155-36C5-D36C7CD9EB82}"/>
              </a:ext>
            </a:extLst>
          </p:cNvPr>
          <p:cNvSpPr txBox="1"/>
          <p:nvPr/>
        </p:nvSpPr>
        <p:spPr>
          <a:xfrm>
            <a:off x="1539723" y="4956707"/>
            <a:ext cx="9728969" cy="1200329"/>
          </a:xfrm>
          <a:prstGeom prst="rect">
            <a:avLst/>
          </a:prstGeom>
          <a:noFill/>
        </p:spPr>
        <p:txBody>
          <a:bodyPr wrap="square" rtlCol="0">
            <a:spAutoFit/>
          </a:bodyPr>
          <a:lstStyle/>
          <a:p>
            <a:r>
              <a:rPr lang="en-US" altLang="zh-CN" sz="2400" b="1" dirty="0"/>
              <a:t>Is funding available for this position (RA stipend or summer support), and could you advise on visa options or sponsorship (e.g., J-1/F-1 CPT/OPT) for a visiting research appointment?</a:t>
            </a:r>
            <a:endParaRPr lang="en" altLang="zh-CN" sz="2400" b="1" dirty="0"/>
          </a:p>
        </p:txBody>
      </p:sp>
    </p:spTree>
    <p:extLst>
      <p:ext uri="{BB962C8B-B14F-4D97-AF65-F5344CB8AC3E}">
        <p14:creationId xmlns:p14="http://schemas.microsoft.com/office/powerpoint/2010/main" val="20314918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4"/>
</p:tagLst>
</file>

<file path=ppt/tags/tag2.xml><?xml version="1.0" encoding="utf-8"?>
<p:tagLst xmlns:a="http://schemas.openxmlformats.org/drawingml/2006/main" xmlns:r="http://schemas.openxmlformats.org/officeDocument/2006/relationships" xmlns:p="http://schemas.openxmlformats.org/presentationml/2006/main">
  <p:tag name="PA" val="v5.2.4"/>
</p:tagLst>
</file>

<file path=ppt/tags/tag3.xml><?xml version="1.0" encoding="utf-8"?>
<p:tagLst xmlns:a="http://schemas.openxmlformats.org/drawingml/2006/main" xmlns:r="http://schemas.openxmlformats.org/officeDocument/2006/relationships" xmlns:p="http://schemas.openxmlformats.org/presentationml/2006/main">
  <p:tag name="PA" val="v5.2.4"/>
</p:tagLst>
</file>

<file path=ppt/theme/theme1.xml><?xml version="1.0" encoding="utf-8"?>
<a:theme xmlns:a="http://schemas.openxmlformats.org/drawingml/2006/main" name="Office 主题​​">
  <a:themeElements>
    <a:clrScheme name="北京大学-红色主题">
      <a:dk1>
        <a:sysClr val="windowText" lastClr="000000"/>
      </a:dk1>
      <a:lt1>
        <a:sysClr val="window" lastClr="FFFFFF"/>
      </a:lt1>
      <a:dk2>
        <a:srgbClr val="44546A"/>
      </a:dk2>
      <a:lt2>
        <a:srgbClr val="E7E6E6"/>
      </a:lt2>
      <a:accent1>
        <a:srgbClr val="94070A"/>
      </a:accent1>
      <a:accent2>
        <a:srgbClr val="D7C8B5"/>
      </a:accent2>
      <a:accent3>
        <a:srgbClr val="A5A5A5"/>
      </a:accent3>
      <a:accent4>
        <a:srgbClr val="0B4065"/>
      </a:accent4>
      <a:accent5>
        <a:srgbClr val="5B9BD5"/>
      </a:accent5>
      <a:accent6>
        <a:srgbClr val="70AD47"/>
      </a:accent6>
      <a:hlink>
        <a:srgbClr val="94070A"/>
      </a:hlink>
      <a:folHlink>
        <a:srgbClr val="954F72"/>
      </a:folHlink>
    </a:clrScheme>
    <a:fontScheme name="loawae3m">
      <a:majorFont>
        <a:latin typeface="Arial" panose="020F0302020204030204"/>
        <a:ea typeface="微软雅黑"/>
        <a:cs typeface=""/>
      </a:majorFont>
      <a:minorFont>
        <a:latin typeface="Arial"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4376</TotalTime>
  <Words>2729</Words>
  <Application>Microsoft Office PowerPoint</Application>
  <PresentationFormat>宽屏</PresentationFormat>
  <Paragraphs>200</Paragraphs>
  <Slides>20</Slides>
  <Notes>20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等线</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Fish</dc:creator>
  <cp:lastModifiedBy>奕好 陈</cp:lastModifiedBy>
  <cp:revision>473</cp:revision>
  <cp:lastPrinted>2026-01-18T16:14:02Z</cp:lastPrinted>
  <dcterms:created xsi:type="dcterms:W3CDTF">2021-05-06T04:51:34Z</dcterms:created>
  <dcterms:modified xsi:type="dcterms:W3CDTF">2026-02-09T21:30:25Z</dcterms:modified>
</cp:coreProperties>
</file>