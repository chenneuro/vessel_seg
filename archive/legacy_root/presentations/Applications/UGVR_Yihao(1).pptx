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184" r:id="rId2"/>
    <p:sldId id="344" r:id="rId3"/>
    <p:sldId id="3284" r:id="rId4"/>
    <p:sldId id="3247" r:id="rId5"/>
    <p:sldId id="3285" r:id="rId6"/>
    <p:sldId id="3286" r:id="rId7"/>
    <p:sldId id="3287" r:id="rId8"/>
    <p:sldId id="277" r:id="rId9"/>
    <p:sldId id="3288" r:id="rId10"/>
    <p:sldId id="3289" r:id="rId11"/>
    <p:sldId id="3290"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0261D061-56C3-4466-98F3-98E7BB90A6DD}">
          <p14:sldIdLst>
            <p14:sldId id="3184"/>
          </p14:sldIdLst>
        </p14:section>
        <p14:section name="目录" id="{9E80D4BD-46BA-485C-A69E-3FF95A4966CF}">
          <p14:sldIdLst>
            <p14:sldId id="344"/>
            <p14:sldId id="3284"/>
          </p14:sldIdLst>
        </p14:section>
        <p14:section name="内容页" id="{3ACFC61A-BEE8-495C-B5EB-7BDC91533FAD}">
          <p14:sldIdLst>
            <p14:sldId id="3247"/>
            <p14:sldId id="3285"/>
            <p14:sldId id="3286"/>
            <p14:sldId id="3287"/>
          </p14:sldIdLst>
        </p14:section>
        <p14:section name="内容页2" id="{A1EE3B0F-FF5D-4527-8D5C-2F7AEF2BC699}">
          <p14:sldIdLst>
            <p14:sldId id="277"/>
            <p14:sldId id="3288"/>
            <p14:sldId id="3289"/>
            <p14:sldId id="329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CAB69D"/>
    <a:srgbClr val="E9E2D7"/>
    <a:srgbClr val="B2676A"/>
    <a:srgbClr val="C68587"/>
    <a:srgbClr val="94070A"/>
    <a:srgbClr val="D7C8B5"/>
    <a:srgbClr val="F0F0F0"/>
    <a:srgbClr val="B99E7D"/>
    <a:srgbClr val="BE08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32" autoAdjust="0"/>
    <p:restoredTop sz="91947"/>
  </p:normalViewPr>
  <p:slideViewPr>
    <p:cSldViewPr snapToGrid="0" showGuides="1">
      <p:cViewPr varScale="1">
        <p:scale>
          <a:sx n="69" d="100"/>
          <a:sy n="69" d="100"/>
        </p:scale>
        <p:origin x="232" y="1040"/>
      </p:cViewPr>
      <p:guideLst>
        <p:guide orient="horz" pos="2160"/>
        <p:guide pos="3840"/>
      </p:guideLst>
    </p:cSldViewPr>
  </p:slideViewPr>
  <p:notesTextViewPr>
    <p:cViewPr>
      <p:scale>
        <a:sx n="140" d="100"/>
        <a:sy n="140" d="100"/>
      </p:scale>
      <p:origin x="0" y="0"/>
    </p:cViewPr>
  </p:notesTextViewPr>
  <p:sorterViewPr>
    <p:cViewPr>
      <p:scale>
        <a:sx n="100" d="100"/>
        <a:sy n="100" d="100"/>
      </p:scale>
      <p:origin x="0" y="-569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23AEBE-9D7F-4A51-A728-35C231377196}" type="datetimeFigureOut">
              <a:rPr lang="zh-CN" altLang="en-US" smtClean="0"/>
              <a:t>2026/2/10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F5E923-51F7-42BD-962F-269CF7F55DA1}" type="slidenum">
              <a:rPr lang="zh-CN" altLang="en-US" smtClean="0"/>
              <a:t>‹#›</a:t>
            </a:fld>
            <a:endParaRPr lang="zh-CN" altLang="en-US"/>
          </a:p>
        </p:txBody>
      </p:sp>
    </p:spTree>
    <p:extLst>
      <p:ext uri="{BB962C8B-B14F-4D97-AF65-F5344CB8AC3E}">
        <p14:creationId xmlns:p14="http://schemas.microsoft.com/office/powerpoint/2010/main" val="3122549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Hi Hao and Teo, thanks for taking the time to meet with me today. My name is Yihao Chen, an undergraduate student at Peking University. Broadly, I’m interested in sensing and real-world robot interaction—especially how we can use multimodal sensing like IMU, force/pressure, and vision to build reliable perception-to-action loops for contact-rich tasks.</a:t>
            </a:r>
          </a:p>
          <a:p>
            <a:br>
              <a:rPr lang="en" altLang="zh-CN" dirty="0"/>
            </a:br>
            <a:endParaRPr lang="en" altLang="zh-CN" dirty="0"/>
          </a:p>
          <a:p>
            <a:r>
              <a:rPr lang="en" altLang="zh-CN" dirty="0"/>
              <a:t>In the next ~15 minutes, I’ll give a quick overview of a few projects I’ve worked on. I’ll organize them in a simple way: first,</a:t>
            </a:r>
            <a:r>
              <a:rPr lang="zh-CN" altLang="en-US" dirty="0"/>
              <a:t> </a:t>
            </a:r>
            <a:r>
              <a:rPr lang="en" altLang="zh-CN" dirty="0"/>
              <a:t>sensor integration and signal processing; second, robot system building and mechanism design; and third, how I try to use those signals for estimation and control to improve robustness in real environments. For each project, I’ll keep the story concise: what problem I tried to solve, what I built or implemented, what results I got, and what I would do next.</a:t>
            </a:r>
          </a:p>
          <a:p>
            <a:br>
              <a:rPr lang="en" altLang="zh-CN" dirty="0"/>
            </a:br>
            <a:endParaRPr lang="en" altLang="zh-CN" dirty="0"/>
          </a:p>
          <a:p>
            <a:r>
              <a:rPr lang="en" altLang="zh-CN" dirty="0"/>
              <a:t>After that, I’d love to hear your thoughts on where my background could fit best in BDML this summer, and I also have a few questions about the kinds of projects and expectations in the lab.</a:t>
            </a:r>
          </a:p>
          <a:p>
            <a:endParaRPr lang="en" altLang="zh-CN" dirty="0"/>
          </a:p>
          <a:p>
            <a:r>
              <a:rPr lang="en" altLang="zh-CN" dirty="0"/>
              <a:t>Hao</a:t>
            </a:r>
            <a:r>
              <a:rPr lang="zh-CN" altLang="en" dirty="0"/>
              <a:t>、</a:t>
            </a:r>
            <a:r>
              <a:rPr lang="en" altLang="zh-CN" dirty="0"/>
              <a:t>Teo </a:t>
            </a:r>
            <a:r>
              <a:rPr lang="zh-CN" altLang="en-US" dirty="0"/>
              <a:t>你们好，谢谢你们愿意跟我聊一聊。我是陈奕好，北大工学院本科生，专业方向是理论力学和机器人双主修，在周培源书院就读，可以理解为提高班。</a:t>
            </a:r>
            <a:br>
              <a:rPr lang="zh-CN" altLang="en-US" dirty="0"/>
            </a:br>
            <a:endParaRPr lang="zh-CN" altLang="en-US" dirty="0"/>
          </a:p>
          <a:p>
            <a:r>
              <a:rPr lang="zh-CN" altLang="en-US" dirty="0"/>
              <a:t>我感兴趣的研究方向是：</a:t>
            </a:r>
            <a:r>
              <a:rPr lang="zh-CN" altLang="en-US" b="1" dirty="0"/>
              <a:t>怎么让机器人在真实环境里“敢接触、能接触、接触得稳”</a:t>
            </a:r>
            <a:r>
              <a:rPr lang="zh-CN" altLang="en-US" dirty="0"/>
              <a:t>。所以我做项目时会很在意传感到控制这一层</a:t>
            </a:r>
            <a:r>
              <a:rPr lang="en-US" altLang="zh-CN" dirty="0"/>
              <a:t>——</a:t>
            </a:r>
            <a:r>
              <a:rPr lang="zh-CN" altLang="en-US" dirty="0"/>
              <a:t>比如 </a:t>
            </a:r>
            <a:r>
              <a:rPr lang="en" altLang="zh-CN" dirty="0"/>
              <a:t>IMU</a:t>
            </a:r>
            <a:r>
              <a:rPr lang="zh-CN" altLang="en" dirty="0"/>
              <a:t>、</a:t>
            </a:r>
            <a:r>
              <a:rPr lang="zh-CN" altLang="en-US" dirty="0"/>
              <a:t>力</a:t>
            </a:r>
            <a:r>
              <a:rPr lang="en-US" altLang="zh-CN" dirty="0"/>
              <a:t>/</a:t>
            </a:r>
            <a:r>
              <a:rPr lang="zh-CN" altLang="en-US" dirty="0"/>
              <a:t>压力这些信号，怎么采、怎么对齐、怎么变成对控制有用的信息，最后把它用进闭环里，让系统更稳定、更可靠。</a:t>
            </a:r>
          </a:p>
          <a:p>
            <a:br>
              <a:rPr lang="zh-CN" altLang="en-US" dirty="0"/>
            </a:br>
            <a:endParaRPr lang="zh-CN" altLang="en-US" dirty="0"/>
          </a:p>
          <a:p>
            <a:r>
              <a:rPr lang="zh-CN" altLang="en-US" dirty="0"/>
              <a:t>我大概用 </a:t>
            </a:r>
            <a:r>
              <a:rPr lang="en-US" altLang="zh-CN" dirty="0"/>
              <a:t>15 </a:t>
            </a:r>
            <a:r>
              <a:rPr lang="zh-CN" altLang="en-US" dirty="0"/>
              <a:t>分钟过一下我做过的几个项目。我会按三个块讲：</a:t>
            </a:r>
          </a:p>
          <a:p>
            <a:r>
              <a:rPr lang="zh-CN" altLang="en-US" dirty="0"/>
              <a:t>第一、系统</a:t>
            </a:r>
            <a:r>
              <a:rPr lang="en-US" altLang="zh-CN" dirty="0"/>
              <a:t>/</a:t>
            </a:r>
            <a:r>
              <a:rPr lang="zh-CN" altLang="en-US" dirty="0"/>
              <a:t>机构这类从零搭起来的东西；</a:t>
            </a:r>
          </a:p>
          <a:p>
            <a:r>
              <a:rPr lang="zh-CN" altLang="en-US" dirty="0"/>
              <a:t>第二、多传感集成和信号处理；</a:t>
            </a:r>
          </a:p>
          <a:p>
            <a:r>
              <a:rPr lang="zh-CN" altLang="en-US" dirty="0"/>
              <a:t>第三、把这些信号用到估计和控制里，去提升鲁棒性。</a:t>
            </a:r>
          </a:p>
          <a:p>
            <a:endParaRPr lang="en-US" altLang="zh-CN" dirty="0"/>
          </a:p>
          <a:p>
            <a:r>
              <a:rPr lang="zh-CN" altLang="en-US" dirty="0"/>
              <a:t>每个项目思路是：我当时想解决什么问题、我具体做了什么、效果怎么样、以及我觉得下一步还能怎么做。</a:t>
            </a:r>
          </a:p>
          <a:p>
            <a:br>
              <a:rPr lang="zh-CN" altLang="en-US" dirty="0"/>
            </a:br>
            <a:endParaRPr lang="zh-CN" altLang="en-US" dirty="0"/>
          </a:p>
          <a:p>
            <a:r>
              <a:rPr lang="zh-CN" altLang="en-US" dirty="0"/>
              <a:t>讲完之后我也很想听听你们的建议：如果暑研能加入 </a:t>
            </a:r>
            <a:r>
              <a:rPr lang="en" altLang="zh-CN" dirty="0"/>
              <a:t>BDML</a:t>
            </a:r>
            <a:r>
              <a:rPr lang="zh-CN" altLang="en" dirty="0"/>
              <a:t>，</a:t>
            </a:r>
            <a:r>
              <a:rPr lang="zh-CN" altLang="en-US" dirty="0"/>
              <a:t>我更适合从哪些方向切进去、你们觉得我该优先补哪些能力。另外我也准备了几个关于你们组项目节奏和期待的问题想请教。</a:t>
            </a:r>
          </a:p>
          <a:p>
            <a:endParaRPr lang="en" altLang="zh-CN" dirty="0"/>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1</a:t>
            </a:fld>
            <a:endParaRPr lang="zh-CN" altLang="en-US"/>
          </a:p>
        </p:txBody>
      </p:sp>
    </p:spTree>
    <p:extLst>
      <p:ext uri="{BB962C8B-B14F-4D97-AF65-F5344CB8AC3E}">
        <p14:creationId xmlns:p14="http://schemas.microsoft.com/office/powerpoint/2010/main" val="309223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Here’s the plan for today. I’ll start with a quick intro and what I can bring, then walk through three representative projects—one on sensing system integration, one on mechanical prototyping, and one ongoing research effort. After that, I’ll explain why I’m interested in BDML and what I hope to work on this summer, and then we can open it up for discussion.</a:t>
            </a:r>
          </a:p>
          <a:p>
            <a:br>
              <a:rPr lang="en" altLang="zh-CN" dirty="0"/>
            </a:br>
            <a:endParaRPr lang="en" altLang="zh-CN" dirty="0"/>
          </a:p>
          <a:p>
            <a:r>
              <a:rPr lang="zh-CN" altLang="en-US" dirty="0"/>
              <a:t>我今天大概按四步来：先用很短的时间说一下我是谁、我擅长什么；然后用三个项目作为代表，分别对应传感系统、机械原型和我正在做的研究；接着我会讲我为什么想来 </a:t>
            </a:r>
            <a:r>
              <a:rPr lang="en" altLang="zh-CN" dirty="0"/>
              <a:t>BDML</a:t>
            </a:r>
            <a:r>
              <a:rPr lang="zh-CN" altLang="en" dirty="0"/>
              <a:t>、</a:t>
            </a:r>
            <a:r>
              <a:rPr lang="zh-CN" altLang="en-US" dirty="0"/>
              <a:t>以及暑研我希望切入的方向；最后我们就自由讨论和提问。</a:t>
            </a:r>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2</a:t>
            </a:fld>
            <a:endParaRPr lang="zh-CN" altLang="en-US"/>
          </a:p>
        </p:txBody>
      </p:sp>
    </p:spTree>
    <p:extLst>
      <p:ext uri="{BB962C8B-B14F-4D97-AF65-F5344CB8AC3E}">
        <p14:creationId xmlns:p14="http://schemas.microsoft.com/office/powerpoint/2010/main" val="4164427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Four quick points: I can build end-to-end prototypes; I integrate sensors and produce clean synchronized logs; I debug by isolating failure modes with quick checks; and I work proactively with clear updates and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And in terms of research interests, I’m particularly excited about tactile and multimodal sensing for robust contact-rich interaction—especially in settings like underwater manipulation where uncertainty and contact make everything harder.</a:t>
            </a:r>
          </a:p>
          <a:p>
            <a:endParaRPr lang="en" altLang="zh-CN" dirty="0"/>
          </a:p>
          <a:p>
            <a:r>
              <a:rPr lang="zh-CN" altLang="en-US" dirty="0"/>
              <a:t>四点要点如下：我能构建端到端的原型；我能整合传感器并生成清晰同步的日志；我能通过快速检查来定位故障模式进行调试；并且我能主动与他人合作，提供明确的更新和文档说明。</a:t>
            </a:r>
          </a:p>
          <a:p>
            <a:r>
              <a:rPr lang="zh-CN" altLang="en-US" dirty="0"/>
              <a:t>至于研究兴趣方面，我对触觉和多模态传感在具有大量接触的可靠交互中的应用尤其感兴趣</a:t>
            </a:r>
            <a:r>
              <a:rPr lang="en-US" altLang="zh-CN" dirty="0"/>
              <a:t>——</a:t>
            </a:r>
            <a:r>
              <a:rPr lang="zh-CN" altLang="en-US" dirty="0"/>
              <a:t>特别是在像水下操作这样的环境中，不确定性以及接触因素使得一切变得更加困难。</a:t>
            </a:r>
            <a:endParaRPr lang="en" altLang="zh-CN"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3</a:t>
            </a:fld>
            <a:endParaRPr lang="zh-CN" altLang="en-US"/>
          </a:p>
        </p:txBody>
      </p:sp>
    </p:spTree>
    <p:extLst>
      <p:ext uri="{BB962C8B-B14F-4D97-AF65-F5344CB8AC3E}">
        <p14:creationId xmlns:p14="http://schemas.microsoft.com/office/powerpoint/2010/main" val="2811926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I’ll use this slide as a map for the rest of the talk.</a:t>
            </a:r>
          </a:p>
          <a:p>
            <a:r>
              <a:rPr lang="en" altLang="zh-CN" dirty="0"/>
              <a:t>The wearable sensing project shows my strength in sensor integration and reliability-oriented testing.</a:t>
            </a:r>
          </a:p>
          <a:p>
            <a:r>
              <a:rPr lang="en" altLang="zh-CN" dirty="0"/>
              <a:t>The delta robot project is about rapid prototyping under manufacturability and tolerance constraints.</a:t>
            </a:r>
          </a:p>
          <a:p>
            <a:r>
              <a:rPr lang="en" altLang="zh-CN" dirty="0"/>
              <a:t>The coronary reconstruction work is my ongoing research, where I combine an algorithmic pipeline with evaluation and iteration.</a:t>
            </a:r>
          </a:p>
          <a:p>
            <a:r>
              <a:rPr lang="en" altLang="zh-CN" dirty="0"/>
              <a:t>And finally, the underwater robotics survey gives me a systems view of real deployment constraints—visibility, bandwidth, drift—which is also why I’m excited about robust contact-rich interaction.</a:t>
            </a:r>
          </a:p>
          <a:p>
            <a:endParaRPr lang="en" altLang="zh-CN" dirty="0"/>
          </a:p>
          <a:p>
            <a:r>
              <a:rPr lang="zh-CN" altLang="en-US" dirty="0"/>
              <a:t>我将用这张幻灯片作为接下来演讲的示意图。</a:t>
            </a:r>
          </a:p>
          <a:p>
            <a:r>
              <a:rPr lang="zh-CN" altLang="en-US" dirty="0"/>
              <a:t>可穿戴传感项目展示了我在传感器集成以及可靠性测试方面的能力。</a:t>
            </a:r>
          </a:p>
          <a:p>
            <a:r>
              <a:rPr lang="en" altLang="zh-CN" dirty="0"/>
              <a:t>Delta </a:t>
            </a:r>
            <a:r>
              <a:rPr lang="zh-CN" altLang="en-US" dirty="0"/>
              <a:t>机器人项目涉及在可制造性和公差限制条件下进行快速原型制作。</a:t>
            </a:r>
          </a:p>
          <a:p>
            <a:r>
              <a:rPr lang="zh-CN" altLang="en-US" dirty="0"/>
              <a:t>冠状动脉重建工作是我正在进行的研究，其中我将算法流程与评估和迭代相结合。</a:t>
            </a:r>
          </a:p>
          <a:p>
            <a:r>
              <a:rPr lang="zh-CN" altLang="en-US" dirty="0"/>
              <a:t>最后，水下机器人调查让我对实际部署的限制（如可见度、带宽、漂移）有了系统性的认识</a:t>
            </a:r>
            <a:r>
              <a:rPr lang="en-US" altLang="zh-CN" dirty="0"/>
              <a:t>——</a:t>
            </a:r>
            <a:r>
              <a:rPr lang="zh-CN" altLang="en-US" dirty="0"/>
              <a:t>这也是我对丰富且具有接触性的稳健交互感到兴奋的原因。</a:t>
            </a:r>
            <a:endParaRPr lang="en" altLang="zh-CN"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4</a:t>
            </a:fld>
            <a:endParaRPr lang="zh-CN" altLang="en-US"/>
          </a:p>
        </p:txBody>
      </p:sp>
    </p:spTree>
    <p:extLst>
      <p:ext uri="{BB962C8B-B14F-4D97-AF65-F5344CB8AC3E}">
        <p14:creationId xmlns:p14="http://schemas.microsoft.com/office/powerpoint/2010/main" val="2523268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This project is a wearable leg-guard sensing system. The motivation was pretty practical: when you collect motion and load signals on a human body, the real challenge is not getting </a:t>
            </a:r>
            <a:r>
              <a:rPr lang="en" altLang="zh-CN" i="1" dirty="0"/>
              <a:t>any</a:t>
            </a:r>
            <a:r>
              <a:rPr lang="en" altLang="zh-CN" dirty="0"/>
              <a:t> signal—it’s getting </a:t>
            </a:r>
            <a:r>
              <a:rPr lang="en" altLang="zh-CN" i="1" dirty="0"/>
              <a:t>stable, repeatable</a:t>
            </a:r>
            <a:r>
              <a:rPr lang="en" altLang="zh-CN" dirty="0"/>
              <a:t> data under realistic movement.</a:t>
            </a:r>
          </a:p>
          <a:p>
            <a:br>
              <a:rPr lang="en" altLang="zh-CN" dirty="0"/>
            </a:br>
            <a:endParaRPr lang="en" altLang="zh-CN" dirty="0"/>
          </a:p>
          <a:p>
            <a:r>
              <a:rPr lang="en" altLang="zh-CN" dirty="0"/>
              <a:t>I led the project end-to-end: I did the system planning and architecture, designed the PCB and selected components, and then brought the whole stack up across hardware, firmware, and communications. For implementation, I used an Arduino plus an STM32 for acquisition and control, and integrated multiple sensors mainly through I²C and related interfaces.</a:t>
            </a:r>
          </a:p>
          <a:p>
            <a:br>
              <a:rPr lang="en" altLang="zh-CN" dirty="0"/>
            </a:br>
            <a:endParaRPr lang="en" altLang="zh-CN" dirty="0"/>
          </a:p>
          <a:p>
            <a:r>
              <a:rPr lang="en" altLang="zh-CN" dirty="0"/>
              <a:t>For validation, I focused on reliability: I tested it repeatedly under real motion, logged failure cases like dropouts and synchronization issues, and iterated based on those logs rather than optimizing for a one-off demo. The main takeaway for me is that I’m comfortable building sensing systems end-to-end, and I tend to work in a reliability-oriented way.</a:t>
            </a:r>
          </a:p>
        </p:txBody>
      </p:sp>
      <p:sp>
        <p:nvSpPr>
          <p:cNvPr id="4" name="灯片编号占位符 3"/>
          <p:cNvSpPr>
            <a:spLocks noGrp="1"/>
          </p:cNvSpPr>
          <p:nvPr>
            <p:ph type="sldNum" sz="quarter" idx="5"/>
          </p:nvPr>
        </p:nvSpPr>
        <p:spPr/>
        <p:txBody>
          <a:bodyPr/>
          <a:lstStyle/>
          <a:p>
            <a:fld id="{50F5E923-51F7-42BD-962F-269CF7F55DA1}" type="slidenum">
              <a:rPr lang="zh-CN" altLang="en-US" smtClean="0"/>
              <a:t>5</a:t>
            </a:fld>
            <a:endParaRPr lang="zh-CN" altLang="en-US"/>
          </a:p>
        </p:txBody>
      </p:sp>
    </p:spTree>
    <p:extLst>
      <p:ext uri="{BB962C8B-B14F-4D97-AF65-F5344CB8AC3E}">
        <p14:creationId xmlns:p14="http://schemas.microsoft.com/office/powerpoint/2010/main" val="2734869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193A0-9AC8-FBEF-5A5B-7D7BBC1FE3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A66E65-2DDD-8AD3-5267-9A351D0FC5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C847AAA-1E79-8C85-1674-2BBF620FB37C}"/>
              </a:ext>
            </a:extLst>
          </p:cNvPr>
          <p:cNvSpPr>
            <a:spLocks noGrp="1"/>
          </p:cNvSpPr>
          <p:nvPr>
            <p:ph type="body" idx="1"/>
          </p:nvPr>
        </p:nvSpPr>
        <p:spPr/>
        <p:txBody>
          <a:bodyPr/>
          <a:lstStyle/>
          <a:p>
            <a:r>
              <a:rPr lang="en" altLang="zh-CN" dirty="0"/>
              <a:t>This project is a 3-DOF Delta robot that I built as a mechanical capstone. The objective was to take a kinematics-driven concept and push it all the way to a working physical prototype.</a:t>
            </a:r>
          </a:p>
          <a:p>
            <a:br>
              <a:rPr lang="en" altLang="zh-CN" dirty="0"/>
            </a:br>
            <a:endParaRPr lang="en" altLang="zh-CN" dirty="0"/>
          </a:p>
          <a:p>
            <a:r>
              <a:rPr lang="en" altLang="zh-CN" dirty="0"/>
              <a:t>My role covered the full mechanical pipeline: I did the SolidWorks CAD modeling, planned the design and selected parts early, and then went through multiple rounds of 3D printing and assembly. On the implementation side, I didn’t stop at the mechanism level—I also designed the detailed parts and interfaces, and I tried to consider manufacturing and assembly constraints upfront rather than fixing everything at the end.</a:t>
            </a:r>
          </a:p>
          <a:p>
            <a:br>
              <a:rPr lang="en" altLang="zh-CN" dirty="0"/>
            </a:br>
            <a:endParaRPr lang="en" altLang="zh-CN" dirty="0"/>
          </a:p>
          <a:p>
            <a:r>
              <a:rPr lang="en" altLang="zh-CN" dirty="0"/>
              <a:t>Validation was very prototype-driven. The main issues were tolerances, interference between moving links, and overall robustness. Each time we assembled the prototype, the feedback immediately translated into geometry and interface changes—clearance, joint design, mounting, and alignment—so the design converged through iteration.</a:t>
            </a:r>
          </a:p>
          <a:p>
            <a:br>
              <a:rPr lang="en" altLang="zh-CN" dirty="0"/>
            </a:br>
            <a:endParaRPr lang="en" altLang="zh-CN" dirty="0"/>
          </a:p>
          <a:p>
            <a:r>
              <a:rPr lang="en" altLang="zh-CN" dirty="0"/>
              <a:t>The takeaway is that I’m comfortable turning kinematics-based ideas into manufacturable hardware by iterating through real build-and-test cycles.</a:t>
            </a:r>
          </a:p>
        </p:txBody>
      </p:sp>
      <p:sp>
        <p:nvSpPr>
          <p:cNvPr id="4" name="灯片编号占位符 3">
            <a:extLst>
              <a:ext uri="{FF2B5EF4-FFF2-40B4-BE49-F238E27FC236}">
                <a16:creationId xmlns:a16="http://schemas.microsoft.com/office/drawing/2014/main" id="{7FF3CB03-82F5-6509-9726-09CBB1FACFBA}"/>
              </a:ext>
            </a:extLst>
          </p:cNvPr>
          <p:cNvSpPr>
            <a:spLocks noGrp="1"/>
          </p:cNvSpPr>
          <p:nvPr>
            <p:ph type="sldNum" sz="quarter" idx="5"/>
          </p:nvPr>
        </p:nvSpPr>
        <p:spPr/>
        <p:txBody>
          <a:bodyPr/>
          <a:lstStyle/>
          <a:p>
            <a:fld id="{50F5E923-51F7-42BD-962F-269CF7F55DA1}" type="slidenum">
              <a:rPr lang="zh-CN" altLang="en-US" smtClean="0"/>
              <a:t>6</a:t>
            </a:fld>
            <a:endParaRPr lang="zh-CN" altLang="en-US"/>
          </a:p>
        </p:txBody>
      </p:sp>
    </p:spTree>
    <p:extLst>
      <p:ext uri="{BB962C8B-B14F-4D97-AF65-F5344CB8AC3E}">
        <p14:creationId xmlns:p14="http://schemas.microsoft.com/office/powerpoint/2010/main" val="222457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A8A57-E86F-D416-0C01-2DA1030532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8323BD-1855-3F98-FBE2-8649D6242DE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093AA0-C147-9157-354B-15C95CBEAAC9}"/>
              </a:ext>
            </a:extLst>
          </p:cNvPr>
          <p:cNvSpPr>
            <a:spLocks noGrp="1"/>
          </p:cNvSpPr>
          <p:nvPr>
            <p:ph type="body" idx="1"/>
          </p:nvPr>
        </p:nvSpPr>
        <p:spPr/>
        <p:txBody>
          <a:bodyPr/>
          <a:lstStyle/>
          <a:p>
            <a:r>
              <a:rPr lang="en" altLang="zh-CN" dirty="0"/>
              <a:t>This is my ongoing research project, and I’m leading the upstream workflow and pipeline development. The long-term objective is to build a reconstruction and modeling pipeline that stays clinically relevant—meaning the outputs are structured, evaluable, and compatible with real hospital workflows.</a:t>
            </a:r>
          </a:p>
          <a:p>
            <a:br>
              <a:rPr lang="en" altLang="zh-CN" dirty="0"/>
            </a:br>
            <a:endParaRPr lang="en" altLang="zh-CN" dirty="0"/>
          </a:p>
          <a:p>
            <a:r>
              <a:rPr lang="en" altLang="zh-CN" dirty="0"/>
              <a:t>So far, I’ve done an initial survey and built a working pipeline: segmentation, then centerline extraction, and then a centerline-driven representation for visualization and rendering. Importantly, I’m also standardizing the outputs—so the same case can be evaluated consistently and used downstream.</a:t>
            </a:r>
          </a:p>
          <a:p>
            <a:br>
              <a:rPr lang="en" altLang="zh-CN" dirty="0"/>
            </a:br>
            <a:endParaRPr lang="en" altLang="zh-CN" dirty="0"/>
          </a:p>
          <a:p>
            <a:r>
              <a:rPr lang="en" altLang="zh-CN" dirty="0"/>
              <a:t>The next phase is where it becomes more “clinically grounded”: incorporating hospital data and workflow constraints, adding anatomically consistent labeling so different segments are comparable, and defining evaluation metrics that align with navigation or decision-support use cases—so we’re not just optimizing for pretty reconstructions, but for robustness and usefulness.</a:t>
            </a:r>
          </a:p>
          <a:p>
            <a:br>
              <a:rPr lang="en" altLang="zh-CN" dirty="0"/>
            </a:br>
            <a:endParaRPr lang="en" altLang="zh-CN" dirty="0"/>
          </a:p>
          <a:p>
            <a:r>
              <a:rPr lang="en" altLang="zh-CN" dirty="0"/>
              <a:t>The takeaway is that I’m comfortable owning a pipeline end-to-end, and I’m building it with </a:t>
            </a:r>
            <a:r>
              <a:rPr lang="en" altLang="zh-CN" dirty="0" err="1"/>
              <a:t>deployability</a:t>
            </a:r>
            <a:r>
              <a:rPr lang="en" altLang="zh-CN" dirty="0"/>
              <a:t> and evaluation in mind.</a:t>
            </a:r>
          </a:p>
          <a:p>
            <a:endParaRPr lang="e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1" dirty="0"/>
              <a:t>“Takeaway: building structure-aware pipelines + evaluation habits transferable to tactile/contact learning.”</a:t>
            </a:r>
            <a:endParaRPr lang="en" altLang="zh-CN" dirty="0"/>
          </a:p>
          <a:p>
            <a:endParaRPr lang="en" altLang="zh-CN" dirty="0"/>
          </a:p>
        </p:txBody>
      </p:sp>
      <p:sp>
        <p:nvSpPr>
          <p:cNvPr id="4" name="灯片编号占位符 3">
            <a:extLst>
              <a:ext uri="{FF2B5EF4-FFF2-40B4-BE49-F238E27FC236}">
                <a16:creationId xmlns:a16="http://schemas.microsoft.com/office/drawing/2014/main" id="{A2490100-1D0E-6088-2D60-9A71AAB4DEFE}"/>
              </a:ext>
            </a:extLst>
          </p:cNvPr>
          <p:cNvSpPr>
            <a:spLocks noGrp="1"/>
          </p:cNvSpPr>
          <p:nvPr>
            <p:ph type="sldNum" sz="quarter" idx="5"/>
          </p:nvPr>
        </p:nvSpPr>
        <p:spPr/>
        <p:txBody>
          <a:bodyPr/>
          <a:lstStyle/>
          <a:p>
            <a:fld id="{50F5E923-51F7-42BD-962F-269CF7F55DA1}" type="slidenum">
              <a:rPr lang="zh-CN" altLang="en-US" smtClean="0"/>
              <a:t>7</a:t>
            </a:fld>
            <a:endParaRPr lang="zh-CN" altLang="en-US"/>
          </a:p>
        </p:txBody>
      </p:sp>
    </p:spTree>
    <p:extLst>
      <p:ext uri="{BB962C8B-B14F-4D97-AF65-F5344CB8AC3E}">
        <p14:creationId xmlns:p14="http://schemas.microsoft.com/office/powerpoint/2010/main" val="2912344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Let me summarize why I’m excited about BDML and how I think I can contribute.</a:t>
            </a:r>
          </a:p>
          <a:p>
            <a:r>
              <a:rPr lang="en" altLang="zh-CN" dirty="0"/>
              <a:t>I’m most interested in contact-rich interaction where sensing actually closes the loop with control, and where robustness matters because the real world is messy—noise, drift, and failures. That’s also why BDML stands out to me.</a:t>
            </a:r>
          </a:p>
          <a:p>
            <a:br>
              <a:rPr lang="en" altLang="zh-CN" dirty="0"/>
            </a:br>
            <a:endParaRPr lang="en" altLang="zh-CN" dirty="0"/>
          </a:p>
          <a:p>
            <a:r>
              <a:rPr lang="en" altLang="zh-CN" dirty="0"/>
              <a:t>In terms of alignment, I’m especially drawn to tactile sensing and perception-to-action, and to underwater manipulation/control where constraints force you to think in a systems way.</a:t>
            </a:r>
          </a:p>
          <a:p>
            <a:br>
              <a:rPr lang="en" altLang="zh-CN" dirty="0"/>
            </a:br>
            <a:endParaRPr lang="en" altLang="zh-CN" dirty="0"/>
          </a:p>
          <a:p>
            <a:r>
              <a:rPr lang="en" altLang="zh-CN" dirty="0"/>
              <a:t>For contribution, I’m very hands-on: I can build and stabilize sensing stacks—synchronization, calibration, logging, and failure tracking—then design tight experiments and metrics so iterations are comparable, and package everything into reproducible pipelines with clean handoff.</a:t>
            </a:r>
          </a:p>
          <a:p>
            <a:br>
              <a:rPr lang="en" altLang="zh-CN" dirty="0"/>
            </a:br>
            <a:endParaRPr lang="en" altLang="zh-CN" dirty="0"/>
          </a:p>
          <a:p>
            <a:r>
              <a:rPr lang="en" altLang="zh-CN" dirty="0"/>
              <a:t>And my working style is simple: weekly milestones, fast iteration, and small sanity tests first before scaling.</a:t>
            </a:r>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8</a:t>
            </a:fld>
            <a:endParaRPr lang="zh-CN" altLang="en-US"/>
          </a:p>
        </p:txBody>
      </p:sp>
    </p:spTree>
    <p:extLst>
      <p:ext uri="{BB962C8B-B14F-4D97-AF65-F5344CB8AC3E}">
        <p14:creationId xmlns:p14="http://schemas.microsoft.com/office/powerpoint/2010/main" val="2674128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EBEC2-7C7A-75FD-2235-1569D13507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C6193B-F20C-57E5-1049-3134EE82EB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A30E15-D213-8B95-9DD1-20282E16D12F}"/>
              </a:ext>
            </a:extLst>
          </p:cNvPr>
          <p:cNvSpPr>
            <a:spLocks noGrp="1"/>
          </p:cNvSpPr>
          <p:nvPr>
            <p:ph type="body" idx="1"/>
          </p:nvPr>
        </p:nvSpPr>
        <p:spPr/>
        <p:txBody>
          <a:bodyPr/>
          <a:lstStyle/>
          <a:p>
            <a:r>
              <a:rPr lang="en" altLang="zh-CN" dirty="0"/>
              <a:t>I won’t repeat my background here since I think the earlier slides already show what I can do. For this summer, I’m very flexible and happy to take on new challenges or a new problem the lab cares about.</a:t>
            </a:r>
          </a:p>
          <a:p>
            <a:br>
              <a:rPr lang="en" altLang="zh-CN" dirty="0"/>
            </a:br>
            <a:endParaRPr lang="en" altLang="zh-CN" dirty="0"/>
          </a:p>
          <a:p>
            <a:r>
              <a:rPr lang="en" altLang="zh-CN" dirty="0"/>
              <a:t>If I had to choose a primary direction, tactile sensing is probably the best fit—because I enjoy building reliable sensing pipelines and designing experiments that actually drive iteration. Concretely, I’d love to work on calibration and signal conditioning, contact-state estimation like onset and slip cues, and setting up clear metrics and experiments.</a:t>
            </a:r>
          </a:p>
          <a:p>
            <a:br>
              <a:rPr lang="en" altLang="zh-CN" dirty="0"/>
            </a:br>
            <a:endParaRPr lang="e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At the same time, I’m also open to an underwater control track—especially problems around robust estimation and control under constraints. If there’s a project you think is a better fit than these two tracks, I’m totally open—I care more about impact and learning than the label of the topic.</a:t>
            </a:r>
            <a:r>
              <a:rPr lang="zh-CN" altLang="en-US" dirty="0"/>
              <a:t> </a:t>
            </a:r>
            <a:r>
              <a:rPr lang="en" altLang="zh-CN" dirty="0"/>
              <a:t>My goal is simple: clear weekly milestones and measurable deliverables, with reproducible code and results.</a:t>
            </a:r>
          </a:p>
        </p:txBody>
      </p:sp>
      <p:sp>
        <p:nvSpPr>
          <p:cNvPr id="4" name="灯片编号占位符 3">
            <a:extLst>
              <a:ext uri="{FF2B5EF4-FFF2-40B4-BE49-F238E27FC236}">
                <a16:creationId xmlns:a16="http://schemas.microsoft.com/office/drawing/2014/main" id="{26C58EF3-EC2D-9398-6936-DCC5746FB873}"/>
              </a:ext>
            </a:extLst>
          </p:cNvPr>
          <p:cNvSpPr>
            <a:spLocks noGrp="1"/>
          </p:cNvSpPr>
          <p:nvPr>
            <p:ph type="sldNum" sz="quarter" idx="5"/>
          </p:nvPr>
        </p:nvSpPr>
        <p:spPr/>
        <p:txBody>
          <a:bodyPr/>
          <a:lstStyle/>
          <a:p>
            <a:fld id="{50F5E923-51F7-42BD-962F-269CF7F55DA1}" type="slidenum">
              <a:rPr lang="zh-CN" altLang="en-US" smtClean="0"/>
              <a:t>9</a:t>
            </a:fld>
            <a:endParaRPr lang="zh-CN" altLang="en-US"/>
          </a:p>
        </p:txBody>
      </p:sp>
    </p:spTree>
    <p:extLst>
      <p:ext uri="{BB962C8B-B14F-4D97-AF65-F5344CB8AC3E}">
        <p14:creationId xmlns:p14="http://schemas.microsoft.com/office/powerpoint/2010/main" val="956175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So that’s my background and the kinds of problems I’m excited about. I’d really appreciate your feedback on where I’d fit best in BDML, and then I have a few questions about the projects and mentorship workflow.</a:t>
            </a:r>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10</a:t>
            </a:fld>
            <a:endParaRPr lang="zh-CN" altLang="en-US"/>
          </a:p>
        </p:txBody>
      </p:sp>
    </p:spTree>
    <p:extLst>
      <p:ext uri="{BB962C8B-B14F-4D97-AF65-F5344CB8AC3E}">
        <p14:creationId xmlns:p14="http://schemas.microsoft.com/office/powerpoint/2010/main" val="521854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4DEDF-156E-A568-0180-563FAB5C6D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9274DC-D152-9D0F-58B5-9BBD93F866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C50D1D-52DD-2AE2-AA83-5519B7FE32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1" dirty="0"/>
              <a:t>“I’ll start with the first one.”</a:t>
            </a:r>
            <a:endParaRPr lang="en" altLang="zh-CN" dirty="0"/>
          </a:p>
          <a:p>
            <a:endParaRPr lang="en" altLang="zh-CN" dirty="0"/>
          </a:p>
        </p:txBody>
      </p:sp>
      <p:sp>
        <p:nvSpPr>
          <p:cNvPr id="4" name="灯片编号占位符 3">
            <a:extLst>
              <a:ext uri="{FF2B5EF4-FFF2-40B4-BE49-F238E27FC236}">
                <a16:creationId xmlns:a16="http://schemas.microsoft.com/office/drawing/2014/main" id="{B232E816-D96B-0977-4751-A84FB12D42EF}"/>
              </a:ext>
            </a:extLst>
          </p:cNvPr>
          <p:cNvSpPr>
            <a:spLocks noGrp="1"/>
          </p:cNvSpPr>
          <p:nvPr>
            <p:ph type="sldNum" sz="quarter" idx="5"/>
          </p:nvPr>
        </p:nvSpPr>
        <p:spPr/>
        <p:txBody>
          <a:bodyPr/>
          <a:lstStyle/>
          <a:p>
            <a:fld id="{50F5E923-51F7-42BD-962F-269CF7F55DA1}" type="slidenum">
              <a:rPr lang="zh-CN" altLang="en-US" smtClean="0"/>
              <a:t>11</a:t>
            </a:fld>
            <a:endParaRPr lang="zh-CN" altLang="en-US"/>
          </a:p>
        </p:txBody>
      </p:sp>
    </p:spTree>
    <p:extLst>
      <p:ext uri="{BB962C8B-B14F-4D97-AF65-F5344CB8AC3E}">
        <p14:creationId xmlns:p14="http://schemas.microsoft.com/office/powerpoint/2010/main" val="204545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EBF399D-EDE8-4580-B9E2-18D3F5DE03FB}"/>
              </a:ext>
            </a:extLst>
          </p:cNvPr>
          <p:cNvSpPr>
            <a:spLocks noGrp="1"/>
          </p:cNvSpPr>
          <p:nvPr>
            <p:ph type="dt" sz="half" idx="10"/>
          </p:nvPr>
        </p:nvSpPr>
        <p:spPr/>
        <p:txBody>
          <a:bodyPr/>
          <a:lstStyle/>
          <a:p>
            <a:fld id="{0B6F2864-E0EF-4E70-A7F4-2B86DC303F0F}" type="datetime1">
              <a:rPr lang="zh-CN" altLang="en-US" smtClean="0"/>
              <a:t>2026/2/10</a:t>
            </a:fld>
            <a:endParaRPr lang="zh-CN" altLang="en-US"/>
          </a:p>
        </p:txBody>
      </p:sp>
      <p:sp>
        <p:nvSpPr>
          <p:cNvPr id="3" name="页脚占位符 2">
            <a:extLst>
              <a:ext uri="{FF2B5EF4-FFF2-40B4-BE49-F238E27FC236}">
                <a16:creationId xmlns:a16="http://schemas.microsoft.com/office/drawing/2014/main" id="{05FF8A14-C1F6-4164-A22B-F1F06A860C2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B723CDA-EC61-440A-9CD0-665175752534}"/>
              </a:ext>
            </a:extLst>
          </p:cNvPr>
          <p:cNvSpPr>
            <a:spLocks noGrp="1"/>
          </p:cNvSpPr>
          <p:nvPr>
            <p:ph type="sldNum" sz="quarter" idx="12"/>
          </p:nvPr>
        </p:nvSpPr>
        <p:spPr>
          <a:xfrm>
            <a:off x="9124950" y="6356350"/>
            <a:ext cx="2743200" cy="365125"/>
          </a:xfrm>
        </p:spPr>
        <p:txBody>
          <a:bodyPr/>
          <a:lstStyle>
            <a:lvl1pPr>
              <a:defRPr>
                <a:solidFill>
                  <a:schemeClr val="bg1">
                    <a:lumMod val="75000"/>
                  </a:schemeClr>
                </a:solidFill>
                <a:latin typeface="Arial" panose="020B0604020202020204" pitchFamily="34" charset="0"/>
                <a:cs typeface="Arial" panose="020B0604020202020204" pitchFamily="34" charset="0"/>
              </a:defRPr>
            </a:lvl1pPr>
          </a:lstStyle>
          <a:p>
            <a:fld id="{CCBA9D17-A0D3-409F-BFF9-E5BAE63FEE36}" type="slidenum">
              <a:rPr lang="zh-CN" altLang="en-US" smtClean="0"/>
              <a:pPr/>
              <a:t>‹#›</a:t>
            </a:fld>
            <a:endParaRPr lang="zh-CN" altLang="en-US" dirty="0"/>
          </a:p>
        </p:txBody>
      </p:sp>
    </p:spTree>
    <p:extLst>
      <p:ext uri="{BB962C8B-B14F-4D97-AF65-F5344CB8AC3E}">
        <p14:creationId xmlns:p14="http://schemas.microsoft.com/office/powerpoint/2010/main" val="378039589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F596258-9B56-404A-B375-CB6FD51F1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21381EE-E5D1-4659-AFAB-3F77E96688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41F6FF-ED68-4607-885A-EB998B1509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60D2EE-5E42-4C74-BD66-3934CD038B3B}" type="datetime1">
              <a:rPr lang="zh-CN" altLang="en-US" smtClean="0"/>
              <a:t>2026/2/10</a:t>
            </a:fld>
            <a:endParaRPr lang="zh-CN" altLang="en-US"/>
          </a:p>
        </p:txBody>
      </p:sp>
      <p:sp>
        <p:nvSpPr>
          <p:cNvPr id="5" name="页脚占位符 4">
            <a:extLst>
              <a:ext uri="{FF2B5EF4-FFF2-40B4-BE49-F238E27FC236}">
                <a16:creationId xmlns:a16="http://schemas.microsoft.com/office/drawing/2014/main" id="{F0794CA5-8294-4EBF-A582-699649CC1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D3C233C-1E37-4721-A368-7046C1CACB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BA9D17-A0D3-409F-BFF9-E5BAE63FEE36}" type="slidenum">
              <a:rPr lang="zh-CN" altLang="en-US" smtClean="0"/>
              <a:t>‹#›</a:t>
            </a:fld>
            <a:endParaRPr lang="zh-CN" altLang="en-US"/>
          </a:p>
        </p:txBody>
      </p:sp>
    </p:spTree>
    <p:extLst>
      <p:ext uri="{BB962C8B-B14F-4D97-AF65-F5344CB8AC3E}">
        <p14:creationId xmlns:p14="http://schemas.microsoft.com/office/powerpoint/2010/main" val="2030191847"/>
      </p:ext>
    </p:extLst>
  </p:cSld>
  <p:clrMap bg1="lt1" tx1="dk1" bg2="lt2" tx2="dk2" accent1="accent1" accent2="accent2" accent3="accent3" accent4="accent4" accent5="accent5" accent6="accent6" hlink="hlink" folHlink="folHlink"/>
  <p:sldLayoutIdLst>
    <p:sldLayoutId id="214748365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mailto:chenyihao@stu.pku.edu.cn"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9.png"/><Relationship Id="rId5" Type="http://schemas.openxmlformats.org/officeDocument/2006/relationships/notesSlide" Target="../notesSlides/notesSlide10.xml"/><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图片 64">
            <a:extLst>
              <a:ext uri="{FF2B5EF4-FFF2-40B4-BE49-F238E27FC236}">
                <a16:creationId xmlns:a16="http://schemas.microsoft.com/office/drawing/2014/main" id="{4D18365F-4A48-4CE4-9AA6-6F0337A2FE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a:extLst>
              <a:ext uri="{FF2B5EF4-FFF2-40B4-BE49-F238E27FC236}">
                <a16:creationId xmlns:a16="http://schemas.microsoft.com/office/drawing/2014/main" id="{215653C9-8294-4422-939A-19987AE380D1}"/>
              </a:ext>
            </a:extLst>
          </p:cNvPr>
          <p:cNvSpPr/>
          <p:nvPr/>
        </p:nvSpPr>
        <p:spPr>
          <a:xfrm flipV="1">
            <a:off x="0" y="6802310"/>
            <a:ext cx="12192000" cy="62214"/>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4" name="矩形 63">
            <a:extLst>
              <a:ext uri="{FF2B5EF4-FFF2-40B4-BE49-F238E27FC236}">
                <a16:creationId xmlns:a16="http://schemas.microsoft.com/office/drawing/2014/main" id="{59B2B4BE-7386-4C70-9386-6FB1093811F4}"/>
              </a:ext>
            </a:extLst>
          </p:cNvPr>
          <p:cNvSpPr/>
          <p:nvPr/>
        </p:nvSpPr>
        <p:spPr>
          <a:xfrm>
            <a:off x="5788650" y="4351315"/>
            <a:ext cx="665278" cy="45720"/>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4" name="矩形 33">
            <a:extLst>
              <a:ext uri="{FF2B5EF4-FFF2-40B4-BE49-F238E27FC236}">
                <a16:creationId xmlns:a16="http://schemas.microsoft.com/office/drawing/2014/main" id="{64E8B448-9F20-49E7-92A9-4158C9CAFB88}"/>
              </a:ext>
            </a:extLst>
          </p:cNvPr>
          <p:cNvSpPr/>
          <p:nvPr/>
        </p:nvSpPr>
        <p:spPr>
          <a:xfrm>
            <a:off x="1289223" y="2179808"/>
            <a:ext cx="9611360" cy="1323439"/>
          </a:xfrm>
          <a:prstGeom prst="rect">
            <a:avLst/>
          </a:prstGeom>
          <a:effectLst>
            <a:outerShdw blurRad="63500" sx="102000" sy="102000" algn="ctr" rotWithShape="0">
              <a:prstClr val="black">
                <a:alpha val="40000"/>
              </a:prstClr>
            </a:outerShdw>
          </a:effectLst>
        </p:spPr>
        <p:txBody>
          <a:bodyPr wrap="square">
            <a:spAutoFit/>
          </a:bodyPr>
          <a:lstStyle/>
          <a:p>
            <a:pPr algn="ctr">
              <a:defRPr/>
            </a:pPr>
            <a:r>
              <a:rPr lang="en" altLang="zh-CN" sz="4000" b="1" spc="300" dirty="0">
                <a:solidFill>
                  <a:schemeClr val="tx1">
                    <a:lumMod val="85000"/>
                    <a:lumOff val="15000"/>
                  </a:schemeClr>
                </a:solidFill>
                <a:latin typeface="Arial" panose="020B0604020202020204" pitchFamily="34" charset="0"/>
                <a:ea typeface="Microsoft YaHei" panose="020B0503020204020204" pitchFamily="34" charset="-122"/>
                <a:cs typeface="+mn-ea"/>
                <a:sym typeface="Arial" panose="020B0604020202020204" pitchFamily="34" charset="0"/>
              </a:rPr>
              <a:t>Medical Imaging × AI for Interventional Guidance</a:t>
            </a:r>
          </a:p>
        </p:txBody>
      </p:sp>
      <p:sp>
        <p:nvSpPr>
          <p:cNvPr id="154" name="矩形 153">
            <a:extLst>
              <a:ext uri="{FF2B5EF4-FFF2-40B4-BE49-F238E27FC236}">
                <a16:creationId xmlns:a16="http://schemas.microsoft.com/office/drawing/2014/main" id="{463D1A49-0BF7-4F07-8315-36DBC4E57D47}"/>
              </a:ext>
            </a:extLst>
          </p:cNvPr>
          <p:cNvSpPr/>
          <p:nvPr/>
        </p:nvSpPr>
        <p:spPr>
          <a:xfrm>
            <a:off x="3384017" y="3681681"/>
            <a:ext cx="5421771" cy="369332"/>
          </a:xfrm>
          <a:prstGeom prst="rect">
            <a:avLst/>
          </a:prstGeom>
        </p:spPr>
        <p:txBody>
          <a:bodyPr wrap="square">
            <a:spAutoFit/>
          </a:bodyPr>
          <a:lstStyle/>
          <a:p>
            <a:pPr lvl="0" algn="dist">
              <a:defRPr/>
            </a:pPr>
            <a:r>
              <a:rPr lang="en" altLang="zh-CN" dirty="0"/>
              <a:t>Research &amp; Project Highlights (Medical Imaging)</a:t>
            </a:r>
          </a:p>
        </p:txBody>
      </p:sp>
      <p:pic>
        <p:nvPicPr>
          <p:cNvPr id="73" name="图片 72" descr="黑白色的标志&#10;&#10;中度可信度描述已自动生成">
            <a:extLst>
              <a:ext uri="{FF2B5EF4-FFF2-40B4-BE49-F238E27FC236}">
                <a16:creationId xmlns:a16="http://schemas.microsoft.com/office/drawing/2014/main" id="{0490B25A-67C6-44AA-8E81-58E643B77A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6798" y="810934"/>
            <a:ext cx="2876210" cy="810200"/>
          </a:xfrm>
          <a:prstGeom prst="rect">
            <a:avLst/>
          </a:prstGeom>
        </p:spPr>
      </p:pic>
      <p:sp>
        <p:nvSpPr>
          <p:cNvPr id="5" name="文本框 4">
            <a:extLst>
              <a:ext uri="{FF2B5EF4-FFF2-40B4-BE49-F238E27FC236}">
                <a16:creationId xmlns:a16="http://schemas.microsoft.com/office/drawing/2014/main" id="{67693220-0BA5-2580-B620-771A250BC89D}"/>
              </a:ext>
            </a:extLst>
          </p:cNvPr>
          <p:cNvSpPr txBox="1"/>
          <p:nvPr/>
        </p:nvSpPr>
        <p:spPr>
          <a:xfrm>
            <a:off x="4909000" y="4598780"/>
            <a:ext cx="2535694" cy="369332"/>
          </a:xfrm>
          <a:prstGeom prst="rect">
            <a:avLst/>
          </a:prstGeom>
          <a:noFill/>
        </p:spPr>
        <p:txBody>
          <a:bodyPr wrap="none" rtlCol="0">
            <a:spAutoFit/>
          </a:bodyPr>
          <a:lstStyle/>
          <a:p>
            <a:r>
              <a:rPr kumimoji="1" lang="en-US" altLang="zh-CN" dirty="0"/>
              <a:t>Yihao</a:t>
            </a:r>
            <a:r>
              <a:rPr kumimoji="1" lang="zh-CN" altLang="en-US" dirty="0"/>
              <a:t> </a:t>
            </a:r>
            <a:r>
              <a:rPr kumimoji="1" lang="en-US" altLang="zh-CN" dirty="0"/>
              <a:t>Chen</a:t>
            </a:r>
            <a:r>
              <a:rPr kumimoji="1" lang="zh-CN" altLang="en-US" dirty="0"/>
              <a:t>（陈奕好）</a:t>
            </a:r>
          </a:p>
        </p:txBody>
      </p:sp>
      <p:sp>
        <p:nvSpPr>
          <p:cNvPr id="7" name="文本框 6">
            <a:extLst>
              <a:ext uri="{FF2B5EF4-FFF2-40B4-BE49-F238E27FC236}">
                <a16:creationId xmlns:a16="http://schemas.microsoft.com/office/drawing/2014/main" id="{5BCCA511-615C-DAC9-FF8F-4A23ADA683B0}"/>
              </a:ext>
            </a:extLst>
          </p:cNvPr>
          <p:cNvSpPr txBox="1"/>
          <p:nvPr/>
        </p:nvSpPr>
        <p:spPr>
          <a:xfrm>
            <a:off x="3879128" y="5152779"/>
            <a:ext cx="4431550" cy="369332"/>
          </a:xfrm>
          <a:prstGeom prst="rect">
            <a:avLst/>
          </a:prstGeom>
          <a:noFill/>
        </p:spPr>
        <p:txBody>
          <a:bodyPr wrap="square">
            <a:spAutoFit/>
          </a:bodyPr>
          <a:lstStyle/>
          <a:p>
            <a:r>
              <a:rPr lang="en" altLang="zh-CN" dirty="0"/>
              <a:t>College of Engineering, Peking University</a:t>
            </a:r>
          </a:p>
        </p:txBody>
      </p:sp>
      <p:sp>
        <p:nvSpPr>
          <p:cNvPr id="8" name="文本框 7">
            <a:extLst>
              <a:ext uri="{FF2B5EF4-FFF2-40B4-BE49-F238E27FC236}">
                <a16:creationId xmlns:a16="http://schemas.microsoft.com/office/drawing/2014/main" id="{139ABADE-63B5-5F9C-43BD-EC4026D61713}"/>
              </a:ext>
            </a:extLst>
          </p:cNvPr>
          <p:cNvSpPr txBox="1"/>
          <p:nvPr/>
        </p:nvSpPr>
        <p:spPr>
          <a:xfrm>
            <a:off x="5451875" y="5723401"/>
            <a:ext cx="1159292" cy="369332"/>
          </a:xfrm>
          <a:prstGeom prst="rect">
            <a:avLst/>
          </a:prstGeom>
          <a:noFill/>
        </p:spPr>
        <p:txBody>
          <a:bodyPr wrap="none" rtlCol="0">
            <a:spAutoFit/>
          </a:bodyPr>
          <a:lstStyle/>
          <a:p>
            <a:r>
              <a:rPr lang="en-US" altLang="zh-CN" dirty="0"/>
              <a:t>Feb</a:t>
            </a:r>
            <a:r>
              <a:rPr lang="zh-CN" altLang="en-US" dirty="0"/>
              <a:t> </a:t>
            </a:r>
            <a:r>
              <a:rPr lang="en-US" altLang="zh-CN" dirty="0"/>
              <a:t>2026</a:t>
            </a:r>
            <a:endParaRPr kumimoji="1" lang="zh-CN" altLang="en-US" dirty="0"/>
          </a:p>
        </p:txBody>
      </p:sp>
      <p:sp>
        <p:nvSpPr>
          <p:cNvPr id="9" name="文本框 8">
            <a:extLst>
              <a:ext uri="{FF2B5EF4-FFF2-40B4-BE49-F238E27FC236}">
                <a16:creationId xmlns:a16="http://schemas.microsoft.com/office/drawing/2014/main" id="{25A601F2-DCB4-CBA6-297C-E882EB6A1EB9}"/>
              </a:ext>
            </a:extLst>
          </p:cNvPr>
          <p:cNvSpPr txBox="1"/>
          <p:nvPr/>
        </p:nvSpPr>
        <p:spPr>
          <a:xfrm>
            <a:off x="9727024" y="6240675"/>
            <a:ext cx="2347117" cy="523220"/>
          </a:xfrm>
          <a:prstGeom prst="rect">
            <a:avLst/>
          </a:prstGeom>
          <a:noFill/>
        </p:spPr>
        <p:txBody>
          <a:bodyPr wrap="none" rtlCol="0">
            <a:spAutoFit/>
          </a:bodyPr>
          <a:lstStyle/>
          <a:p>
            <a:pPr algn="r"/>
            <a:r>
              <a:rPr kumimoji="1" lang="en-US" altLang="zh-CN" sz="1400" dirty="0">
                <a:hlinkClick r:id="rId5"/>
              </a:rPr>
              <a:t>chenyihao@stu.pku.edu.cn</a:t>
            </a:r>
            <a:endParaRPr kumimoji="1" lang="en-US" altLang="zh-CN" sz="1400" dirty="0"/>
          </a:p>
          <a:p>
            <a:pPr algn="r"/>
            <a:r>
              <a:rPr kumimoji="1" lang="en-US" altLang="zh-CN" sz="1400" dirty="0" err="1"/>
              <a:t>github.com</a:t>
            </a:r>
            <a:r>
              <a:rPr kumimoji="1" lang="en-US" altLang="zh-CN" sz="1400" dirty="0"/>
              <a:t>/</a:t>
            </a:r>
            <a:r>
              <a:rPr kumimoji="1" lang="en-US" altLang="zh-CN" sz="1400" dirty="0" err="1"/>
              <a:t>ChenNeuro</a:t>
            </a:r>
            <a:endParaRPr kumimoji="1" lang="zh-CN" altLang="en-US" sz="1400" dirty="0"/>
          </a:p>
        </p:txBody>
      </p:sp>
    </p:spTree>
    <p:extLst>
      <p:ext uri="{BB962C8B-B14F-4D97-AF65-F5344CB8AC3E}">
        <p14:creationId xmlns:p14="http://schemas.microsoft.com/office/powerpoint/2010/main" val="561202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B15C2478-5AB4-4541-8008-6447EAA4B2AA}"/>
              </a:ext>
            </a:extLst>
          </p:cNvPr>
          <p:cNvSpPr txBox="1"/>
          <p:nvPr/>
        </p:nvSpPr>
        <p:spPr>
          <a:xfrm>
            <a:off x="1325434" y="555760"/>
            <a:ext cx="264304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Agenda</a:t>
            </a:r>
            <a:endParaRPr kumimoji="0" lang="zh-CN" altLang="en-US"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34" name="组合 33">
            <a:extLst>
              <a:ext uri="{FF2B5EF4-FFF2-40B4-BE49-F238E27FC236}">
                <a16:creationId xmlns:a16="http://schemas.microsoft.com/office/drawing/2014/main" id="{EDE5656F-E7F2-4BB5-8260-3F1B1062A952}"/>
              </a:ext>
            </a:extLst>
          </p:cNvPr>
          <p:cNvGrpSpPr/>
          <p:nvPr/>
        </p:nvGrpSpPr>
        <p:grpSpPr>
          <a:xfrm>
            <a:off x="1296445" y="1708944"/>
            <a:ext cx="10345387" cy="839888"/>
            <a:chOff x="1296445" y="1777506"/>
            <a:chExt cx="10345387" cy="839888"/>
          </a:xfrm>
        </p:grpSpPr>
        <p:sp>
          <p:nvSpPr>
            <p:cNvPr id="40" name="文本框 39">
              <a:extLst>
                <a:ext uri="{FF2B5EF4-FFF2-40B4-BE49-F238E27FC236}">
                  <a16:creationId xmlns:a16="http://schemas.microsoft.com/office/drawing/2014/main" id="{CC28C0EC-7349-4528-9D9B-77994BDA48DA}"/>
                </a:ext>
              </a:extLst>
            </p:cNvPr>
            <p:cNvSpPr txBox="1"/>
            <p:nvPr/>
          </p:nvSpPr>
          <p:spPr>
            <a:xfrm>
              <a:off x="1912863" y="2155729"/>
              <a:ext cx="9728969" cy="461665"/>
            </a:xfrm>
            <a:prstGeom prst="rect">
              <a:avLst/>
            </a:prstGeom>
            <a:noFill/>
          </p:spPr>
          <p:txBody>
            <a:bodyPr wrap="square" rtlCol="0">
              <a:spAutoFit/>
            </a:bodyPr>
            <a:lstStyle/>
            <a:p>
              <a:r>
                <a:rPr lang="en" altLang="zh-CN" sz="2400" dirty="0"/>
                <a:t>Quick intro &amp; strengths (skills + working style)</a:t>
              </a:r>
            </a:p>
          </p:txBody>
        </p:sp>
        <p:grpSp>
          <p:nvGrpSpPr>
            <p:cNvPr id="41" name="组合 40">
              <a:extLst>
                <a:ext uri="{FF2B5EF4-FFF2-40B4-BE49-F238E27FC236}">
                  <a16:creationId xmlns:a16="http://schemas.microsoft.com/office/drawing/2014/main" id="{9786FD86-9D1D-445F-BBA9-963D34E58544}"/>
                </a:ext>
              </a:extLst>
            </p:cNvPr>
            <p:cNvGrpSpPr/>
            <p:nvPr/>
          </p:nvGrpSpPr>
          <p:grpSpPr>
            <a:xfrm>
              <a:off x="1296445" y="1777506"/>
              <a:ext cx="800100" cy="713161"/>
              <a:chOff x="6976951" y="1586703"/>
              <a:chExt cx="800100" cy="713161"/>
            </a:xfrm>
          </p:grpSpPr>
          <p:cxnSp>
            <p:nvCxnSpPr>
              <p:cNvPr id="43" name="直接连接符 42">
                <a:extLst>
                  <a:ext uri="{FF2B5EF4-FFF2-40B4-BE49-F238E27FC236}">
                    <a16:creationId xmlns:a16="http://schemas.microsoft.com/office/drawing/2014/main" id="{BFD77076-092D-4EC2-879D-E900573D34D4}"/>
                  </a:ext>
                </a:extLst>
              </p:cNvPr>
              <p:cNvCxnSpPr/>
              <p:nvPr/>
            </p:nvCxnSpPr>
            <p:spPr>
              <a:xfrm flipH="1">
                <a:off x="7160632" y="1829707"/>
                <a:ext cx="432738" cy="47015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44A5F994-68CE-4016-B167-C1775E3994E9}"/>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1</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grpSp>
        <p:nvGrpSpPr>
          <p:cNvPr id="51" name="组合 50">
            <a:extLst>
              <a:ext uri="{FF2B5EF4-FFF2-40B4-BE49-F238E27FC236}">
                <a16:creationId xmlns:a16="http://schemas.microsoft.com/office/drawing/2014/main" id="{12147FF2-3F2C-4EA4-96F6-1368A521E62E}"/>
              </a:ext>
            </a:extLst>
          </p:cNvPr>
          <p:cNvGrpSpPr/>
          <p:nvPr/>
        </p:nvGrpSpPr>
        <p:grpSpPr>
          <a:xfrm>
            <a:off x="1296445" y="2823351"/>
            <a:ext cx="800100" cy="713161"/>
            <a:chOff x="6976951" y="1586703"/>
            <a:chExt cx="800100" cy="713161"/>
          </a:xfrm>
        </p:grpSpPr>
        <p:sp>
          <p:nvSpPr>
            <p:cNvPr id="52" name="文本框 51">
              <a:extLst>
                <a:ext uri="{FF2B5EF4-FFF2-40B4-BE49-F238E27FC236}">
                  <a16:creationId xmlns:a16="http://schemas.microsoft.com/office/drawing/2014/main" id="{5290D6EA-4373-4E3B-8637-81646F1A7B79}"/>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2</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3" name="直接连接符 52">
              <a:extLst>
                <a:ext uri="{FF2B5EF4-FFF2-40B4-BE49-F238E27FC236}">
                  <a16:creationId xmlns:a16="http://schemas.microsoft.com/office/drawing/2014/main" id="{65BC728A-0A27-477D-9233-0A149548E323}"/>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9363B11F-148D-4857-9335-0D8BC165C35A}"/>
              </a:ext>
            </a:extLst>
          </p:cNvPr>
          <p:cNvGrpSpPr/>
          <p:nvPr/>
        </p:nvGrpSpPr>
        <p:grpSpPr>
          <a:xfrm>
            <a:off x="1296445" y="3940656"/>
            <a:ext cx="10072140" cy="799797"/>
            <a:chOff x="1296445" y="1777506"/>
            <a:chExt cx="10072140" cy="799797"/>
          </a:xfrm>
        </p:grpSpPr>
        <p:sp>
          <p:nvSpPr>
            <p:cNvPr id="55" name="文本框 54">
              <a:extLst>
                <a:ext uri="{FF2B5EF4-FFF2-40B4-BE49-F238E27FC236}">
                  <a16:creationId xmlns:a16="http://schemas.microsoft.com/office/drawing/2014/main" id="{4502F672-83C0-4117-BF9E-9961F1D92E3C}"/>
                </a:ext>
              </a:extLst>
            </p:cNvPr>
            <p:cNvSpPr txBox="1"/>
            <p:nvPr/>
          </p:nvSpPr>
          <p:spPr>
            <a:xfrm>
              <a:off x="1830685" y="2115638"/>
              <a:ext cx="9537900" cy="461665"/>
            </a:xfrm>
            <a:prstGeom prst="rect">
              <a:avLst/>
            </a:prstGeom>
            <a:noFill/>
          </p:spPr>
          <p:txBody>
            <a:bodyPr wrap="square" rtlCol="0">
              <a:spAutoFit/>
            </a:bodyPr>
            <a:lstStyle/>
            <a:p>
              <a:pPr lvl="0">
                <a:defRPr/>
              </a:pPr>
              <a:endParaRPr kumimoji="0" lang="zh-CN" altLang="en-US" sz="2400" b="0" i="0" u="none" strike="noStrike" kern="1200" cap="none" spc="40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56" name="组合 55">
              <a:extLst>
                <a:ext uri="{FF2B5EF4-FFF2-40B4-BE49-F238E27FC236}">
                  <a16:creationId xmlns:a16="http://schemas.microsoft.com/office/drawing/2014/main" id="{C8BCFD56-2E86-469C-8238-014884FF8E74}"/>
                </a:ext>
              </a:extLst>
            </p:cNvPr>
            <p:cNvGrpSpPr/>
            <p:nvPr/>
          </p:nvGrpSpPr>
          <p:grpSpPr>
            <a:xfrm>
              <a:off x="1296445" y="1777506"/>
              <a:ext cx="800100" cy="713161"/>
              <a:chOff x="6976951" y="1586703"/>
              <a:chExt cx="800100" cy="713161"/>
            </a:xfrm>
          </p:grpSpPr>
          <p:sp>
            <p:nvSpPr>
              <p:cNvPr id="57" name="文本框 56">
                <a:extLst>
                  <a:ext uri="{FF2B5EF4-FFF2-40B4-BE49-F238E27FC236}">
                    <a16:creationId xmlns:a16="http://schemas.microsoft.com/office/drawing/2014/main" id="{B285BD03-11C0-4CAA-94AC-C14495F4C37D}"/>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3</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8" name="直接连接符 57">
                <a:extLst>
                  <a:ext uri="{FF2B5EF4-FFF2-40B4-BE49-F238E27FC236}">
                    <a16:creationId xmlns:a16="http://schemas.microsoft.com/office/drawing/2014/main" id="{94423372-D8CA-4EA5-A40C-6E2DC355B017}"/>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61" name="组合 60">
            <a:extLst>
              <a:ext uri="{FF2B5EF4-FFF2-40B4-BE49-F238E27FC236}">
                <a16:creationId xmlns:a16="http://schemas.microsoft.com/office/drawing/2014/main" id="{C25F860F-1967-4D0C-A54D-9A5962D626C2}"/>
              </a:ext>
            </a:extLst>
          </p:cNvPr>
          <p:cNvGrpSpPr/>
          <p:nvPr/>
        </p:nvGrpSpPr>
        <p:grpSpPr>
          <a:xfrm>
            <a:off x="1325434" y="5276868"/>
            <a:ext cx="800100" cy="713161"/>
            <a:chOff x="6976951" y="1586703"/>
            <a:chExt cx="800100" cy="713161"/>
          </a:xfrm>
        </p:grpSpPr>
        <p:sp>
          <p:nvSpPr>
            <p:cNvPr id="62" name="文本框 61">
              <a:extLst>
                <a:ext uri="{FF2B5EF4-FFF2-40B4-BE49-F238E27FC236}">
                  <a16:creationId xmlns:a16="http://schemas.microsoft.com/office/drawing/2014/main" id="{EAD6E1CD-0284-4A52-890E-715E79BF4A3E}"/>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4</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63" name="直接连接符 62">
              <a:extLst>
                <a:ext uri="{FF2B5EF4-FFF2-40B4-BE49-F238E27FC236}">
                  <a16:creationId xmlns:a16="http://schemas.microsoft.com/office/drawing/2014/main" id="{9E2E41A3-97DB-49C9-88F0-51B44C0C1FD5}"/>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157F361D-395C-D4EE-6F64-2C41D5EF49AC}"/>
              </a:ext>
            </a:extLst>
          </p:cNvPr>
          <p:cNvSpPr txBox="1"/>
          <p:nvPr/>
        </p:nvSpPr>
        <p:spPr>
          <a:xfrm>
            <a:off x="1912861" y="3301317"/>
            <a:ext cx="9728969" cy="461665"/>
          </a:xfrm>
          <a:prstGeom prst="rect">
            <a:avLst/>
          </a:prstGeom>
          <a:noFill/>
        </p:spPr>
        <p:txBody>
          <a:bodyPr wrap="square" rtlCol="0">
            <a:spAutoFit/>
          </a:bodyPr>
          <a:lstStyle/>
          <a:p>
            <a:r>
              <a:rPr lang="en" altLang="zh-CN" sz="2400" dirty="0"/>
              <a:t>Background &amp; research interests (medical imaging)</a:t>
            </a:r>
          </a:p>
        </p:txBody>
      </p:sp>
      <p:sp>
        <p:nvSpPr>
          <p:cNvPr id="6" name="文本框 5">
            <a:extLst>
              <a:ext uri="{FF2B5EF4-FFF2-40B4-BE49-F238E27FC236}">
                <a16:creationId xmlns:a16="http://schemas.microsoft.com/office/drawing/2014/main" id="{86EE6C5F-836B-8FF7-6EC8-08AB6D5A6A22}"/>
              </a:ext>
            </a:extLst>
          </p:cNvPr>
          <p:cNvSpPr txBox="1"/>
          <p:nvPr/>
        </p:nvSpPr>
        <p:spPr>
          <a:xfrm>
            <a:off x="1912862" y="4445871"/>
            <a:ext cx="9728969" cy="830997"/>
          </a:xfrm>
          <a:prstGeom prst="rect">
            <a:avLst/>
          </a:prstGeom>
          <a:noFill/>
        </p:spPr>
        <p:txBody>
          <a:bodyPr wrap="square" rtlCol="0">
            <a:spAutoFit/>
          </a:bodyPr>
          <a:lstStyle/>
          <a:p>
            <a:r>
              <a:rPr lang="en" altLang="zh-CN" sz="2400" dirty="0"/>
              <a:t>Ongoing</a:t>
            </a:r>
            <a:r>
              <a:rPr lang="zh-CN" altLang="en-US" sz="2400" dirty="0"/>
              <a:t> </a:t>
            </a:r>
            <a:r>
              <a:rPr lang="en" altLang="zh-CN" sz="2400" dirty="0"/>
              <a:t>Projects: coronary reconstruction, CT–DSA 3D–2D registration, vessel topology modeling</a:t>
            </a:r>
          </a:p>
        </p:txBody>
      </p:sp>
      <p:sp>
        <p:nvSpPr>
          <p:cNvPr id="7" name="文本框 6">
            <a:extLst>
              <a:ext uri="{FF2B5EF4-FFF2-40B4-BE49-F238E27FC236}">
                <a16:creationId xmlns:a16="http://schemas.microsoft.com/office/drawing/2014/main" id="{7AC3019F-9F3A-BF3C-F432-CDDCFBCF8D1C}"/>
              </a:ext>
            </a:extLst>
          </p:cNvPr>
          <p:cNvSpPr txBox="1"/>
          <p:nvPr/>
        </p:nvSpPr>
        <p:spPr>
          <a:xfrm>
            <a:off x="1941851" y="5725782"/>
            <a:ext cx="9728969" cy="461665"/>
          </a:xfrm>
          <a:prstGeom prst="rect">
            <a:avLst/>
          </a:prstGeom>
          <a:noFill/>
        </p:spPr>
        <p:txBody>
          <a:bodyPr wrap="square" rtlCol="0">
            <a:spAutoFit/>
          </a:bodyPr>
          <a:lstStyle/>
          <a:p>
            <a:r>
              <a:rPr lang="en" altLang="zh-CN" sz="2400" dirty="0"/>
              <a:t>Discussion</a:t>
            </a:r>
          </a:p>
        </p:txBody>
      </p:sp>
    </p:spTree>
    <p:extLst>
      <p:ext uri="{BB962C8B-B14F-4D97-AF65-F5344CB8AC3E}">
        <p14:creationId xmlns:p14="http://schemas.microsoft.com/office/powerpoint/2010/main" val="2515930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57FD-4720-ED88-5C92-03ECECEBE89A}"/>
            </a:ext>
          </a:extLst>
        </p:cNvPr>
        <p:cNvGrpSpPr/>
        <p:nvPr/>
      </p:nvGrpSpPr>
      <p:grpSpPr>
        <a:xfrm>
          <a:off x="0" y="0"/>
          <a:ext cx="0" cy="0"/>
          <a:chOff x="0" y="0"/>
          <a:chExt cx="0" cy="0"/>
        </a:xfrm>
      </p:grpSpPr>
      <p:cxnSp>
        <p:nvCxnSpPr>
          <p:cNvPr id="62" name="直接连接符 61">
            <a:extLst>
              <a:ext uri="{FF2B5EF4-FFF2-40B4-BE49-F238E27FC236}">
                <a16:creationId xmlns:a16="http://schemas.microsoft.com/office/drawing/2014/main" id="{79F14234-CCA4-9D7A-1198-781E5853AC7A}"/>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DB07C39C-1F27-2E9C-01AE-1CD99DE5893E}"/>
              </a:ext>
            </a:extLst>
          </p:cNvPr>
          <p:cNvSpPr txBox="1"/>
          <p:nvPr/>
        </p:nvSpPr>
        <p:spPr>
          <a:xfrm>
            <a:off x="452512" y="300592"/>
            <a:ext cx="8377589" cy="461665"/>
          </a:xfrm>
          <a:prstGeom prst="rect">
            <a:avLst/>
          </a:prstGeom>
          <a:noFill/>
        </p:spPr>
        <p:txBody>
          <a:bodyPr wrap="square" rtlCol="0">
            <a:spAutoFit/>
          </a:bodyPr>
          <a:lstStyle/>
          <a:p>
            <a:r>
              <a:rPr lang="en" altLang="zh-CN" sz="2400" b="1" dirty="0">
                <a:solidFill>
                  <a:schemeClr val="accent1"/>
                </a:solidFill>
                <a:latin typeface="+mj-ea"/>
                <a:ea typeface="+mj-ea"/>
              </a:rPr>
              <a:t>Quick intro &amp; strengths</a:t>
            </a:r>
          </a:p>
        </p:txBody>
      </p:sp>
      <p:pic>
        <p:nvPicPr>
          <p:cNvPr id="65" name="图片 64" descr="黑白色的标志&#10;&#10;中度可信度描述已自动生成">
            <a:extLst>
              <a:ext uri="{FF2B5EF4-FFF2-40B4-BE49-F238E27FC236}">
                <a16:creationId xmlns:a16="http://schemas.microsoft.com/office/drawing/2014/main" id="{D000B97A-3E71-9649-525E-D555C75AFC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grpSp>
        <p:nvGrpSpPr>
          <p:cNvPr id="4" name="组合 3">
            <a:extLst>
              <a:ext uri="{FF2B5EF4-FFF2-40B4-BE49-F238E27FC236}">
                <a16:creationId xmlns:a16="http://schemas.microsoft.com/office/drawing/2014/main" id="{BFAB3C14-99F8-AD4B-BCE7-027EA6B65685}"/>
              </a:ext>
            </a:extLst>
          </p:cNvPr>
          <p:cNvGrpSpPr/>
          <p:nvPr/>
        </p:nvGrpSpPr>
        <p:grpSpPr>
          <a:xfrm>
            <a:off x="1485082" y="1465262"/>
            <a:ext cx="9710179" cy="4524374"/>
            <a:chOff x="1476615" y="1465262"/>
            <a:chExt cx="9710179" cy="4524374"/>
          </a:xfrm>
        </p:grpSpPr>
        <p:sp>
          <p:nvSpPr>
            <p:cNvPr id="14" name="矩形 13">
              <a:extLst>
                <a:ext uri="{FF2B5EF4-FFF2-40B4-BE49-F238E27FC236}">
                  <a16:creationId xmlns:a16="http://schemas.microsoft.com/office/drawing/2014/main" id="{DCBE7EA4-2A7C-9B31-C57F-EB8B418B7D47}"/>
                </a:ext>
              </a:extLst>
            </p:cNvPr>
            <p:cNvSpPr/>
            <p:nvPr/>
          </p:nvSpPr>
          <p:spPr>
            <a:xfrm>
              <a:off x="1476615" y="1465262"/>
              <a:ext cx="9710179" cy="4524374"/>
            </a:xfrm>
            <a:prstGeom prst="rect">
              <a:avLst/>
            </a:prstGeom>
            <a:solidFill>
              <a:srgbClr val="FFFFFF"/>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背景图案&#10;&#10;描述已自动生成">
              <a:extLst>
                <a:ext uri="{FF2B5EF4-FFF2-40B4-BE49-F238E27FC236}">
                  <a16:creationId xmlns:a16="http://schemas.microsoft.com/office/drawing/2014/main" id="{AA80CA6D-D581-458E-5EC4-C7409600B9CF}"/>
                </a:ext>
              </a:extLst>
            </p:cNvPr>
            <p:cNvPicPr>
              <a:picLocks noChangeAspect="1"/>
            </p:cNvPicPr>
            <p:nvPr/>
          </p:nvPicPr>
          <p:blipFill>
            <a:blip r:embed="rId4">
              <a:alphaModFix amt="47000"/>
              <a:extLst>
                <a:ext uri="{28A0092B-C50C-407E-A947-70E740481C1C}">
                  <a14:useLocalDpi xmlns:a14="http://schemas.microsoft.com/office/drawing/2010/main" val="0"/>
                </a:ext>
              </a:extLst>
            </a:blip>
            <a:stretch>
              <a:fillRect/>
            </a:stretch>
          </p:blipFill>
          <p:spPr>
            <a:xfrm>
              <a:off x="8691879" y="3330220"/>
              <a:ext cx="2494915" cy="2659415"/>
            </a:xfrm>
            <a:prstGeom prst="rect">
              <a:avLst/>
            </a:prstGeom>
          </p:spPr>
        </p:pic>
      </p:grpSp>
      <p:sp>
        <p:nvSpPr>
          <p:cNvPr id="6" name="矩形 5">
            <a:extLst>
              <a:ext uri="{FF2B5EF4-FFF2-40B4-BE49-F238E27FC236}">
                <a16:creationId xmlns:a16="http://schemas.microsoft.com/office/drawing/2014/main" id="{97DAC6D1-996D-33BC-FDA7-FB92F78157E9}"/>
              </a:ext>
            </a:extLst>
          </p:cNvPr>
          <p:cNvSpPr/>
          <p:nvPr/>
        </p:nvSpPr>
        <p:spPr>
          <a:xfrm>
            <a:off x="5709338" y="2049692"/>
            <a:ext cx="5358968" cy="678647"/>
          </a:xfrm>
          <a:prstGeom prst="rect">
            <a:avLst/>
          </a:prstGeom>
        </p:spPr>
        <p:txBody>
          <a:bodyPr wrap="none">
            <a:spAutoFit/>
          </a:bodyPr>
          <a:lstStyle/>
          <a:p>
            <a:pPr indent="52927" defTabSz="181463"/>
            <a:r>
              <a:rPr lang="en-US" altLang="zh-CN" sz="3810" dirty="0">
                <a:latin typeface="Arial" panose="020B0604020202020204" pitchFamily="34" charset="0"/>
                <a:ea typeface="Microsoft YaHei" panose="020B0503020204020204" pitchFamily="34" charset="-122"/>
                <a:cs typeface="+mn-ea"/>
                <a:sym typeface="Arial" panose="020B0604020202020204" pitchFamily="34" charset="0"/>
              </a:rPr>
              <a:t>Yihao Chen</a:t>
            </a:r>
            <a:r>
              <a:rPr lang="zh-CN" altLang="en-US" sz="3810" dirty="0">
                <a:latin typeface="Arial" panose="020B0604020202020204" pitchFamily="34" charset="0"/>
                <a:ea typeface="Microsoft YaHei" panose="020B0503020204020204" pitchFamily="34" charset="-122"/>
                <a:cs typeface="+mn-ea"/>
                <a:sym typeface="Arial" panose="020B0604020202020204" pitchFamily="34" charset="0"/>
              </a:rPr>
              <a:t>（陈奕好）</a:t>
            </a:r>
            <a:endParaRPr lang="zh-CN" altLang="zh-CN" sz="3810" dirty="0">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7" name="任意多边形: 形状 6">
            <a:extLst>
              <a:ext uri="{FF2B5EF4-FFF2-40B4-BE49-F238E27FC236}">
                <a16:creationId xmlns:a16="http://schemas.microsoft.com/office/drawing/2014/main" id="{1D56269C-476F-E037-D339-DBF0C1A58977}"/>
              </a:ext>
            </a:extLst>
          </p:cNvPr>
          <p:cNvSpPr/>
          <p:nvPr/>
        </p:nvSpPr>
        <p:spPr>
          <a:xfrm>
            <a:off x="5829996" y="2847698"/>
            <a:ext cx="4306871" cy="107083"/>
          </a:xfrm>
          <a:custGeom>
            <a:avLst/>
            <a:gdLst>
              <a:gd name="connsiteX0" fmla="*/ 0 w 10668000"/>
              <a:gd name="connsiteY0" fmla="*/ 0 h 0"/>
              <a:gd name="connsiteX1" fmla="*/ 10668000 w 10668000"/>
              <a:gd name="connsiteY1" fmla="*/ 0 h 0"/>
            </a:gdLst>
            <a:ahLst/>
            <a:cxnLst>
              <a:cxn ang="0">
                <a:pos x="connsiteX0" y="connsiteY0"/>
              </a:cxn>
              <a:cxn ang="0">
                <a:pos x="connsiteX1" y="connsiteY1"/>
              </a:cxn>
            </a:cxnLst>
            <a:rect l="l" t="t" r="r" b="b"/>
            <a:pathLst>
              <a:path w="10668000">
                <a:moveTo>
                  <a:pt x="0" y="0"/>
                </a:moveTo>
                <a:lnTo>
                  <a:pt x="10668000" y="0"/>
                </a:lnTo>
              </a:path>
            </a:pathLst>
          </a:custGeom>
          <a:noFill/>
          <a:ln w="19050">
            <a:gradFill flip="none" rotWithShape="1">
              <a:gsLst>
                <a:gs pos="0">
                  <a:schemeClr val="accent1">
                    <a:alpha val="0"/>
                  </a:schemeClr>
                </a:gs>
                <a:gs pos="100000">
                  <a:schemeClr val="accent1"/>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1463"/>
            <a:endParaRPr lang="zh-CN" altLang="en-US" sz="714" dirty="0">
              <a:solidFill>
                <a:schemeClr val="tx1"/>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8" name="矩形 7">
            <a:extLst>
              <a:ext uri="{FF2B5EF4-FFF2-40B4-BE49-F238E27FC236}">
                <a16:creationId xmlns:a16="http://schemas.microsoft.com/office/drawing/2014/main" id="{6C4D3861-5233-29B0-EDA8-35D6AD435A39}"/>
              </a:ext>
            </a:extLst>
          </p:cNvPr>
          <p:cNvSpPr/>
          <p:nvPr/>
        </p:nvSpPr>
        <p:spPr>
          <a:xfrm>
            <a:off x="5829997" y="2992216"/>
            <a:ext cx="5490062" cy="584775"/>
          </a:xfrm>
          <a:prstGeom prst="rect">
            <a:avLst/>
          </a:prstGeom>
        </p:spPr>
        <p:txBody>
          <a:bodyPr wrap="square">
            <a:spAutoFit/>
          </a:bodyPr>
          <a:lstStyle/>
          <a:p>
            <a:r>
              <a:rPr lang="en" altLang="zh-CN" sz="1600" b="1" dirty="0"/>
              <a:t>Medical Imaging | 3D–2D Registration | Temporal Modeling</a:t>
            </a:r>
          </a:p>
        </p:txBody>
      </p:sp>
      <p:sp>
        <p:nvSpPr>
          <p:cNvPr id="9" name="矩形 8">
            <a:extLst>
              <a:ext uri="{FF2B5EF4-FFF2-40B4-BE49-F238E27FC236}">
                <a16:creationId xmlns:a16="http://schemas.microsoft.com/office/drawing/2014/main" id="{7D9C7068-65C5-76BA-4AA3-7A6876F5413E}"/>
              </a:ext>
            </a:extLst>
          </p:cNvPr>
          <p:cNvSpPr/>
          <p:nvPr/>
        </p:nvSpPr>
        <p:spPr>
          <a:xfrm>
            <a:off x="5829996" y="3657786"/>
            <a:ext cx="4784005" cy="2062103"/>
          </a:xfrm>
          <a:prstGeom prst="rect">
            <a:avLst/>
          </a:prstGeom>
        </p:spPr>
        <p:txBody>
          <a:bodyPr wrap="square">
            <a:spAutoFit/>
          </a:bodyPr>
          <a:lstStyle/>
          <a:p>
            <a:pPr marL="285750" indent="-285750">
              <a:spcAft>
                <a:spcPts val="0"/>
              </a:spcAft>
              <a:buFont typeface="Arial" panose="020B0604020202020204" pitchFamily="34" charset="0"/>
              <a:buChar char="•"/>
              <a:defRPr sz="1800"/>
            </a:pPr>
            <a:r>
              <a:rPr lang="en" altLang="zh-CN" sz="1600" dirty="0"/>
              <a:t>Build end-to-end imaging pipelines (data → preprocessing → model → evaluation)</a:t>
            </a:r>
          </a:p>
          <a:p>
            <a:pPr marL="285750" indent="-285750">
              <a:spcAft>
                <a:spcPts val="0"/>
              </a:spcAft>
              <a:buFont typeface="Arial" panose="020B0604020202020204" pitchFamily="34" charset="0"/>
              <a:buChar char="•"/>
              <a:defRPr sz="1800"/>
            </a:pPr>
            <a:r>
              <a:rPr lang="en" altLang="zh-CN" sz="1600" dirty="0"/>
              <a:t>Combine geometry constraints with learning (registration, centerline/topology priors)</a:t>
            </a:r>
          </a:p>
          <a:p>
            <a:pPr marL="285750" indent="-285750">
              <a:spcAft>
                <a:spcPts val="0"/>
              </a:spcAft>
              <a:buFont typeface="Arial" panose="020B0604020202020204" pitchFamily="34" charset="0"/>
              <a:buChar char="•"/>
              <a:defRPr sz="1800"/>
            </a:pPr>
            <a:r>
              <a:rPr lang="en" altLang="zh-CN" sz="1600" dirty="0"/>
              <a:t>Reproducible research habits: scripts, ablations, reports</a:t>
            </a:r>
          </a:p>
          <a:p>
            <a:pPr marL="285750" indent="-285750">
              <a:spcAft>
                <a:spcPts val="0"/>
              </a:spcAft>
              <a:buFont typeface="Arial" panose="020B0604020202020204" pitchFamily="34" charset="0"/>
              <a:buChar char="•"/>
              <a:defRPr sz="1800"/>
            </a:pPr>
            <a:r>
              <a:rPr lang="en" altLang="zh-CN" sz="1600" dirty="0"/>
              <a:t>Cross-domain engineering: sensing/robotics experience transfers to real-time systems</a:t>
            </a:r>
          </a:p>
        </p:txBody>
      </p:sp>
      <p:pic>
        <p:nvPicPr>
          <p:cNvPr id="3" name="图片 2">
            <a:extLst>
              <a:ext uri="{FF2B5EF4-FFF2-40B4-BE49-F238E27FC236}">
                <a16:creationId xmlns:a16="http://schemas.microsoft.com/office/drawing/2014/main" id="{C6BD7A53-E20A-8CA2-640C-6C26919696B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rot="5400000">
            <a:off x="1044313" y="2030665"/>
            <a:ext cx="4524537" cy="3393402"/>
          </a:xfrm>
          <a:prstGeom prst="rect">
            <a:avLst/>
          </a:prstGeom>
        </p:spPr>
      </p:pic>
      <p:sp>
        <p:nvSpPr>
          <p:cNvPr id="2" name="灯片编号占位符 1">
            <a:extLst>
              <a:ext uri="{FF2B5EF4-FFF2-40B4-BE49-F238E27FC236}">
                <a16:creationId xmlns:a16="http://schemas.microsoft.com/office/drawing/2014/main" id="{E1E45143-5B27-E503-78F2-D8B6F8F1EDAE}"/>
              </a:ext>
            </a:extLst>
          </p:cNvPr>
          <p:cNvSpPr>
            <a:spLocks noGrp="1"/>
          </p:cNvSpPr>
          <p:nvPr>
            <p:ph type="sldNum" sz="quarter" idx="12"/>
          </p:nvPr>
        </p:nvSpPr>
        <p:spPr/>
        <p:txBody>
          <a:bodyPr/>
          <a:lstStyle/>
          <a:p>
            <a:fld id="{CCBA9D17-A0D3-409F-BFF9-E5BAE63FEE36}" type="slidenum">
              <a:rPr lang="zh-CN" altLang="en-US" smtClean="0"/>
              <a:pPr/>
              <a:t>3</a:t>
            </a:fld>
            <a:endParaRPr lang="zh-CN" altLang="en-US" dirty="0"/>
          </a:p>
        </p:txBody>
      </p:sp>
      <p:sp>
        <p:nvSpPr>
          <p:cNvPr id="10" name="文本框 9">
            <a:extLst>
              <a:ext uri="{FF2B5EF4-FFF2-40B4-BE49-F238E27FC236}">
                <a16:creationId xmlns:a16="http://schemas.microsoft.com/office/drawing/2014/main" id="{28A0FE9A-E286-6428-5B0A-AE2D29ADEE8F}"/>
              </a:ext>
            </a:extLst>
          </p:cNvPr>
          <p:cNvSpPr txBox="1"/>
          <p:nvPr/>
        </p:nvSpPr>
        <p:spPr>
          <a:xfrm>
            <a:off x="5829996" y="6053562"/>
            <a:ext cx="4626085" cy="738664"/>
          </a:xfrm>
          <a:prstGeom prst="rect">
            <a:avLst/>
          </a:prstGeom>
          <a:noFill/>
        </p:spPr>
        <p:txBody>
          <a:bodyPr wrap="square">
            <a:spAutoFit/>
          </a:bodyPr>
          <a:lstStyle/>
          <a:p>
            <a:pPr>
              <a:buNone/>
            </a:pPr>
            <a:r>
              <a:rPr lang="en" altLang="zh-CN" sz="1400" b="1" dirty="0">
                <a:solidFill>
                  <a:schemeClr val="tx1">
                    <a:lumMod val="50000"/>
                    <a:lumOff val="50000"/>
                  </a:schemeClr>
                </a:solidFill>
              </a:rPr>
              <a:t>Interests: multimodal medical foundation models · temporal modeling for cine/DSA · generative reconstruction</a:t>
            </a:r>
          </a:p>
        </p:txBody>
      </p:sp>
    </p:spTree>
    <p:extLst>
      <p:ext uri="{BB962C8B-B14F-4D97-AF65-F5344CB8AC3E}">
        <p14:creationId xmlns:p14="http://schemas.microsoft.com/office/powerpoint/2010/main" val="4090895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5C7BFE9B-1CD8-4E95-B819-7BF15FD90247}"/>
              </a:ext>
            </a:extLst>
          </p:cNvPr>
          <p:cNvCxnSpPr>
            <a:cxnSpLocks/>
          </p:cNvCxnSpPr>
          <p:nvPr/>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DFC742C7-25EC-42DE-BE25-70F1D2F3DB69}"/>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2FF0A074-1447-4830-8230-9D2F0137344D}"/>
              </a:ext>
            </a:extLst>
          </p:cNvPr>
          <p:cNvSpPr txBox="1"/>
          <p:nvPr/>
        </p:nvSpPr>
        <p:spPr>
          <a:xfrm>
            <a:off x="452512" y="300592"/>
            <a:ext cx="4606371" cy="461665"/>
          </a:xfrm>
          <a:prstGeom prst="rect">
            <a:avLst/>
          </a:prstGeom>
          <a:noFill/>
        </p:spPr>
        <p:txBody>
          <a:bodyPr wrap="square" rtlCol="0">
            <a:spAutoFit/>
          </a:bodyPr>
          <a:lstStyle/>
          <a:p>
            <a:r>
              <a:rPr lang="en-US" altLang="zh-CN" sz="2400" b="1" dirty="0">
                <a:solidFill>
                  <a:schemeClr val="accent1"/>
                </a:solidFill>
                <a:latin typeface="+mj-ea"/>
                <a:ea typeface="+mj-ea"/>
              </a:rPr>
              <a:t>Experience map</a:t>
            </a:r>
            <a:endParaRPr lang="zh-CN" altLang="en-US" sz="2400" b="1" dirty="0">
              <a:solidFill>
                <a:schemeClr val="accent1"/>
              </a:solidFill>
              <a:latin typeface="+mj-ea"/>
              <a:ea typeface="+mj-ea"/>
            </a:endParaRPr>
          </a:p>
        </p:txBody>
      </p:sp>
      <p:pic>
        <p:nvPicPr>
          <p:cNvPr id="7" name="图片 6" descr="黑白色的标志&#10;&#10;中度可信度描述已自动生成">
            <a:extLst>
              <a:ext uri="{FF2B5EF4-FFF2-40B4-BE49-F238E27FC236}">
                <a16:creationId xmlns:a16="http://schemas.microsoft.com/office/drawing/2014/main" id="{89630CB9-A218-4E54-A6EF-D66AD72FD6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cxnSp>
        <p:nvCxnSpPr>
          <p:cNvPr id="14" name="直接连接符 13">
            <a:extLst>
              <a:ext uri="{FF2B5EF4-FFF2-40B4-BE49-F238E27FC236}">
                <a16:creationId xmlns:a16="http://schemas.microsoft.com/office/drawing/2014/main" id="{9E44BCA0-583A-48AF-9334-68BB5C060C39}"/>
              </a:ext>
            </a:extLst>
          </p:cNvPr>
          <p:cNvCxnSpPr>
            <a:cxnSpLocks/>
          </p:cNvCxnSpPr>
          <p:nvPr/>
        </p:nvCxnSpPr>
        <p:spPr>
          <a:xfrm>
            <a:off x="1842540" y="3405108"/>
            <a:ext cx="7950827"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15" name="直接连接符 14">
            <a:extLst>
              <a:ext uri="{FF2B5EF4-FFF2-40B4-BE49-F238E27FC236}">
                <a16:creationId xmlns:a16="http://schemas.microsoft.com/office/drawing/2014/main" id="{B255FC0C-766C-4649-9F5B-3AE2018D0452}"/>
              </a:ext>
            </a:extLst>
          </p:cNvPr>
          <p:cNvCxnSpPr>
            <a:cxnSpLocks/>
          </p:cNvCxnSpPr>
          <p:nvPr/>
        </p:nvCxnSpPr>
        <p:spPr>
          <a:xfrm>
            <a:off x="1842540" y="4375845"/>
            <a:ext cx="7950827" cy="0"/>
          </a:xfrm>
          <a:prstGeom prst="line">
            <a:avLst/>
          </a:prstGeom>
        </p:spPr>
        <p:style>
          <a:lnRef idx="1">
            <a:schemeClr val="accent3"/>
          </a:lnRef>
          <a:fillRef idx="0">
            <a:schemeClr val="accent3"/>
          </a:fillRef>
          <a:effectRef idx="0">
            <a:schemeClr val="accent3"/>
          </a:effectRef>
          <a:fontRef idx="minor">
            <a:schemeClr val="tx1"/>
          </a:fontRef>
        </p:style>
      </p:cxnSp>
      <p:sp>
        <p:nvSpPr>
          <p:cNvPr id="10" name="灯片编号占位符 9">
            <a:extLst>
              <a:ext uri="{FF2B5EF4-FFF2-40B4-BE49-F238E27FC236}">
                <a16:creationId xmlns:a16="http://schemas.microsoft.com/office/drawing/2014/main" id="{6A396BDF-E325-4D65-8CEE-C03489FA7CF0}"/>
              </a:ext>
            </a:extLst>
          </p:cNvPr>
          <p:cNvSpPr>
            <a:spLocks noGrp="1"/>
          </p:cNvSpPr>
          <p:nvPr>
            <p:ph type="sldNum" sz="quarter" idx="12"/>
          </p:nvPr>
        </p:nvSpPr>
        <p:spPr/>
        <p:txBody>
          <a:bodyPr/>
          <a:lstStyle/>
          <a:p>
            <a:fld id="{CCBA9D17-A0D3-409F-BFF9-E5BAE63FEE36}" type="slidenum">
              <a:rPr lang="zh-CN" altLang="en-US" smtClean="0"/>
              <a:pPr/>
              <a:t>4</a:t>
            </a:fld>
            <a:endParaRPr lang="zh-CN" altLang="en-US" dirty="0"/>
          </a:p>
        </p:txBody>
      </p:sp>
      <p:pic>
        <p:nvPicPr>
          <p:cNvPr id="12" name="图片 11">
            <a:extLst>
              <a:ext uri="{FF2B5EF4-FFF2-40B4-BE49-F238E27FC236}">
                <a16:creationId xmlns:a16="http://schemas.microsoft.com/office/drawing/2014/main" id="{003410F2-AF37-DD1B-83A1-03AC26C9CD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067" y="1376407"/>
            <a:ext cx="10526308" cy="4674181"/>
          </a:xfrm>
          <a:prstGeom prst="rect">
            <a:avLst/>
          </a:prstGeom>
        </p:spPr>
      </p:pic>
    </p:spTree>
    <p:extLst>
      <p:ext uri="{BB962C8B-B14F-4D97-AF65-F5344CB8AC3E}">
        <p14:creationId xmlns:p14="http://schemas.microsoft.com/office/powerpoint/2010/main" val="1778566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7C632-95C9-B396-CF85-562A30223720}"/>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12496C48-D062-D456-3968-AB6511DD6228}"/>
              </a:ext>
            </a:extLst>
          </p:cNvPr>
          <p:cNvSpPr txBox="1"/>
          <p:nvPr/>
        </p:nvSpPr>
        <p:spPr>
          <a:xfrm>
            <a:off x="8139511" y="1970462"/>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Implementation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506BF2E6-ACA1-5C28-BF30-8FDDEF05A572}"/>
              </a:ext>
            </a:extLst>
          </p:cNvPr>
          <p:cNvSpPr txBox="1"/>
          <p:nvPr/>
        </p:nvSpPr>
        <p:spPr>
          <a:xfrm>
            <a:off x="8139508" y="2419288"/>
            <a:ext cx="3890567" cy="1019253"/>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Arduino + STM32</a:t>
            </a:r>
            <a:r>
              <a:rPr lang="zh-CN" altLang="en-US"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 </a:t>
            </a: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for acquisition/control</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Multi-sensor integration via I2C</a:t>
            </a:r>
            <a:r>
              <a:rPr lang="zh-CN" altLang="en-US"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 </a:t>
            </a: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and related interfaces</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26" name="直接连接符 25">
            <a:extLst>
              <a:ext uri="{FF2B5EF4-FFF2-40B4-BE49-F238E27FC236}">
                <a16:creationId xmlns:a16="http://schemas.microsoft.com/office/drawing/2014/main" id="{02202D3D-2508-B0C6-6654-F5E956CCAC6C}"/>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F48AF33-2B37-90DD-0159-CD468A6B9543}"/>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10F683DB-F708-C885-6687-AFEC5964D725}"/>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Validation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文本框 42">
            <a:extLst>
              <a:ext uri="{FF2B5EF4-FFF2-40B4-BE49-F238E27FC236}">
                <a16:creationId xmlns:a16="http://schemas.microsoft.com/office/drawing/2014/main" id="{20174A96-5345-1775-B3B4-92E07A4D92F5}"/>
              </a:ext>
            </a:extLst>
          </p:cNvPr>
          <p:cNvSpPr txBox="1"/>
          <p:nvPr/>
        </p:nvSpPr>
        <p:spPr>
          <a:xfrm>
            <a:off x="8036024" y="4936902"/>
            <a:ext cx="3994051" cy="1339341"/>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Iterative testing under realistic motion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Prioritized repeatability over one-off demos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Logged issues/failure cases to drive iteration</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44" name="直接连接符 43">
            <a:extLst>
              <a:ext uri="{FF2B5EF4-FFF2-40B4-BE49-F238E27FC236}">
                <a16:creationId xmlns:a16="http://schemas.microsoft.com/office/drawing/2014/main" id="{388C2FCE-F7F7-EC15-45DB-8D16D5571511}"/>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D9B45B4-B26A-359E-2F4A-3E16D8369066}"/>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FB23B566-5795-BFD4-67BC-F85DFF093E26}"/>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A4992659-0E6D-F4CE-7B2A-30B53670AD2E}"/>
              </a:ext>
            </a:extLst>
          </p:cNvPr>
          <p:cNvSpPr txBox="1"/>
          <p:nvPr/>
        </p:nvSpPr>
        <p:spPr>
          <a:xfrm flipH="1">
            <a:off x="452511" y="2419288"/>
            <a:ext cx="3560055" cy="1019253"/>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Wearable sensing for motion/load monitoring under realistic movement, emphasizing stable data acquisition.</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ED50BF15-0E82-2651-7FEA-229CCE0272A4}"/>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F748B1C3-1974-77D8-202B-64287258C1A8}"/>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AD9B8DFD-869B-5363-9E4C-6FA69810F6DD}"/>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FDEEF483-119D-CE24-6FB0-EB847A78A379}"/>
              </a:ext>
            </a:extLst>
          </p:cNvPr>
          <p:cNvSpPr txBox="1"/>
          <p:nvPr/>
        </p:nvSpPr>
        <p:spPr>
          <a:xfrm flipH="1">
            <a:off x="314324" y="4936902"/>
            <a:ext cx="3683550" cy="1339341"/>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planning &amp; system architecture</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PCB/circuit design; component selection</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Integration and bring-up across HW/FW/comm</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66" name="直接连接符 65">
            <a:extLst>
              <a:ext uri="{FF2B5EF4-FFF2-40B4-BE49-F238E27FC236}">
                <a16:creationId xmlns:a16="http://schemas.microsoft.com/office/drawing/2014/main" id="{483F4DA3-7677-506B-04B7-5A26EAC2A54E}"/>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2C08F736-BC47-8A57-FDED-C7833AFB225C}"/>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58279C9E-E472-1955-B695-CE49315743CF}"/>
              </a:ext>
            </a:extLst>
          </p:cNvPr>
          <p:cNvPicPr>
            <a:picLocks noChangeAspect="1"/>
          </p:cNvPicPr>
          <p:nvPr/>
        </p:nvPicPr>
        <p:blipFill>
          <a:blip r:embed="rId3">
            <a:extLst>
              <a:ext uri="{28A0092B-C50C-407E-A947-70E740481C1C}">
                <a14:useLocalDpi xmlns:a14="http://schemas.microsoft.com/office/drawing/2010/main" val="0"/>
              </a:ext>
            </a:extLst>
          </a:blip>
          <a:srcRect l="9954" r="9954"/>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EF681545-1FF7-BE13-AAA3-C5AC65499174}"/>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B61293AA-B411-41A5-1C84-5629CB5FF608}"/>
              </a:ext>
            </a:extLst>
          </p:cNvPr>
          <p:cNvSpPr txBox="1"/>
          <p:nvPr/>
        </p:nvSpPr>
        <p:spPr>
          <a:xfrm>
            <a:off x="452512" y="300592"/>
            <a:ext cx="8820076" cy="461665"/>
          </a:xfrm>
          <a:prstGeom prst="rect">
            <a:avLst/>
          </a:prstGeom>
          <a:noFill/>
        </p:spPr>
        <p:txBody>
          <a:bodyPr wrap="square" rtlCol="0">
            <a:spAutoFit/>
          </a:bodyPr>
          <a:lstStyle/>
          <a:p>
            <a:r>
              <a:rPr lang="en-US" altLang="zh-CN" sz="2400" b="1" dirty="0">
                <a:solidFill>
                  <a:schemeClr val="accent1"/>
                </a:solidFill>
                <a:latin typeface="+mj-ea"/>
                <a:ea typeface="+mj-ea"/>
              </a:rPr>
              <a:t>Project 1: Wearable leg-guard sensing system</a:t>
            </a:r>
            <a:endParaRPr lang="zh-CN" altLang="en-US" sz="2400" b="1" dirty="0">
              <a:solidFill>
                <a:schemeClr val="accent1"/>
              </a:solidFill>
              <a:latin typeface="+mj-ea"/>
              <a:ea typeface="+mj-ea"/>
            </a:endParaRPr>
          </a:p>
        </p:txBody>
      </p:sp>
      <p:pic>
        <p:nvPicPr>
          <p:cNvPr id="32" name="图片 31" descr="黑白色的标志&#10;&#10;中度可信度描述已自动生成">
            <a:extLst>
              <a:ext uri="{FF2B5EF4-FFF2-40B4-BE49-F238E27FC236}">
                <a16:creationId xmlns:a16="http://schemas.microsoft.com/office/drawing/2014/main" id="{CB0CC31E-4953-67C9-E44A-659A18CC29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80C13F10-1798-086F-52D7-5C975CE04BA1}"/>
              </a:ext>
            </a:extLst>
          </p:cNvPr>
          <p:cNvSpPr>
            <a:spLocks noGrp="1"/>
          </p:cNvSpPr>
          <p:nvPr>
            <p:ph type="sldNum" sz="quarter" idx="12"/>
          </p:nvPr>
        </p:nvSpPr>
        <p:spPr/>
        <p:txBody>
          <a:bodyPr/>
          <a:lstStyle/>
          <a:p>
            <a:fld id="{CCBA9D17-A0D3-409F-BFF9-E5BAE63FEE36}" type="slidenum">
              <a:rPr lang="zh-CN" altLang="en-US" smtClean="0"/>
              <a:pPr/>
              <a:t>5</a:t>
            </a:fld>
            <a:endParaRPr lang="zh-CN" altLang="en-US" dirty="0"/>
          </a:p>
        </p:txBody>
      </p:sp>
    </p:spTree>
    <p:extLst>
      <p:ext uri="{BB962C8B-B14F-4D97-AF65-F5344CB8AC3E}">
        <p14:creationId xmlns:p14="http://schemas.microsoft.com/office/powerpoint/2010/main" val="1244361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C0D21-8499-2EFB-58AE-8D20F5536B94}"/>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D9E56090-DD5E-E027-522E-E7ABB2258EAD}"/>
              </a:ext>
            </a:extLst>
          </p:cNvPr>
          <p:cNvSpPr txBox="1"/>
          <p:nvPr/>
        </p:nvSpPr>
        <p:spPr>
          <a:xfrm>
            <a:off x="8139511" y="1970462"/>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Implementation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25E8E9F8-90C7-CBC6-0459-D6852850E0B9}"/>
              </a:ext>
            </a:extLst>
          </p:cNvPr>
          <p:cNvSpPr txBox="1"/>
          <p:nvPr/>
        </p:nvSpPr>
        <p:spPr>
          <a:xfrm>
            <a:off x="8139508" y="2419288"/>
            <a:ext cx="3890567" cy="1019253"/>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Mechanism + detailed part design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Manufacturing/assembly constraints considered early</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26" name="直接连接符 25">
            <a:extLst>
              <a:ext uri="{FF2B5EF4-FFF2-40B4-BE49-F238E27FC236}">
                <a16:creationId xmlns:a16="http://schemas.microsoft.com/office/drawing/2014/main" id="{14B0BA6C-317E-C52C-A30D-88931559D3C5}"/>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AB2C624-3635-B406-88D5-119CC97D6268}"/>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A7061482-0822-AE01-BB9D-443E4C05FB70}"/>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Validation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文本框 42">
            <a:extLst>
              <a:ext uri="{FF2B5EF4-FFF2-40B4-BE49-F238E27FC236}">
                <a16:creationId xmlns:a16="http://schemas.microsoft.com/office/drawing/2014/main" id="{FFCD784C-2C9E-A10C-0B5D-9F197B619707}"/>
              </a:ext>
            </a:extLst>
          </p:cNvPr>
          <p:cNvSpPr txBox="1"/>
          <p:nvPr/>
        </p:nvSpPr>
        <p:spPr>
          <a:xfrm>
            <a:off x="8036024" y="4936902"/>
            <a:ext cx="3994051" cy="1339341"/>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Prototype feedback: tolerances, interference, robustness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Iterated geometry and interfaces accordingly</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44" name="直接连接符 43">
            <a:extLst>
              <a:ext uri="{FF2B5EF4-FFF2-40B4-BE49-F238E27FC236}">
                <a16:creationId xmlns:a16="http://schemas.microsoft.com/office/drawing/2014/main" id="{FB40112D-F869-2DD9-C127-7AAA045499D3}"/>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8B70C3B-C7B1-0943-C43C-D0B9C32B7BCD}"/>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F31E2E1B-A4C9-9AC2-07A3-EE8C039EFB58}"/>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226E12BC-52E4-F1F5-431A-01447A35435C}"/>
              </a:ext>
            </a:extLst>
          </p:cNvPr>
          <p:cNvSpPr txBox="1"/>
          <p:nvPr/>
        </p:nvSpPr>
        <p:spPr>
          <a:xfrm flipH="1">
            <a:off x="452511" y="2419288"/>
            <a:ext cx="3560055" cy="699166"/>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End-to-end mechanical design and prototyping of a Delta parallel robot.</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EBE2889F-845C-6565-7616-58D6106B6ED1}"/>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BB0B832-7AF1-ABF3-0632-430CFB1585AD}"/>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02EA957E-C623-0744-5D2B-8D396FAD2767}"/>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8D2F1C3F-F065-951C-9C0D-4E5AA7CD1031}"/>
              </a:ext>
            </a:extLst>
          </p:cNvPr>
          <p:cNvSpPr txBox="1"/>
          <p:nvPr/>
        </p:nvSpPr>
        <p:spPr>
          <a:xfrm flipH="1">
            <a:off x="314324" y="4936902"/>
            <a:ext cx="3683550" cy="1659429"/>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lead — owned requirements, timeline, and integration decisions</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SolidWorks modeling</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Planning and parts selection</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3D printing and assembly; iteration</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66" name="直接连接符 65">
            <a:extLst>
              <a:ext uri="{FF2B5EF4-FFF2-40B4-BE49-F238E27FC236}">
                <a16:creationId xmlns:a16="http://schemas.microsoft.com/office/drawing/2014/main" id="{A7A36CE2-51E7-C4D9-7CE6-09463D55B264}"/>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C0A2D47-DDE2-2F17-5E8F-5800BCF90AB5}"/>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53F083B1-4590-4271-7044-A0CE7D12A541}"/>
              </a:ext>
            </a:extLst>
          </p:cNvPr>
          <p:cNvPicPr>
            <a:picLocks noChangeAspect="1"/>
          </p:cNvPicPr>
          <p:nvPr/>
        </p:nvPicPr>
        <p:blipFill>
          <a:blip r:embed="rId3">
            <a:extLst>
              <a:ext uri="{28A0092B-C50C-407E-A947-70E740481C1C}">
                <a14:useLocalDpi xmlns:a14="http://schemas.microsoft.com/office/drawing/2010/main" val="0"/>
              </a:ext>
            </a:extLst>
          </a:blip>
          <a:srcRect l="3517" r="3517"/>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2067CD13-A3DC-90C6-4DC9-EE0053EFD4BE}"/>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B401585-DE1E-D4AC-3873-CC7ADB0429B1}"/>
              </a:ext>
            </a:extLst>
          </p:cNvPr>
          <p:cNvSpPr txBox="1"/>
          <p:nvPr/>
        </p:nvSpPr>
        <p:spPr>
          <a:xfrm>
            <a:off x="452512" y="300592"/>
            <a:ext cx="8820076" cy="461665"/>
          </a:xfrm>
          <a:prstGeom prst="rect">
            <a:avLst/>
          </a:prstGeom>
          <a:noFill/>
        </p:spPr>
        <p:txBody>
          <a:bodyPr wrap="square" rtlCol="0">
            <a:spAutoFit/>
          </a:bodyPr>
          <a:lstStyle/>
          <a:p>
            <a:r>
              <a:rPr lang="en-US" altLang="zh-CN" sz="2400" b="1" dirty="0">
                <a:solidFill>
                  <a:schemeClr val="accent1"/>
                </a:solidFill>
                <a:latin typeface="+mj-ea"/>
                <a:ea typeface="+mj-ea"/>
              </a:rPr>
              <a:t>Project 2: 3-DOF Delta robot (mechanical capstone)</a:t>
            </a:r>
            <a:endParaRPr lang="zh-CN" altLang="en-US" sz="2400" b="1" dirty="0">
              <a:solidFill>
                <a:schemeClr val="accent1"/>
              </a:solidFill>
              <a:latin typeface="+mj-ea"/>
              <a:ea typeface="+mj-ea"/>
            </a:endParaRPr>
          </a:p>
        </p:txBody>
      </p:sp>
      <p:pic>
        <p:nvPicPr>
          <p:cNvPr id="32" name="图片 31" descr="黑白色的标志&#10;&#10;中度可信度描述已自动生成">
            <a:extLst>
              <a:ext uri="{FF2B5EF4-FFF2-40B4-BE49-F238E27FC236}">
                <a16:creationId xmlns:a16="http://schemas.microsoft.com/office/drawing/2014/main" id="{3E3F20EB-C479-73A4-F44A-7D6AF14DDD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DA8DF10C-7D89-6048-E12E-B8399AA2CF02}"/>
              </a:ext>
            </a:extLst>
          </p:cNvPr>
          <p:cNvSpPr>
            <a:spLocks noGrp="1"/>
          </p:cNvSpPr>
          <p:nvPr>
            <p:ph type="sldNum" sz="quarter" idx="12"/>
          </p:nvPr>
        </p:nvSpPr>
        <p:spPr/>
        <p:txBody>
          <a:bodyPr/>
          <a:lstStyle/>
          <a:p>
            <a:fld id="{CCBA9D17-A0D3-409F-BFF9-E5BAE63FEE36}" type="slidenum">
              <a:rPr lang="zh-CN" altLang="en-US" smtClean="0"/>
              <a:pPr/>
              <a:t>6</a:t>
            </a:fld>
            <a:endParaRPr lang="zh-CN" altLang="en-US" dirty="0"/>
          </a:p>
        </p:txBody>
      </p:sp>
    </p:spTree>
    <p:extLst>
      <p:ext uri="{BB962C8B-B14F-4D97-AF65-F5344CB8AC3E}">
        <p14:creationId xmlns:p14="http://schemas.microsoft.com/office/powerpoint/2010/main" val="4091569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7F45-C54A-DA98-362A-9580207EA73A}"/>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3BFA182E-F3D1-0072-03B4-D7AF11DF3441}"/>
              </a:ext>
            </a:extLst>
          </p:cNvPr>
          <p:cNvSpPr txBox="1"/>
          <p:nvPr/>
        </p:nvSpPr>
        <p:spPr>
          <a:xfrm>
            <a:off x="8139511" y="1970462"/>
            <a:ext cx="2804714"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Current progress</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34C008C4-49DA-24C4-7C99-F8E0759D95D3}"/>
              </a:ext>
            </a:extLst>
          </p:cNvPr>
          <p:cNvSpPr txBox="1"/>
          <p:nvPr/>
        </p:nvSpPr>
        <p:spPr>
          <a:xfrm>
            <a:off x="8139508" y="2419288"/>
            <a:ext cx="3890567" cy="1963614"/>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Surveyed workflows + established a first working pipeline</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Segmentation → centerline extraction → centerline-driven representation/rendering</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Defined output schema (tree/branch structure) for consistent experiments</a:t>
            </a:r>
          </a:p>
        </p:txBody>
      </p:sp>
      <p:cxnSp>
        <p:nvCxnSpPr>
          <p:cNvPr id="26" name="直接连接符 25">
            <a:extLst>
              <a:ext uri="{FF2B5EF4-FFF2-40B4-BE49-F238E27FC236}">
                <a16:creationId xmlns:a16="http://schemas.microsoft.com/office/drawing/2014/main" id="{C1D269BB-E790-8587-FCC8-CBA53925E14E}"/>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9ABBD6F-F6AC-D949-E7DB-95CE70D4EF9B}"/>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F824CBDC-5731-C1E5-FD85-A2F6ED754121}"/>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Next phase</a:t>
            </a:r>
          </a:p>
        </p:txBody>
      </p:sp>
      <p:sp>
        <p:nvSpPr>
          <p:cNvPr id="43" name="文本框 42">
            <a:extLst>
              <a:ext uri="{FF2B5EF4-FFF2-40B4-BE49-F238E27FC236}">
                <a16:creationId xmlns:a16="http://schemas.microsoft.com/office/drawing/2014/main" id="{E767FC74-4AA6-AC98-1E71-332E621EF58C}"/>
              </a:ext>
            </a:extLst>
          </p:cNvPr>
          <p:cNvSpPr txBox="1"/>
          <p:nvPr/>
        </p:nvSpPr>
        <p:spPr>
          <a:xfrm>
            <a:off x="7449857" y="4944965"/>
            <a:ext cx="4683703" cy="1979516"/>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Incorporate hospital data constraints and clinical feedback loops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Anatomically consistent labeling (segment-level) for standardization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Evaluation aligned with navigation/decision support (robustness + usability)</a:t>
            </a:r>
          </a:p>
        </p:txBody>
      </p:sp>
      <p:cxnSp>
        <p:nvCxnSpPr>
          <p:cNvPr id="44" name="直接连接符 43">
            <a:extLst>
              <a:ext uri="{FF2B5EF4-FFF2-40B4-BE49-F238E27FC236}">
                <a16:creationId xmlns:a16="http://schemas.microsoft.com/office/drawing/2014/main" id="{488513A3-A621-C328-40A5-2A2071D1B604}"/>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B0D6625-59F3-5B75-3939-E1BF955EEF82}"/>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5BA89668-1F97-D627-D12A-0E8E41AFBA68}"/>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8A82FFE1-8FEA-D38E-0F9F-1626566AD404}"/>
              </a:ext>
            </a:extLst>
          </p:cNvPr>
          <p:cNvSpPr txBox="1"/>
          <p:nvPr/>
        </p:nvSpPr>
        <p:spPr>
          <a:xfrm flipH="1">
            <a:off x="452511" y="2419288"/>
            <a:ext cx="3560055" cy="1339341"/>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Build a reconstruction/modeling pipeline with long-term relevance to clinically grounded workflows and evaluation.</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269AEABB-612B-BD0A-748A-962AC0CAB99B}"/>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B244E2C-E8C7-DC5B-7971-EBC2D0E09641}"/>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27E42079-D28D-BA12-51DB-AADA5EFCD3ED}"/>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995322D0-6160-5E6F-9FCA-8E44C3138D6C}"/>
              </a:ext>
            </a:extLst>
          </p:cNvPr>
          <p:cNvSpPr txBox="1"/>
          <p:nvPr/>
        </p:nvSpPr>
        <p:spPr>
          <a:xfrm flipH="1">
            <a:off x="-1" y="4936902"/>
            <a:ext cx="4639983" cy="1339341"/>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lead &amp; upstream workflow owner (problem framing, milestones, interface definitions)</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Built the pipeline end-to-end and standardized outputs for evaluation and downstream use</a:t>
            </a:r>
          </a:p>
        </p:txBody>
      </p:sp>
      <p:cxnSp>
        <p:nvCxnSpPr>
          <p:cNvPr id="66" name="直接连接符 65">
            <a:extLst>
              <a:ext uri="{FF2B5EF4-FFF2-40B4-BE49-F238E27FC236}">
                <a16:creationId xmlns:a16="http://schemas.microsoft.com/office/drawing/2014/main" id="{54E15825-712B-BB5C-F626-45384AF5E8F8}"/>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E8B1239-E28D-7937-185B-BA59AABC3568}"/>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318D0A37-4FC1-9EC2-46FC-AD23EB006CD7}"/>
              </a:ext>
            </a:extLst>
          </p:cNvPr>
          <p:cNvPicPr>
            <a:picLocks noChangeAspect="1"/>
          </p:cNvPicPr>
          <p:nvPr/>
        </p:nvPicPr>
        <p:blipFill>
          <a:blip r:embed="rId3">
            <a:extLst>
              <a:ext uri="{28A0092B-C50C-407E-A947-70E740481C1C}">
                <a14:useLocalDpi xmlns:a14="http://schemas.microsoft.com/office/drawing/2010/main" val="0"/>
              </a:ext>
            </a:extLst>
          </a:blip>
          <a:srcRect l="5556" r="5556"/>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6D270B45-AD77-6E66-29FE-133E40F796C0}"/>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60AABAB3-FEF5-CF6D-410D-A6E3FF760A75}"/>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Ongoing research: coronary reconstruction pipeline</a:t>
            </a:r>
          </a:p>
        </p:txBody>
      </p:sp>
      <p:pic>
        <p:nvPicPr>
          <p:cNvPr id="32" name="图片 31" descr="黑白色的标志&#10;&#10;中度可信度描述已自动生成">
            <a:extLst>
              <a:ext uri="{FF2B5EF4-FFF2-40B4-BE49-F238E27FC236}">
                <a16:creationId xmlns:a16="http://schemas.microsoft.com/office/drawing/2014/main" id="{3825185A-C443-9957-327F-0A38631DD2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C3FD90BE-E38E-A6C1-5901-2FA4EF3EAB76}"/>
              </a:ext>
            </a:extLst>
          </p:cNvPr>
          <p:cNvSpPr>
            <a:spLocks noGrp="1"/>
          </p:cNvSpPr>
          <p:nvPr>
            <p:ph type="sldNum" sz="quarter" idx="12"/>
          </p:nvPr>
        </p:nvSpPr>
        <p:spPr/>
        <p:txBody>
          <a:bodyPr/>
          <a:lstStyle/>
          <a:p>
            <a:fld id="{CCBA9D17-A0D3-409F-BFF9-E5BAE63FEE36}" type="slidenum">
              <a:rPr lang="zh-CN" altLang="en-US" smtClean="0"/>
              <a:pPr/>
              <a:t>7</a:t>
            </a:fld>
            <a:endParaRPr lang="zh-CN" altLang="en-US" dirty="0"/>
          </a:p>
        </p:txBody>
      </p:sp>
    </p:spTree>
    <p:extLst>
      <p:ext uri="{BB962C8B-B14F-4D97-AF65-F5344CB8AC3E}">
        <p14:creationId xmlns:p14="http://schemas.microsoft.com/office/powerpoint/2010/main" val="248104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C711ED97-9587-43BA-998C-9ACB197C5B0D}"/>
              </a:ext>
            </a:extLst>
          </p:cNvPr>
          <p:cNvGrpSpPr/>
          <p:nvPr/>
        </p:nvGrpSpPr>
        <p:grpSpPr>
          <a:xfrm>
            <a:off x="663627" y="1902582"/>
            <a:ext cx="2447024" cy="3815048"/>
            <a:chOff x="660400" y="1931150"/>
            <a:chExt cx="2447024" cy="2995699"/>
          </a:xfrm>
        </p:grpSpPr>
        <p:sp>
          <p:nvSpPr>
            <p:cNvPr id="16" name="矩形 15">
              <a:extLst>
                <a:ext uri="{FF2B5EF4-FFF2-40B4-BE49-F238E27FC236}">
                  <a16:creationId xmlns:a16="http://schemas.microsoft.com/office/drawing/2014/main" id="{252E6937-857D-4B39-AACE-FD9965982714}"/>
                </a:ext>
              </a:extLst>
            </p:cNvPr>
            <p:cNvSpPr/>
            <p:nvPr/>
          </p:nvSpPr>
          <p:spPr>
            <a:xfrm>
              <a:off x="660400"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矩形 16">
              <a:extLst>
                <a:ext uri="{FF2B5EF4-FFF2-40B4-BE49-F238E27FC236}">
                  <a16:creationId xmlns:a16="http://schemas.microsoft.com/office/drawing/2014/main" id="{3608503A-08CC-410A-BA51-92F669E54600}"/>
                </a:ext>
              </a:extLst>
            </p:cNvPr>
            <p:cNvSpPr/>
            <p:nvPr/>
          </p:nvSpPr>
          <p:spPr>
            <a:xfrm>
              <a:off x="832674" y="2057889"/>
              <a:ext cx="1922451" cy="396583"/>
            </a:xfrm>
            <a:prstGeom prst="rect">
              <a:avLst/>
            </a:prstGeom>
          </p:spPr>
          <p:txBody>
            <a:bodyPr wrap="square" lIns="0">
              <a:normAutofit fontScale="92500"/>
            </a:bodyPr>
            <a:lstStyle/>
            <a:p>
              <a:pPr>
                <a:lnSpc>
                  <a:spcPct val="120000"/>
                </a:lnSpc>
              </a:pPr>
              <a:r>
                <a:rPr lang="en"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Why I’m excited</a:t>
              </a:r>
              <a:endParaRPr lang="en-US"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8" name="矩形 17">
              <a:extLst>
                <a:ext uri="{FF2B5EF4-FFF2-40B4-BE49-F238E27FC236}">
                  <a16:creationId xmlns:a16="http://schemas.microsoft.com/office/drawing/2014/main" id="{C2A46C09-2480-4C19-B557-FD6AE6F2D228}"/>
                </a:ext>
              </a:extLst>
            </p:cNvPr>
            <p:cNvSpPr/>
            <p:nvPr/>
          </p:nvSpPr>
          <p:spPr>
            <a:xfrm>
              <a:off x="660401"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38BD91C1-276F-4DC1-8E7B-A272B43712E8}"/>
                </a:ext>
              </a:extLst>
            </p:cNvPr>
            <p:cNvSpPr/>
            <p:nvPr/>
          </p:nvSpPr>
          <p:spPr>
            <a:xfrm>
              <a:off x="832675" y="2512480"/>
              <a:ext cx="2225740" cy="1933593"/>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Contact-rich interaction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Real-world sensing and reliability</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Building systems that work end-to-end</a:t>
              </a:r>
              <a:endPar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21" name="组合 20">
              <a:extLst>
                <a:ext uri="{FF2B5EF4-FFF2-40B4-BE49-F238E27FC236}">
                  <a16:creationId xmlns:a16="http://schemas.microsoft.com/office/drawing/2014/main" id="{24EF1A26-B66E-4461-8ECD-952E97DB9799}"/>
                </a:ext>
              </a:extLst>
            </p:cNvPr>
            <p:cNvGrpSpPr/>
            <p:nvPr/>
          </p:nvGrpSpPr>
          <p:grpSpPr>
            <a:xfrm flipH="1">
              <a:off x="832675" y="4463181"/>
              <a:ext cx="364235" cy="369223"/>
              <a:chOff x="9363075" y="4967288"/>
              <a:chExt cx="463551" cy="469900"/>
            </a:xfrm>
            <a:solidFill>
              <a:schemeClr val="bg1"/>
            </a:solidFill>
          </p:grpSpPr>
          <p:sp>
            <p:nvSpPr>
              <p:cNvPr id="22" name="Freeform 22">
                <a:extLst>
                  <a:ext uri="{FF2B5EF4-FFF2-40B4-BE49-F238E27FC236}">
                    <a16:creationId xmlns:a16="http://schemas.microsoft.com/office/drawing/2014/main" id="{5F797A6A-C52A-4C34-B3E4-C05B9D6ABA09}"/>
                  </a:ext>
                </a:extLst>
              </p:cNvPr>
              <p:cNvSpPr>
                <a:spLocks/>
              </p:cNvSpPr>
              <p:nvPr/>
            </p:nvSpPr>
            <p:spPr bwMode="auto">
              <a:xfrm>
                <a:off x="9371013" y="5280025"/>
                <a:ext cx="158750" cy="150813"/>
              </a:xfrm>
              <a:custGeom>
                <a:avLst/>
                <a:gdLst>
                  <a:gd name="T0" fmla="*/ 14 w 100"/>
                  <a:gd name="T1" fmla="*/ 95 h 95"/>
                  <a:gd name="T2" fmla="*/ 0 w 100"/>
                  <a:gd name="T3" fmla="*/ 80 h 95"/>
                  <a:gd name="T4" fmla="*/ 85 w 100"/>
                  <a:gd name="T5" fmla="*/ 0 h 95"/>
                  <a:gd name="T6" fmla="*/ 100 w 100"/>
                  <a:gd name="T7" fmla="*/ 14 h 95"/>
                  <a:gd name="T8" fmla="*/ 14 w 100"/>
                  <a:gd name="T9" fmla="*/ 95 h 95"/>
                </a:gdLst>
                <a:ahLst/>
                <a:cxnLst>
                  <a:cxn ang="0">
                    <a:pos x="T0" y="T1"/>
                  </a:cxn>
                  <a:cxn ang="0">
                    <a:pos x="T2" y="T3"/>
                  </a:cxn>
                  <a:cxn ang="0">
                    <a:pos x="T4" y="T5"/>
                  </a:cxn>
                  <a:cxn ang="0">
                    <a:pos x="T6" y="T7"/>
                  </a:cxn>
                  <a:cxn ang="0">
                    <a:pos x="T8" y="T9"/>
                  </a:cxn>
                </a:cxnLst>
                <a:rect l="0" t="0" r="r" b="b"/>
                <a:pathLst>
                  <a:path w="100" h="95">
                    <a:moveTo>
                      <a:pt x="14" y="95"/>
                    </a:moveTo>
                    <a:lnTo>
                      <a:pt x="0" y="80"/>
                    </a:lnTo>
                    <a:lnTo>
                      <a:pt x="85" y="0"/>
                    </a:lnTo>
                    <a:lnTo>
                      <a:pt x="100" y="14"/>
                    </a:lnTo>
                    <a:lnTo>
                      <a:pt x="14"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3" name="Freeform 23">
                <a:extLst>
                  <a:ext uri="{FF2B5EF4-FFF2-40B4-BE49-F238E27FC236}">
                    <a16:creationId xmlns:a16="http://schemas.microsoft.com/office/drawing/2014/main" id="{A0BF61EB-A5FC-459A-98F0-279C56852DAA}"/>
                  </a:ext>
                </a:extLst>
              </p:cNvPr>
              <p:cNvSpPr>
                <a:spLocks noEditPoints="1"/>
              </p:cNvSpPr>
              <p:nvPr/>
            </p:nvSpPr>
            <p:spPr bwMode="auto">
              <a:xfrm>
                <a:off x="9486900" y="5200650"/>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Freeform 24">
                <a:extLst>
                  <a:ext uri="{FF2B5EF4-FFF2-40B4-BE49-F238E27FC236}">
                    <a16:creationId xmlns:a16="http://schemas.microsoft.com/office/drawing/2014/main" id="{AAF67AD6-DD97-41A1-A6C1-D357870D853A}"/>
                  </a:ext>
                </a:extLst>
              </p:cNvPr>
              <p:cNvSpPr>
                <a:spLocks noEditPoints="1"/>
              </p:cNvSpPr>
              <p:nvPr/>
            </p:nvSpPr>
            <p:spPr bwMode="auto">
              <a:xfrm>
                <a:off x="9577388" y="4967288"/>
                <a:ext cx="249238" cy="249238"/>
              </a:xfrm>
              <a:custGeom>
                <a:avLst/>
                <a:gdLst>
                  <a:gd name="T0" fmla="*/ 32 w 66"/>
                  <a:gd name="T1" fmla="*/ 66 h 66"/>
                  <a:gd name="T2" fmla="*/ 9 w 66"/>
                  <a:gd name="T3" fmla="*/ 57 h 66"/>
                  <a:gd name="T4" fmla="*/ 0 w 66"/>
                  <a:gd name="T5" fmla="*/ 34 h 66"/>
                  <a:gd name="T6" fmla="*/ 9 w 66"/>
                  <a:gd name="T7" fmla="*/ 11 h 66"/>
                  <a:gd name="T8" fmla="*/ 20 w 66"/>
                  <a:gd name="T9" fmla="*/ 0 h 66"/>
                  <a:gd name="T10" fmla="*/ 66 w 66"/>
                  <a:gd name="T11" fmla="*/ 46 h 66"/>
                  <a:gd name="T12" fmla="*/ 55 w 66"/>
                  <a:gd name="T13" fmla="*/ 57 h 66"/>
                  <a:gd name="T14" fmla="*/ 32 w 66"/>
                  <a:gd name="T15" fmla="*/ 66 h 66"/>
                  <a:gd name="T16" fmla="*/ 20 w 66"/>
                  <a:gd name="T17" fmla="*/ 12 h 66"/>
                  <a:gd name="T18" fmla="*/ 15 w 66"/>
                  <a:gd name="T19" fmla="*/ 17 h 66"/>
                  <a:gd name="T20" fmla="*/ 8 w 66"/>
                  <a:gd name="T21" fmla="*/ 34 h 66"/>
                  <a:gd name="T22" fmla="*/ 15 w 66"/>
                  <a:gd name="T23" fmla="*/ 51 h 66"/>
                  <a:gd name="T24" fmla="*/ 32 w 66"/>
                  <a:gd name="T25" fmla="*/ 58 h 66"/>
                  <a:gd name="T26" fmla="*/ 49 w 66"/>
                  <a:gd name="T27" fmla="*/ 51 h 66"/>
                  <a:gd name="T28" fmla="*/ 54 w 66"/>
                  <a:gd name="T29" fmla="*/ 46 h 66"/>
                  <a:gd name="T30" fmla="*/ 20 w 66"/>
                  <a:gd name="T31" fmla="*/ 1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66">
                    <a:moveTo>
                      <a:pt x="32" y="66"/>
                    </a:moveTo>
                    <a:cubicBezTo>
                      <a:pt x="23" y="66"/>
                      <a:pt x="15" y="63"/>
                      <a:pt x="9" y="57"/>
                    </a:cubicBezTo>
                    <a:cubicBezTo>
                      <a:pt x="3" y="51"/>
                      <a:pt x="0" y="43"/>
                      <a:pt x="0" y="34"/>
                    </a:cubicBezTo>
                    <a:cubicBezTo>
                      <a:pt x="0" y="25"/>
                      <a:pt x="3" y="17"/>
                      <a:pt x="9" y="11"/>
                    </a:cubicBezTo>
                    <a:cubicBezTo>
                      <a:pt x="20" y="0"/>
                      <a:pt x="20" y="0"/>
                      <a:pt x="20" y="0"/>
                    </a:cubicBezTo>
                    <a:cubicBezTo>
                      <a:pt x="66" y="46"/>
                      <a:pt x="66" y="46"/>
                      <a:pt x="66" y="46"/>
                    </a:cubicBezTo>
                    <a:cubicBezTo>
                      <a:pt x="55" y="57"/>
                      <a:pt x="55" y="57"/>
                      <a:pt x="55" y="57"/>
                    </a:cubicBezTo>
                    <a:cubicBezTo>
                      <a:pt x="49" y="63"/>
                      <a:pt x="41" y="66"/>
                      <a:pt x="32" y="66"/>
                    </a:cubicBezTo>
                    <a:moveTo>
                      <a:pt x="20" y="12"/>
                    </a:moveTo>
                    <a:cubicBezTo>
                      <a:pt x="15" y="17"/>
                      <a:pt x="15" y="17"/>
                      <a:pt x="15" y="17"/>
                    </a:cubicBezTo>
                    <a:cubicBezTo>
                      <a:pt x="10" y="22"/>
                      <a:pt x="8" y="28"/>
                      <a:pt x="8" y="34"/>
                    </a:cubicBezTo>
                    <a:cubicBezTo>
                      <a:pt x="8" y="40"/>
                      <a:pt x="10" y="46"/>
                      <a:pt x="15" y="51"/>
                    </a:cubicBezTo>
                    <a:cubicBezTo>
                      <a:pt x="20" y="56"/>
                      <a:pt x="26" y="58"/>
                      <a:pt x="32" y="58"/>
                    </a:cubicBezTo>
                    <a:cubicBezTo>
                      <a:pt x="38" y="58"/>
                      <a:pt x="44" y="56"/>
                      <a:pt x="49" y="51"/>
                    </a:cubicBezTo>
                    <a:cubicBezTo>
                      <a:pt x="54" y="46"/>
                      <a:pt x="54" y="46"/>
                      <a:pt x="54" y="46"/>
                    </a:cubicBez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Freeform 25">
                <a:extLst>
                  <a:ext uri="{FF2B5EF4-FFF2-40B4-BE49-F238E27FC236}">
                    <a16:creationId xmlns:a16="http://schemas.microsoft.com/office/drawing/2014/main" id="{52EAFD20-F81D-45AD-A7AA-AD7C1FCDA67B}"/>
                  </a:ext>
                </a:extLst>
              </p:cNvPr>
              <p:cNvSpPr>
                <a:spLocks/>
              </p:cNvSpPr>
              <p:nvPr/>
            </p:nvSpPr>
            <p:spPr bwMode="auto">
              <a:xfrm>
                <a:off x="9363075" y="5065713"/>
                <a:ext cx="365125" cy="371475"/>
              </a:xfrm>
              <a:custGeom>
                <a:avLst/>
                <a:gdLst>
                  <a:gd name="T0" fmla="*/ 0 w 230"/>
                  <a:gd name="T1" fmla="*/ 234 h 234"/>
                  <a:gd name="T2" fmla="*/ 22 w 230"/>
                  <a:gd name="T3" fmla="*/ 49 h 234"/>
                  <a:gd name="T4" fmla="*/ 112 w 230"/>
                  <a:gd name="T5" fmla="*/ 0 h 234"/>
                  <a:gd name="T6" fmla="*/ 121 w 230"/>
                  <a:gd name="T7" fmla="*/ 16 h 234"/>
                  <a:gd name="T8" fmla="*/ 41 w 230"/>
                  <a:gd name="T9" fmla="*/ 61 h 234"/>
                  <a:gd name="T10" fmla="*/ 24 w 230"/>
                  <a:gd name="T11" fmla="*/ 211 h 234"/>
                  <a:gd name="T12" fmla="*/ 185 w 230"/>
                  <a:gd name="T13" fmla="*/ 180 h 234"/>
                  <a:gd name="T14" fmla="*/ 211 w 230"/>
                  <a:gd name="T15" fmla="*/ 111 h 234"/>
                  <a:gd name="T16" fmla="*/ 230 w 230"/>
                  <a:gd name="T17" fmla="*/ 116 h 234"/>
                  <a:gd name="T18" fmla="*/ 199 w 230"/>
                  <a:gd name="T19" fmla="*/ 199 h 234"/>
                  <a:gd name="T20" fmla="*/ 0 w 230"/>
                  <a:gd name="T21"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0" h="234">
                    <a:moveTo>
                      <a:pt x="0" y="234"/>
                    </a:moveTo>
                    <a:lnTo>
                      <a:pt x="22" y="49"/>
                    </a:lnTo>
                    <a:lnTo>
                      <a:pt x="112" y="0"/>
                    </a:lnTo>
                    <a:lnTo>
                      <a:pt x="121" y="16"/>
                    </a:lnTo>
                    <a:lnTo>
                      <a:pt x="41" y="61"/>
                    </a:lnTo>
                    <a:lnTo>
                      <a:pt x="24" y="211"/>
                    </a:lnTo>
                    <a:lnTo>
                      <a:pt x="185" y="180"/>
                    </a:lnTo>
                    <a:lnTo>
                      <a:pt x="211" y="111"/>
                    </a:lnTo>
                    <a:lnTo>
                      <a:pt x="230" y="116"/>
                    </a:lnTo>
                    <a:lnTo>
                      <a:pt x="199" y="199"/>
                    </a:lnTo>
                    <a:lnTo>
                      <a:pt x="0" y="2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 name="组合 3">
            <a:extLst>
              <a:ext uri="{FF2B5EF4-FFF2-40B4-BE49-F238E27FC236}">
                <a16:creationId xmlns:a16="http://schemas.microsoft.com/office/drawing/2014/main" id="{B0F049F1-2D4C-4687-94EC-B5E1C6430ADF}"/>
              </a:ext>
            </a:extLst>
          </p:cNvPr>
          <p:cNvGrpSpPr/>
          <p:nvPr/>
        </p:nvGrpSpPr>
        <p:grpSpPr>
          <a:xfrm>
            <a:off x="3471684" y="1902582"/>
            <a:ext cx="2808058" cy="3815045"/>
            <a:chOff x="3468457" y="1931150"/>
            <a:chExt cx="2808058" cy="2995699"/>
          </a:xfrm>
        </p:grpSpPr>
        <p:sp>
          <p:nvSpPr>
            <p:cNvPr id="28" name="矩形 27">
              <a:extLst>
                <a:ext uri="{FF2B5EF4-FFF2-40B4-BE49-F238E27FC236}">
                  <a16:creationId xmlns:a16="http://schemas.microsoft.com/office/drawing/2014/main" id="{12ED2F12-7CC4-4721-BBAE-BB848C4A7E0A}"/>
                </a:ext>
              </a:extLst>
            </p:cNvPr>
            <p:cNvSpPr/>
            <p:nvPr/>
          </p:nvSpPr>
          <p:spPr>
            <a:xfrm>
              <a:off x="3468458"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9" name="矩形 28">
              <a:extLst>
                <a:ext uri="{FF2B5EF4-FFF2-40B4-BE49-F238E27FC236}">
                  <a16:creationId xmlns:a16="http://schemas.microsoft.com/office/drawing/2014/main" id="{772494DF-8E2C-476B-9076-C63E9D0C976E}"/>
                </a:ext>
              </a:extLst>
            </p:cNvPr>
            <p:cNvSpPr/>
            <p:nvPr/>
          </p:nvSpPr>
          <p:spPr>
            <a:xfrm>
              <a:off x="3468457" y="2057889"/>
              <a:ext cx="2808058"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Directions I align with</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30" name="矩形 29">
              <a:extLst>
                <a:ext uri="{FF2B5EF4-FFF2-40B4-BE49-F238E27FC236}">
                  <a16:creationId xmlns:a16="http://schemas.microsoft.com/office/drawing/2014/main" id="{F3E9A5AC-EF2A-48BF-9601-5DB7BC21ED7A}"/>
                </a:ext>
              </a:extLst>
            </p:cNvPr>
            <p:cNvSpPr/>
            <p:nvPr/>
          </p:nvSpPr>
          <p:spPr>
            <a:xfrm>
              <a:off x="3468459"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1" name="矩形 30">
              <a:extLst>
                <a:ext uri="{FF2B5EF4-FFF2-40B4-BE49-F238E27FC236}">
                  <a16:creationId xmlns:a16="http://schemas.microsoft.com/office/drawing/2014/main" id="{74529A3A-9447-4A78-937E-AE293E2B4852}"/>
                </a:ext>
              </a:extLst>
            </p:cNvPr>
            <p:cNvSpPr/>
            <p:nvPr/>
          </p:nvSpPr>
          <p:spPr>
            <a:xfrm>
              <a:off x="3554982" y="2638607"/>
              <a:ext cx="2311491" cy="1498552"/>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Underwater manipulation: control and sensing under bandwidth/visibility limits</a:t>
              </a:r>
            </a:p>
          </p:txBody>
        </p:sp>
        <p:grpSp>
          <p:nvGrpSpPr>
            <p:cNvPr id="59" name="组合 58">
              <a:extLst>
                <a:ext uri="{FF2B5EF4-FFF2-40B4-BE49-F238E27FC236}">
                  <a16:creationId xmlns:a16="http://schemas.microsoft.com/office/drawing/2014/main" id="{7B314BF5-9309-44FA-9D37-49848DA0BBEE}"/>
                </a:ext>
              </a:extLst>
            </p:cNvPr>
            <p:cNvGrpSpPr/>
            <p:nvPr/>
          </p:nvGrpSpPr>
          <p:grpSpPr>
            <a:xfrm>
              <a:off x="3640723" y="4471950"/>
              <a:ext cx="310873" cy="355464"/>
              <a:chOff x="11864960" y="2498733"/>
              <a:chExt cx="420669" cy="481011"/>
            </a:xfrm>
            <a:solidFill>
              <a:schemeClr val="bg1"/>
            </a:solidFill>
          </p:grpSpPr>
          <p:sp>
            <p:nvSpPr>
              <p:cNvPr id="60" name="Freeform 5">
                <a:extLst>
                  <a:ext uri="{FF2B5EF4-FFF2-40B4-BE49-F238E27FC236}">
                    <a16:creationId xmlns:a16="http://schemas.microsoft.com/office/drawing/2014/main" id="{83626811-FDD3-4084-ADDE-37899F88EA1C}"/>
                  </a:ext>
                </a:extLst>
              </p:cNvPr>
              <p:cNvSpPr>
                <a:spLocks/>
              </p:cNvSpPr>
              <p:nvPr/>
            </p:nvSpPr>
            <p:spPr bwMode="auto">
              <a:xfrm>
                <a:off x="11864960" y="2603505"/>
                <a:ext cx="390525" cy="376239"/>
              </a:xfrm>
              <a:custGeom>
                <a:avLst/>
                <a:gdLst>
                  <a:gd name="T0" fmla="*/ 52 w 104"/>
                  <a:gd name="T1" fmla="*/ 100 h 100"/>
                  <a:gd name="T2" fmla="*/ 0 w 104"/>
                  <a:gd name="T3" fmla="*/ 48 h 100"/>
                  <a:gd name="T4" fmla="*/ 32 w 104"/>
                  <a:gd name="T5" fmla="*/ 0 h 100"/>
                  <a:gd name="T6" fmla="*/ 35 w 104"/>
                  <a:gd name="T7" fmla="*/ 7 h 100"/>
                  <a:gd name="T8" fmla="*/ 8 w 104"/>
                  <a:gd name="T9" fmla="*/ 48 h 100"/>
                  <a:gd name="T10" fmla="*/ 52 w 104"/>
                  <a:gd name="T11" fmla="*/ 92 h 100"/>
                  <a:gd name="T12" fmla="*/ 96 w 104"/>
                  <a:gd name="T13" fmla="*/ 52 h 100"/>
                  <a:gd name="T14" fmla="*/ 104 w 104"/>
                  <a:gd name="T15" fmla="*/ 52 h 100"/>
                  <a:gd name="T16" fmla="*/ 52 w 104"/>
                  <a:gd name="T1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100">
                    <a:moveTo>
                      <a:pt x="52" y="100"/>
                    </a:moveTo>
                    <a:cubicBezTo>
                      <a:pt x="23" y="100"/>
                      <a:pt x="0" y="77"/>
                      <a:pt x="0" y="48"/>
                    </a:cubicBezTo>
                    <a:cubicBezTo>
                      <a:pt x="0" y="27"/>
                      <a:pt x="13" y="8"/>
                      <a:pt x="32" y="0"/>
                    </a:cubicBezTo>
                    <a:cubicBezTo>
                      <a:pt x="35" y="7"/>
                      <a:pt x="35" y="7"/>
                      <a:pt x="35" y="7"/>
                    </a:cubicBezTo>
                    <a:cubicBezTo>
                      <a:pt x="19" y="14"/>
                      <a:pt x="8" y="30"/>
                      <a:pt x="8" y="48"/>
                    </a:cubicBezTo>
                    <a:cubicBezTo>
                      <a:pt x="8" y="72"/>
                      <a:pt x="28" y="92"/>
                      <a:pt x="52" y="92"/>
                    </a:cubicBezTo>
                    <a:cubicBezTo>
                      <a:pt x="75" y="92"/>
                      <a:pt x="94" y="74"/>
                      <a:pt x="96" y="52"/>
                    </a:cubicBezTo>
                    <a:cubicBezTo>
                      <a:pt x="104" y="52"/>
                      <a:pt x="104" y="52"/>
                      <a:pt x="104" y="52"/>
                    </a:cubicBezTo>
                    <a:cubicBezTo>
                      <a:pt x="102" y="79"/>
                      <a:pt x="79" y="100"/>
                      <a:pt x="52" y="10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Freeform 6">
                <a:extLst>
                  <a:ext uri="{FF2B5EF4-FFF2-40B4-BE49-F238E27FC236}">
                    <a16:creationId xmlns:a16="http://schemas.microsoft.com/office/drawing/2014/main" id="{67290ECA-5A3F-4B53-84AA-8C0337397F87}"/>
                  </a:ext>
                </a:extLst>
              </p:cNvPr>
              <p:cNvSpPr>
                <a:spLocks/>
              </p:cNvSpPr>
              <p:nvPr/>
            </p:nvSpPr>
            <p:spPr bwMode="auto">
              <a:xfrm>
                <a:off x="12123723" y="2603505"/>
                <a:ext cx="131762" cy="166689"/>
              </a:xfrm>
              <a:custGeom>
                <a:avLst/>
                <a:gdLst>
                  <a:gd name="T0" fmla="*/ 27 w 35"/>
                  <a:gd name="T1" fmla="*/ 44 h 44"/>
                  <a:gd name="T2" fmla="*/ 0 w 35"/>
                  <a:gd name="T3" fmla="*/ 7 h 44"/>
                  <a:gd name="T4" fmla="*/ 3 w 35"/>
                  <a:gd name="T5" fmla="*/ 0 h 44"/>
                  <a:gd name="T6" fmla="*/ 35 w 35"/>
                  <a:gd name="T7" fmla="*/ 44 h 44"/>
                  <a:gd name="T8" fmla="*/ 27 w 35"/>
                  <a:gd name="T9" fmla="*/ 44 h 44"/>
                </a:gdLst>
                <a:ahLst/>
                <a:cxnLst>
                  <a:cxn ang="0">
                    <a:pos x="T0" y="T1"/>
                  </a:cxn>
                  <a:cxn ang="0">
                    <a:pos x="T2" y="T3"/>
                  </a:cxn>
                  <a:cxn ang="0">
                    <a:pos x="T4" y="T5"/>
                  </a:cxn>
                  <a:cxn ang="0">
                    <a:pos x="T6" y="T7"/>
                  </a:cxn>
                  <a:cxn ang="0">
                    <a:pos x="T8" y="T9"/>
                  </a:cxn>
                </a:cxnLst>
                <a:rect l="0" t="0" r="r" b="b"/>
                <a:pathLst>
                  <a:path w="35" h="44">
                    <a:moveTo>
                      <a:pt x="27" y="44"/>
                    </a:moveTo>
                    <a:cubicBezTo>
                      <a:pt x="25" y="28"/>
                      <a:pt x="15" y="14"/>
                      <a:pt x="0" y="7"/>
                    </a:cubicBezTo>
                    <a:cubicBezTo>
                      <a:pt x="3" y="0"/>
                      <a:pt x="3" y="0"/>
                      <a:pt x="3" y="0"/>
                    </a:cubicBezTo>
                    <a:cubicBezTo>
                      <a:pt x="21" y="8"/>
                      <a:pt x="33" y="24"/>
                      <a:pt x="35" y="44"/>
                    </a:cubicBezTo>
                    <a:lnTo>
                      <a:pt x="27"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Freeform 7">
                <a:extLst>
                  <a:ext uri="{FF2B5EF4-FFF2-40B4-BE49-F238E27FC236}">
                    <a16:creationId xmlns:a16="http://schemas.microsoft.com/office/drawing/2014/main" id="{79CB8AFA-25DA-422F-BC32-8D5A03461CAC}"/>
                  </a:ext>
                </a:extLst>
              </p:cNvPr>
              <p:cNvSpPr>
                <a:spLocks/>
              </p:cNvSpPr>
              <p:nvPr/>
            </p:nvSpPr>
            <p:spPr bwMode="auto">
              <a:xfrm>
                <a:off x="11969747" y="2498733"/>
                <a:ext cx="180975" cy="134938"/>
              </a:xfrm>
              <a:custGeom>
                <a:avLst/>
                <a:gdLst>
                  <a:gd name="T0" fmla="*/ 86 w 114"/>
                  <a:gd name="T1" fmla="*/ 85 h 85"/>
                  <a:gd name="T2" fmla="*/ 67 w 114"/>
                  <a:gd name="T3" fmla="*/ 85 h 85"/>
                  <a:gd name="T4" fmla="*/ 67 w 114"/>
                  <a:gd name="T5" fmla="*/ 38 h 85"/>
                  <a:gd name="T6" fmla="*/ 95 w 114"/>
                  <a:gd name="T7" fmla="*/ 38 h 85"/>
                  <a:gd name="T8" fmla="*/ 95 w 114"/>
                  <a:gd name="T9" fmla="*/ 19 h 85"/>
                  <a:gd name="T10" fmla="*/ 19 w 114"/>
                  <a:gd name="T11" fmla="*/ 19 h 85"/>
                  <a:gd name="T12" fmla="*/ 19 w 114"/>
                  <a:gd name="T13" fmla="*/ 38 h 85"/>
                  <a:gd name="T14" fmla="*/ 48 w 114"/>
                  <a:gd name="T15" fmla="*/ 38 h 85"/>
                  <a:gd name="T16" fmla="*/ 48 w 114"/>
                  <a:gd name="T17" fmla="*/ 85 h 85"/>
                  <a:gd name="T18" fmla="*/ 29 w 114"/>
                  <a:gd name="T19" fmla="*/ 85 h 85"/>
                  <a:gd name="T20" fmla="*/ 29 w 114"/>
                  <a:gd name="T21" fmla="*/ 57 h 85"/>
                  <a:gd name="T22" fmla="*/ 0 w 114"/>
                  <a:gd name="T23" fmla="*/ 57 h 85"/>
                  <a:gd name="T24" fmla="*/ 0 w 114"/>
                  <a:gd name="T25" fmla="*/ 0 h 85"/>
                  <a:gd name="T26" fmla="*/ 114 w 114"/>
                  <a:gd name="T27" fmla="*/ 0 h 85"/>
                  <a:gd name="T28" fmla="*/ 114 w 114"/>
                  <a:gd name="T29" fmla="*/ 57 h 85"/>
                  <a:gd name="T30" fmla="*/ 86 w 114"/>
                  <a:gd name="T31" fmla="*/ 57 h 85"/>
                  <a:gd name="T32" fmla="*/ 86 w 114"/>
                  <a:gd name="T33"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4" h="85">
                    <a:moveTo>
                      <a:pt x="86" y="85"/>
                    </a:moveTo>
                    <a:lnTo>
                      <a:pt x="67" y="85"/>
                    </a:lnTo>
                    <a:lnTo>
                      <a:pt x="67" y="38"/>
                    </a:lnTo>
                    <a:lnTo>
                      <a:pt x="95" y="38"/>
                    </a:lnTo>
                    <a:lnTo>
                      <a:pt x="95" y="19"/>
                    </a:lnTo>
                    <a:lnTo>
                      <a:pt x="19" y="19"/>
                    </a:lnTo>
                    <a:lnTo>
                      <a:pt x="19" y="38"/>
                    </a:lnTo>
                    <a:lnTo>
                      <a:pt x="48" y="38"/>
                    </a:lnTo>
                    <a:lnTo>
                      <a:pt x="48" y="85"/>
                    </a:lnTo>
                    <a:lnTo>
                      <a:pt x="29" y="85"/>
                    </a:lnTo>
                    <a:lnTo>
                      <a:pt x="29" y="57"/>
                    </a:lnTo>
                    <a:lnTo>
                      <a:pt x="0" y="57"/>
                    </a:lnTo>
                    <a:lnTo>
                      <a:pt x="0" y="0"/>
                    </a:lnTo>
                    <a:lnTo>
                      <a:pt x="114" y="0"/>
                    </a:lnTo>
                    <a:lnTo>
                      <a:pt x="114" y="57"/>
                    </a:lnTo>
                    <a:lnTo>
                      <a:pt x="86" y="57"/>
                    </a:lnTo>
                    <a:lnTo>
                      <a:pt x="8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3" name="Freeform 8">
                <a:extLst>
                  <a:ext uri="{FF2B5EF4-FFF2-40B4-BE49-F238E27FC236}">
                    <a16:creationId xmlns:a16="http://schemas.microsoft.com/office/drawing/2014/main" id="{641553BD-209C-4EBC-83D5-DAE061D91C77}"/>
                  </a:ext>
                </a:extLst>
              </p:cNvPr>
              <p:cNvSpPr>
                <a:spLocks/>
              </p:cNvSpPr>
              <p:nvPr/>
            </p:nvSpPr>
            <p:spPr bwMode="auto">
              <a:xfrm>
                <a:off x="12199936" y="2562233"/>
                <a:ext cx="68263" cy="68263"/>
              </a:xfrm>
              <a:custGeom>
                <a:avLst/>
                <a:gdLst>
                  <a:gd name="T0" fmla="*/ 14 w 43"/>
                  <a:gd name="T1" fmla="*/ 43 h 43"/>
                  <a:gd name="T2" fmla="*/ 0 w 43"/>
                  <a:gd name="T3" fmla="*/ 29 h 43"/>
                  <a:gd name="T4" fmla="*/ 28 w 43"/>
                  <a:gd name="T5" fmla="*/ 0 h 43"/>
                  <a:gd name="T6" fmla="*/ 43 w 43"/>
                  <a:gd name="T7" fmla="*/ 15 h 43"/>
                  <a:gd name="T8" fmla="*/ 14 w 43"/>
                  <a:gd name="T9" fmla="*/ 43 h 43"/>
                </a:gdLst>
                <a:ahLst/>
                <a:cxnLst>
                  <a:cxn ang="0">
                    <a:pos x="T0" y="T1"/>
                  </a:cxn>
                  <a:cxn ang="0">
                    <a:pos x="T2" y="T3"/>
                  </a:cxn>
                  <a:cxn ang="0">
                    <a:pos x="T4" y="T5"/>
                  </a:cxn>
                  <a:cxn ang="0">
                    <a:pos x="T6" y="T7"/>
                  </a:cxn>
                  <a:cxn ang="0">
                    <a:pos x="T8" y="T9"/>
                  </a:cxn>
                </a:cxnLst>
                <a:rect l="0" t="0" r="r" b="b"/>
                <a:pathLst>
                  <a:path w="43" h="43">
                    <a:moveTo>
                      <a:pt x="14" y="43"/>
                    </a:moveTo>
                    <a:lnTo>
                      <a:pt x="0" y="29"/>
                    </a:lnTo>
                    <a:lnTo>
                      <a:pt x="28" y="0"/>
                    </a:lnTo>
                    <a:lnTo>
                      <a:pt x="43" y="15"/>
                    </a:lnTo>
                    <a:lnTo>
                      <a:pt x="14"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4" name="Freeform 9">
                <a:extLst>
                  <a:ext uri="{FF2B5EF4-FFF2-40B4-BE49-F238E27FC236}">
                    <a16:creationId xmlns:a16="http://schemas.microsoft.com/office/drawing/2014/main" id="{E76F9C9F-AFDC-4F6D-8D93-20FF51C50896}"/>
                  </a:ext>
                </a:extLst>
              </p:cNvPr>
              <p:cNvSpPr>
                <a:spLocks/>
              </p:cNvSpPr>
              <p:nvPr/>
            </p:nvSpPr>
            <p:spPr bwMode="auto">
              <a:xfrm>
                <a:off x="12225304" y="2543181"/>
                <a:ext cx="60325" cy="60325"/>
              </a:xfrm>
              <a:custGeom>
                <a:avLst/>
                <a:gdLst>
                  <a:gd name="T0" fmla="*/ 27 w 38"/>
                  <a:gd name="T1" fmla="*/ 38 h 38"/>
                  <a:gd name="T2" fmla="*/ 0 w 38"/>
                  <a:gd name="T3" fmla="*/ 12 h 38"/>
                  <a:gd name="T4" fmla="*/ 12 w 38"/>
                  <a:gd name="T5" fmla="*/ 0 h 38"/>
                  <a:gd name="T6" fmla="*/ 38 w 38"/>
                  <a:gd name="T7" fmla="*/ 27 h 38"/>
                  <a:gd name="T8" fmla="*/ 27 w 38"/>
                  <a:gd name="T9" fmla="*/ 38 h 38"/>
                </a:gdLst>
                <a:ahLst/>
                <a:cxnLst>
                  <a:cxn ang="0">
                    <a:pos x="T0" y="T1"/>
                  </a:cxn>
                  <a:cxn ang="0">
                    <a:pos x="T2" y="T3"/>
                  </a:cxn>
                  <a:cxn ang="0">
                    <a:pos x="T4" y="T5"/>
                  </a:cxn>
                  <a:cxn ang="0">
                    <a:pos x="T6" y="T7"/>
                  </a:cxn>
                  <a:cxn ang="0">
                    <a:pos x="T8" y="T9"/>
                  </a:cxn>
                </a:cxnLst>
                <a:rect l="0" t="0" r="r" b="b"/>
                <a:pathLst>
                  <a:path w="38" h="38">
                    <a:moveTo>
                      <a:pt x="27" y="38"/>
                    </a:moveTo>
                    <a:lnTo>
                      <a:pt x="0" y="12"/>
                    </a:lnTo>
                    <a:lnTo>
                      <a:pt x="12" y="0"/>
                    </a:lnTo>
                    <a:lnTo>
                      <a:pt x="38" y="27"/>
                    </a:lnTo>
                    <a:lnTo>
                      <a:pt x="2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5" name="Freeform 10">
                <a:extLst>
                  <a:ext uri="{FF2B5EF4-FFF2-40B4-BE49-F238E27FC236}">
                    <a16:creationId xmlns:a16="http://schemas.microsoft.com/office/drawing/2014/main" id="{7BC818EB-8126-4AB0-96B3-3BF8970C9BE3}"/>
                  </a:ext>
                </a:extLst>
              </p:cNvPr>
              <p:cNvSpPr>
                <a:spLocks/>
              </p:cNvSpPr>
              <p:nvPr/>
            </p:nvSpPr>
            <p:spPr bwMode="auto">
              <a:xfrm>
                <a:off x="12045950" y="2663825"/>
                <a:ext cx="134938" cy="136525"/>
              </a:xfrm>
              <a:custGeom>
                <a:avLst/>
                <a:gdLst>
                  <a:gd name="T0" fmla="*/ 85 w 85"/>
                  <a:gd name="T1" fmla="*/ 86 h 86"/>
                  <a:gd name="T2" fmla="*/ 0 w 85"/>
                  <a:gd name="T3" fmla="*/ 86 h 86"/>
                  <a:gd name="T4" fmla="*/ 0 w 85"/>
                  <a:gd name="T5" fmla="*/ 0 h 86"/>
                  <a:gd name="T6" fmla="*/ 19 w 85"/>
                  <a:gd name="T7" fmla="*/ 0 h 86"/>
                  <a:gd name="T8" fmla="*/ 19 w 85"/>
                  <a:gd name="T9" fmla="*/ 67 h 86"/>
                  <a:gd name="T10" fmla="*/ 85 w 85"/>
                  <a:gd name="T11" fmla="*/ 67 h 86"/>
                  <a:gd name="T12" fmla="*/ 85 w 85"/>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85" h="86">
                    <a:moveTo>
                      <a:pt x="85" y="86"/>
                    </a:moveTo>
                    <a:lnTo>
                      <a:pt x="0" y="86"/>
                    </a:lnTo>
                    <a:lnTo>
                      <a:pt x="0" y="0"/>
                    </a:lnTo>
                    <a:lnTo>
                      <a:pt x="19" y="0"/>
                    </a:lnTo>
                    <a:lnTo>
                      <a:pt x="19" y="67"/>
                    </a:lnTo>
                    <a:lnTo>
                      <a:pt x="85" y="67"/>
                    </a:lnTo>
                    <a:lnTo>
                      <a:pt x="8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5" name="组合 4">
            <a:extLst>
              <a:ext uri="{FF2B5EF4-FFF2-40B4-BE49-F238E27FC236}">
                <a16:creationId xmlns:a16="http://schemas.microsoft.com/office/drawing/2014/main" id="{EBAB56F0-5B59-4A8B-B239-E72627214B1B}"/>
              </a:ext>
            </a:extLst>
          </p:cNvPr>
          <p:cNvGrpSpPr/>
          <p:nvPr/>
        </p:nvGrpSpPr>
        <p:grpSpPr>
          <a:xfrm>
            <a:off x="6279743" y="1902582"/>
            <a:ext cx="2508656" cy="3815041"/>
            <a:chOff x="6276516" y="1931150"/>
            <a:chExt cx="2508656" cy="2995699"/>
          </a:xfrm>
        </p:grpSpPr>
        <p:sp>
          <p:nvSpPr>
            <p:cNvPr id="38" name="矩形 37">
              <a:extLst>
                <a:ext uri="{FF2B5EF4-FFF2-40B4-BE49-F238E27FC236}">
                  <a16:creationId xmlns:a16="http://schemas.microsoft.com/office/drawing/2014/main" id="{5C8C8DFB-9AC7-474A-BE48-D7B39A540B0D}"/>
                </a:ext>
              </a:extLst>
            </p:cNvPr>
            <p:cNvSpPr/>
            <p:nvPr/>
          </p:nvSpPr>
          <p:spPr>
            <a:xfrm>
              <a:off x="6276516"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9" name="矩形 38">
              <a:extLst>
                <a:ext uri="{FF2B5EF4-FFF2-40B4-BE49-F238E27FC236}">
                  <a16:creationId xmlns:a16="http://schemas.microsoft.com/office/drawing/2014/main" id="{21F2FDFD-BF68-4C11-8278-3433B10048DF}"/>
                </a:ext>
              </a:extLst>
            </p:cNvPr>
            <p:cNvSpPr/>
            <p:nvPr/>
          </p:nvSpPr>
          <p:spPr>
            <a:xfrm>
              <a:off x="6338149" y="2047057"/>
              <a:ext cx="244702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How I can contribute</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40" name="矩形 39">
              <a:extLst>
                <a:ext uri="{FF2B5EF4-FFF2-40B4-BE49-F238E27FC236}">
                  <a16:creationId xmlns:a16="http://schemas.microsoft.com/office/drawing/2014/main" id="{B789138A-F452-40F2-8AE7-549064D1D9FB}"/>
                </a:ext>
              </a:extLst>
            </p:cNvPr>
            <p:cNvSpPr/>
            <p:nvPr/>
          </p:nvSpPr>
          <p:spPr>
            <a:xfrm>
              <a:off x="6276517"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1" name="矩形 40">
              <a:extLst>
                <a:ext uri="{FF2B5EF4-FFF2-40B4-BE49-F238E27FC236}">
                  <a16:creationId xmlns:a16="http://schemas.microsoft.com/office/drawing/2014/main" id="{7AC56F17-B839-499A-9E04-A17C2F624E54}"/>
                </a:ext>
              </a:extLst>
            </p:cNvPr>
            <p:cNvSpPr/>
            <p:nvPr/>
          </p:nvSpPr>
          <p:spPr>
            <a:xfrm>
              <a:off x="6338149" y="2597232"/>
              <a:ext cx="2225740" cy="1778129"/>
            </a:xfrm>
            <a:prstGeom prst="rect">
              <a:avLst/>
            </a:prstGeom>
          </p:spPr>
          <p:txBody>
            <a:bodyPr wrap="square" lIns="0">
              <a:normAutofit fontScale="85000" lnSpcReduction="10000"/>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Integration + testing + experiment design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Data/pipeline implementation and evaluation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Documentation for reproducibility and handoff</a:t>
              </a:r>
              <a:endPar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67" name="组合 66">
              <a:extLst>
                <a:ext uri="{FF2B5EF4-FFF2-40B4-BE49-F238E27FC236}">
                  <a16:creationId xmlns:a16="http://schemas.microsoft.com/office/drawing/2014/main" id="{B461B236-F47B-440F-9421-B787E5806109}"/>
                </a:ext>
              </a:extLst>
            </p:cNvPr>
            <p:cNvGrpSpPr/>
            <p:nvPr/>
          </p:nvGrpSpPr>
          <p:grpSpPr>
            <a:xfrm>
              <a:off x="6448791" y="4465536"/>
              <a:ext cx="368569" cy="355727"/>
              <a:chOff x="11834813" y="3744913"/>
              <a:chExt cx="455613" cy="439738"/>
            </a:xfrm>
            <a:solidFill>
              <a:schemeClr val="bg1"/>
            </a:solidFill>
          </p:grpSpPr>
          <p:sp>
            <p:nvSpPr>
              <p:cNvPr id="68" name="Freeform 11">
                <a:extLst>
                  <a:ext uri="{FF2B5EF4-FFF2-40B4-BE49-F238E27FC236}">
                    <a16:creationId xmlns:a16="http://schemas.microsoft.com/office/drawing/2014/main" id="{9FEF784D-2D4A-455C-B7AB-DC6904B0B7B9}"/>
                  </a:ext>
                </a:extLst>
              </p:cNvPr>
              <p:cNvSpPr>
                <a:spLocks/>
              </p:cNvSpPr>
              <p:nvPr/>
            </p:nvSpPr>
            <p:spPr bwMode="auto">
              <a:xfrm>
                <a:off x="11834813" y="3763963"/>
                <a:ext cx="455613" cy="300038"/>
              </a:xfrm>
              <a:custGeom>
                <a:avLst/>
                <a:gdLst>
                  <a:gd name="T0" fmla="*/ 263 w 287"/>
                  <a:gd name="T1" fmla="*/ 189 h 189"/>
                  <a:gd name="T2" fmla="*/ 78 w 287"/>
                  <a:gd name="T3" fmla="*/ 189 h 189"/>
                  <a:gd name="T4" fmla="*/ 31 w 287"/>
                  <a:gd name="T5" fmla="*/ 18 h 189"/>
                  <a:gd name="T6" fmla="*/ 0 w 287"/>
                  <a:gd name="T7" fmla="*/ 18 h 189"/>
                  <a:gd name="T8" fmla="*/ 0 w 287"/>
                  <a:gd name="T9" fmla="*/ 0 h 189"/>
                  <a:gd name="T10" fmla="*/ 45 w 287"/>
                  <a:gd name="T11" fmla="*/ 0 h 189"/>
                  <a:gd name="T12" fmla="*/ 92 w 287"/>
                  <a:gd name="T13" fmla="*/ 170 h 189"/>
                  <a:gd name="T14" fmla="*/ 249 w 287"/>
                  <a:gd name="T15" fmla="*/ 170 h 189"/>
                  <a:gd name="T16" fmla="*/ 263 w 287"/>
                  <a:gd name="T17" fmla="*/ 85 h 189"/>
                  <a:gd name="T18" fmla="*/ 114 w 287"/>
                  <a:gd name="T19" fmla="*/ 85 h 189"/>
                  <a:gd name="T20" fmla="*/ 114 w 287"/>
                  <a:gd name="T21" fmla="*/ 66 h 189"/>
                  <a:gd name="T22" fmla="*/ 287 w 287"/>
                  <a:gd name="T23" fmla="*/ 66 h 189"/>
                  <a:gd name="T24" fmla="*/ 263 w 287"/>
                  <a:gd name="T25"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7" h="189">
                    <a:moveTo>
                      <a:pt x="263" y="189"/>
                    </a:moveTo>
                    <a:lnTo>
                      <a:pt x="78" y="189"/>
                    </a:lnTo>
                    <a:lnTo>
                      <a:pt x="31" y="18"/>
                    </a:lnTo>
                    <a:lnTo>
                      <a:pt x="0" y="18"/>
                    </a:lnTo>
                    <a:lnTo>
                      <a:pt x="0" y="0"/>
                    </a:lnTo>
                    <a:lnTo>
                      <a:pt x="45" y="0"/>
                    </a:lnTo>
                    <a:lnTo>
                      <a:pt x="92" y="170"/>
                    </a:lnTo>
                    <a:lnTo>
                      <a:pt x="249" y="170"/>
                    </a:lnTo>
                    <a:lnTo>
                      <a:pt x="263" y="85"/>
                    </a:lnTo>
                    <a:lnTo>
                      <a:pt x="114" y="85"/>
                    </a:lnTo>
                    <a:lnTo>
                      <a:pt x="114" y="66"/>
                    </a:lnTo>
                    <a:lnTo>
                      <a:pt x="287" y="66"/>
                    </a:lnTo>
                    <a:lnTo>
                      <a:pt x="263" y="1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9" name="Freeform 12">
                <a:extLst>
                  <a:ext uri="{FF2B5EF4-FFF2-40B4-BE49-F238E27FC236}">
                    <a16:creationId xmlns:a16="http://schemas.microsoft.com/office/drawing/2014/main" id="{11A87584-D703-4F08-9753-A9D3A941E365}"/>
                  </a:ext>
                </a:extLst>
              </p:cNvPr>
              <p:cNvSpPr>
                <a:spLocks noEditPoints="1"/>
              </p:cNvSpPr>
              <p:nvPr/>
            </p:nvSpPr>
            <p:spPr bwMode="auto">
              <a:xfrm>
                <a:off x="11955463"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0" name="Freeform 13">
                <a:extLst>
                  <a:ext uri="{FF2B5EF4-FFF2-40B4-BE49-F238E27FC236}">
                    <a16:creationId xmlns:a16="http://schemas.microsoft.com/office/drawing/2014/main" id="{B31A45B2-1803-4364-A834-5283E85A606F}"/>
                  </a:ext>
                </a:extLst>
              </p:cNvPr>
              <p:cNvSpPr>
                <a:spLocks noEditPoints="1"/>
              </p:cNvSpPr>
              <p:nvPr/>
            </p:nvSpPr>
            <p:spPr bwMode="auto">
              <a:xfrm>
                <a:off x="12150725"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 name="Rectangle 14">
                <a:extLst>
                  <a:ext uri="{FF2B5EF4-FFF2-40B4-BE49-F238E27FC236}">
                    <a16:creationId xmlns:a16="http://schemas.microsoft.com/office/drawing/2014/main" id="{8E405FF0-EE72-478C-82D4-37EC38837E7E}"/>
                  </a:ext>
                </a:extLst>
              </p:cNvPr>
              <p:cNvSpPr>
                <a:spLocks noChangeArrowheads="1"/>
              </p:cNvSpPr>
              <p:nvPr/>
            </p:nvSpPr>
            <p:spPr bwMode="auto">
              <a:xfrm>
                <a:off x="12045950"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2" name="Rectangle 15">
                <a:extLst>
                  <a:ext uri="{FF2B5EF4-FFF2-40B4-BE49-F238E27FC236}">
                    <a16:creationId xmlns:a16="http://schemas.microsoft.com/office/drawing/2014/main" id="{CFFDAA22-16CF-4175-94FB-A1FB93A75B91}"/>
                  </a:ext>
                </a:extLst>
              </p:cNvPr>
              <p:cNvSpPr>
                <a:spLocks noChangeArrowheads="1"/>
              </p:cNvSpPr>
              <p:nvPr/>
            </p:nvSpPr>
            <p:spPr bwMode="auto">
              <a:xfrm>
                <a:off x="12136438"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3" name="Freeform 16">
                <a:extLst>
                  <a:ext uri="{FF2B5EF4-FFF2-40B4-BE49-F238E27FC236}">
                    <a16:creationId xmlns:a16="http://schemas.microsoft.com/office/drawing/2014/main" id="{D5777420-1A91-4068-BF05-113D8251F952}"/>
                  </a:ext>
                </a:extLst>
              </p:cNvPr>
              <p:cNvSpPr>
                <a:spLocks/>
              </p:cNvSpPr>
              <p:nvPr/>
            </p:nvSpPr>
            <p:spPr bwMode="auto">
              <a:xfrm>
                <a:off x="12015788" y="3763963"/>
                <a:ext cx="107950" cy="74613"/>
              </a:xfrm>
              <a:custGeom>
                <a:avLst/>
                <a:gdLst>
                  <a:gd name="T0" fmla="*/ 19 w 68"/>
                  <a:gd name="T1" fmla="*/ 47 h 47"/>
                  <a:gd name="T2" fmla="*/ 0 w 68"/>
                  <a:gd name="T3" fmla="*/ 47 h 47"/>
                  <a:gd name="T4" fmla="*/ 0 w 68"/>
                  <a:gd name="T5" fmla="*/ 21 h 47"/>
                  <a:gd name="T6" fmla="*/ 64 w 68"/>
                  <a:gd name="T7" fmla="*/ 0 h 47"/>
                  <a:gd name="T8" fmla="*/ 68 w 68"/>
                  <a:gd name="T9" fmla="*/ 18 h 47"/>
                  <a:gd name="T10" fmla="*/ 19 w 68"/>
                  <a:gd name="T11" fmla="*/ 35 h 47"/>
                  <a:gd name="T12" fmla="*/ 19 w 6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68" h="47">
                    <a:moveTo>
                      <a:pt x="19" y="47"/>
                    </a:moveTo>
                    <a:lnTo>
                      <a:pt x="0" y="47"/>
                    </a:lnTo>
                    <a:lnTo>
                      <a:pt x="0" y="21"/>
                    </a:lnTo>
                    <a:lnTo>
                      <a:pt x="64" y="0"/>
                    </a:lnTo>
                    <a:lnTo>
                      <a:pt x="68" y="18"/>
                    </a:lnTo>
                    <a:lnTo>
                      <a:pt x="19" y="35"/>
                    </a:lnTo>
                    <a:lnTo>
                      <a:pt x="19"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4" name="Freeform 17">
                <a:extLst>
                  <a:ext uri="{FF2B5EF4-FFF2-40B4-BE49-F238E27FC236}">
                    <a16:creationId xmlns:a16="http://schemas.microsoft.com/office/drawing/2014/main" id="{F131C47E-1295-49C1-AFB1-1C32F4FFD22A}"/>
                  </a:ext>
                </a:extLst>
              </p:cNvPr>
              <p:cNvSpPr>
                <a:spLocks/>
              </p:cNvSpPr>
              <p:nvPr/>
            </p:nvSpPr>
            <p:spPr bwMode="auto">
              <a:xfrm>
                <a:off x="12106275" y="3744913"/>
                <a:ext cx="149225" cy="93663"/>
              </a:xfrm>
              <a:custGeom>
                <a:avLst/>
                <a:gdLst>
                  <a:gd name="T0" fmla="*/ 94 w 94"/>
                  <a:gd name="T1" fmla="*/ 59 h 59"/>
                  <a:gd name="T2" fmla="*/ 75 w 94"/>
                  <a:gd name="T3" fmla="*/ 59 h 59"/>
                  <a:gd name="T4" fmla="*/ 75 w 94"/>
                  <a:gd name="T5" fmla="*/ 38 h 59"/>
                  <a:gd name="T6" fmla="*/ 19 w 94"/>
                  <a:gd name="T7" fmla="*/ 23 h 59"/>
                  <a:gd name="T8" fmla="*/ 19 w 94"/>
                  <a:gd name="T9" fmla="*/ 59 h 59"/>
                  <a:gd name="T10" fmla="*/ 0 w 94"/>
                  <a:gd name="T11" fmla="*/ 59 h 59"/>
                  <a:gd name="T12" fmla="*/ 0 w 94"/>
                  <a:gd name="T13" fmla="*/ 0 h 59"/>
                  <a:gd name="T14" fmla="*/ 94 w 94"/>
                  <a:gd name="T15" fmla="*/ 23 h 59"/>
                  <a:gd name="T16" fmla="*/ 94 w 94"/>
                  <a:gd name="T1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59">
                    <a:moveTo>
                      <a:pt x="94" y="59"/>
                    </a:moveTo>
                    <a:lnTo>
                      <a:pt x="75" y="59"/>
                    </a:lnTo>
                    <a:lnTo>
                      <a:pt x="75" y="38"/>
                    </a:lnTo>
                    <a:lnTo>
                      <a:pt x="19" y="23"/>
                    </a:lnTo>
                    <a:lnTo>
                      <a:pt x="19" y="59"/>
                    </a:lnTo>
                    <a:lnTo>
                      <a:pt x="0" y="59"/>
                    </a:lnTo>
                    <a:lnTo>
                      <a:pt x="0" y="0"/>
                    </a:lnTo>
                    <a:lnTo>
                      <a:pt x="94" y="23"/>
                    </a:lnTo>
                    <a:lnTo>
                      <a:pt x="94"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6" name="组合 5">
            <a:extLst>
              <a:ext uri="{FF2B5EF4-FFF2-40B4-BE49-F238E27FC236}">
                <a16:creationId xmlns:a16="http://schemas.microsoft.com/office/drawing/2014/main" id="{52956298-5DC0-449C-920F-2F6D225A5A65}"/>
              </a:ext>
            </a:extLst>
          </p:cNvPr>
          <p:cNvGrpSpPr/>
          <p:nvPr/>
        </p:nvGrpSpPr>
        <p:grpSpPr>
          <a:xfrm>
            <a:off x="9087802" y="1902582"/>
            <a:ext cx="2447024" cy="3815038"/>
            <a:chOff x="9084575" y="1931150"/>
            <a:chExt cx="2447024" cy="2995699"/>
          </a:xfrm>
        </p:grpSpPr>
        <p:sp>
          <p:nvSpPr>
            <p:cNvPr id="48" name="矩形 47">
              <a:extLst>
                <a:ext uri="{FF2B5EF4-FFF2-40B4-BE49-F238E27FC236}">
                  <a16:creationId xmlns:a16="http://schemas.microsoft.com/office/drawing/2014/main" id="{AFE2A724-362A-4415-991C-ECC2C91A2F8C}"/>
                </a:ext>
              </a:extLst>
            </p:cNvPr>
            <p:cNvSpPr/>
            <p:nvPr/>
          </p:nvSpPr>
          <p:spPr>
            <a:xfrm>
              <a:off x="9084575"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9" name="矩形 48">
              <a:extLst>
                <a:ext uri="{FF2B5EF4-FFF2-40B4-BE49-F238E27FC236}">
                  <a16:creationId xmlns:a16="http://schemas.microsoft.com/office/drawing/2014/main" id="{5B326D90-96C2-40EC-B0CB-27464C12416C}"/>
                </a:ext>
              </a:extLst>
            </p:cNvPr>
            <p:cNvSpPr/>
            <p:nvPr/>
          </p:nvSpPr>
          <p:spPr>
            <a:xfrm>
              <a:off x="9256849" y="2057889"/>
              <a:ext cx="190479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Working style</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50" name="矩形 49">
              <a:extLst>
                <a:ext uri="{FF2B5EF4-FFF2-40B4-BE49-F238E27FC236}">
                  <a16:creationId xmlns:a16="http://schemas.microsoft.com/office/drawing/2014/main" id="{C5723DFA-5972-4E31-8C99-340878CBADB0}"/>
                </a:ext>
              </a:extLst>
            </p:cNvPr>
            <p:cNvSpPr/>
            <p:nvPr/>
          </p:nvSpPr>
          <p:spPr>
            <a:xfrm>
              <a:off x="9084576"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1" name="矩形 50">
              <a:extLst>
                <a:ext uri="{FF2B5EF4-FFF2-40B4-BE49-F238E27FC236}">
                  <a16:creationId xmlns:a16="http://schemas.microsoft.com/office/drawing/2014/main" id="{237798E0-F1E9-420F-8E02-BC2011CC4353}"/>
                </a:ext>
              </a:extLst>
            </p:cNvPr>
            <p:cNvSpPr/>
            <p:nvPr/>
          </p:nvSpPr>
          <p:spPr>
            <a:xfrm>
              <a:off x="9256850" y="2638607"/>
              <a:ext cx="2225740" cy="1498552"/>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Weekly milestones</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Fast iteration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Small tests first </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then scale</a:t>
              </a:r>
              <a:endPar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76" name="组合 75">
              <a:extLst>
                <a:ext uri="{FF2B5EF4-FFF2-40B4-BE49-F238E27FC236}">
                  <a16:creationId xmlns:a16="http://schemas.microsoft.com/office/drawing/2014/main" id="{D6494545-E9F0-4D35-BBA7-1634AF6848A0}"/>
                </a:ext>
              </a:extLst>
            </p:cNvPr>
            <p:cNvGrpSpPr/>
            <p:nvPr/>
          </p:nvGrpSpPr>
          <p:grpSpPr>
            <a:xfrm>
              <a:off x="9256850" y="4479311"/>
              <a:ext cx="353094" cy="353093"/>
              <a:chOff x="13057188" y="3740150"/>
              <a:chExt cx="474663" cy="474663"/>
            </a:xfrm>
            <a:solidFill>
              <a:schemeClr val="bg1"/>
            </a:solidFill>
          </p:grpSpPr>
          <p:sp>
            <p:nvSpPr>
              <p:cNvPr id="77" name="Freeform 18">
                <a:extLst>
                  <a:ext uri="{FF2B5EF4-FFF2-40B4-BE49-F238E27FC236}">
                    <a16:creationId xmlns:a16="http://schemas.microsoft.com/office/drawing/2014/main" id="{F71EFF66-BD64-4219-9252-D7D1D1ABC026}"/>
                  </a:ext>
                </a:extLst>
              </p:cNvPr>
              <p:cNvSpPr>
                <a:spLocks/>
              </p:cNvSpPr>
              <p:nvPr/>
            </p:nvSpPr>
            <p:spPr bwMode="auto">
              <a:xfrm>
                <a:off x="13114338" y="4019550"/>
                <a:ext cx="360363" cy="195263"/>
              </a:xfrm>
              <a:custGeom>
                <a:avLst/>
                <a:gdLst>
                  <a:gd name="T0" fmla="*/ 227 w 227"/>
                  <a:gd name="T1" fmla="*/ 123 h 123"/>
                  <a:gd name="T2" fmla="*/ 0 w 227"/>
                  <a:gd name="T3" fmla="*/ 123 h 123"/>
                  <a:gd name="T4" fmla="*/ 0 w 227"/>
                  <a:gd name="T5" fmla="*/ 0 h 123"/>
                  <a:gd name="T6" fmla="*/ 19 w 227"/>
                  <a:gd name="T7" fmla="*/ 0 h 123"/>
                  <a:gd name="T8" fmla="*/ 19 w 227"/>
                  <a:gd name="T9" fmla="*/ 104 h 123"/>
                  <a:gd name="T10" fmla="*/ 208 w 227"/>
                  <a:gd name="T11" fmla="*/ 104 h 123"/>
                  <a:gd name="T12" fmla="*/ 208 w 227"/>
                  <a:gd name="T13" fmla="*/ 0 h 123"/>
                  <a:gd name="T14" fmla="*/ 227 w 227"/>
                  <a:gd name="T15" fmla="*/ 0 h 123"/>
                  <a:gd name="T16" fmla="*/ 227 w 227"/>
                  <a:gd name="T17"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123">
                    <a:moveTo>
                      <a:pt x="227" y="123"/>
                    </a:moveTo>
                    <a:lnTo>
                      <a:pt x="0" y="123"/>
                    </a:lnTo>
                    <a:lnTo>
                      <a:pt x="0" y="0"/>
                    </a:lnTo>
                    <a:lnTo>
                      <a:pt x="19" y="0"/>
                    </a:lnTo>
                    <a:lnTo>
                      <a:pt x="19" y="104"/>
                    </a:lnTo>
                    <a:lnTo>
                      <a:pt x="208" y="104"/>
                    </a:lnTo>
                    <a:lnTo>
                      <a:pt x="208" y="0"/>
                    </a:lnTo>
                    <a:lnTo>
                      <a:pt x="227" y="0"/>
                    </a:lnTo>
                    <a:lnTo>
                      <a:pt x="227"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8" name="Freeform 19">
                <a:extLst>
                  <a:ext uri="{FF2B5EF4-FFF2-40B4-BE49-F238E27FC236}">
                    <a16:creationId xmlns:a16="http://schemas.microsoft.com/office/drawing/2014/main" id="{BAC37453-25A7-4BDE-8B50-4B8CE3DCBEE2}"/>
                  </a:ext>
                </a:extLst>
              </p:cNvPr>
              <p:cNvSpPr>
                <a:spLocks/>
              </p:cNvSpPr>
              <p:nvPr/>
            </p:nvSpPr>
            <p:spPr bwMode="auto">
              <a:xfrm>
                <a:off x="13057188" y="3740150"/>
                <a:ext cx="474663" cy="274638"/>
              </a:xfrm>
              <a:custGeom>
                <a:avLst/>
                <a:gdLst>
                  <a:gd name="T0" fmla="*/ 284 w 299"/>
                  <a:gd name="T1" fmla="*/ 173 h 173"/>
                  <a:gd name="T2" fmla="*/ 149 w 299"/>
                  <a:gd name="T3" fmla="*/ 29 h 173"/>
                  <a:gd name="T4" fmla="*/ 14 w 299"/>
                  <a:gd name="T5" fmla="*/ 173 h 173"/>
                  <a:gd name="T6" fmla="*/ 0 w 299"/>
                  <a:gd name="T7" fmla="*/ 159 h 173"/>
                  <a:gd name="T8" fmla="*/ 149 w 299"/>
                  <a:gd name="T9" fmla="*/ 0 h 173"/>
                  <a:gd name="T10" fmla="*/ 299 w 299"/>
                  <a:gd name="T11" fmla="*/ 159 h 173"/>
                  <a:gd name="T12" fmla="*/ 284 w 299"/>
                  <a:gd name="T13" fmla="*/ 173 h 173"/>
                </a:gdLst>
                <a:ahLst/>
                <a:cxnLst>
                  <a:cxn ang="0">
                    <a:pos x="T0" y="T1"/>
                  </a:cxn>
                  <a:cxn ang="0">
                    <a:pos x="T2" y="T3"/>
                  </a:cxn>
                  <a:cxn ang="0">
                    <a:pos x="T4" y="T5"/>
                  </a:cxn>
                  <a:cxn ang="0">
                    <a:pos x="T6" y="T7"/>
                  </a:cxn>
                  <a:cxn ang="0">
                    <a:pos x="T8" y="T9"/>
                  </a:cxn>
                  <a:cxn ang="0">
                    <a:pos x="T10" y="T11"/>
                  </a:cxn>
                  <a:cxn ang="0">
                    <a:pos x="T12" y="T13"/>
                  </a:cxn>
                </a:cxnLst>
                <a:rect l="0" t="0" r="r" b="b"/>
                <a:pathLst>
                  <a:path w="299" h="173">
                    <a:moveTo>
                      <a:pt x="284" y="173"/>
                    </a:moveTo>
                    <a:lnTo>
                      <a:pt x="149" y="29"/>
                    </a:lnTo>
                    <a:lnTo>
                      <a:pt x="14" y="173"/>
                    </a:lnTo>
                    <a:lnTo>
                      <a:pt x="0" y="159"/>
                    </a:lnTo>
                    <a:lnTo>
                      <a:pt x="149" y="0"/>
                    </a:lnTo>
                    <a:lnTo>
                      <a:pt x="299" y="159"/>
                    </a:lnTo>
                    <a:lnTo>
                      <a:pt x="284" y="1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9" name="Freeform 20">
                <a:extLst>
                  <a:ext uri="{FF2B5EF4-FFF2-40B4-BE49-F238E27FC236}">
                    <a16:creationId xmlns:a16="http://schemas.microsoft.com/office/drawing/2014/main" id="{BD127DE5-08FD-4CB8-BDAB-23BD7AA21E4F}"/>
                  </a:ext>
                </a:extLst>
              </p:cNvPr>
              <p:cNvSpPr>
                <a:spLocks/>
              </p:cNvSpPr>
              <p:nvPr/>
            </p:nvSpPr>
            <p:spPr bwMode="auto">
              <a:xfrm>
                <a:off x="13233400" y="4019550"/>
                <a:ext cx="120650" cy="134938"/>
              </a:xfrm>
              <a:custGeom>
                <a:avLst/>
                <a:gdLst>
                  <a:gd name="T0" fmla="*/ 76 w 76"/>
                  <a:gd name="T1" fmla="*/ 85 h 85"/>
                  <a:gd name="T2" fmla="*/ 57 w 76"/>
                  <a:gd name="T3" fmla="*/ 85 h 85"/>
                  <a:gd name="T4" fmla="*/ 57 w 76"/>
                  <a:gd name="T5" fmla="*/ 19 h 85"/>
                  <a:gd name="T6" fmla="*/ 19 w 76"/>
                  <a:gd name="T7" fmla="*/ 19 h 85"/>
                  <a:gd name="T8" fmla="*/ 19 w 76"/>
                  <a:gd name="T9" fmla="*/ 85 h 85"/>
                  <a:gd name="T10" fmla="*/ 0 w 76"/>
                  <a:gd name="T11" fmla="*/ 85 h 85"/>
                  <a:gd name="T12" fmla="*/ 0 w 76"/>
                  <a:gd name="T13" fmla="*/ 0 h 85"/>
                  <a:gd name="T14" fmla="*/ 76 w 76"/>
                  <a:gd name="T15" fmla="*/ 0 h 85"/>
                  <a:gd name="T16" fmla="*/ 76 w 76"/>
                  <a:gd name="T1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85">
                    <a:moveTo>
                      <a:pt x="76" y="85"/>
                    </a:moveTo>
                    <a:lnTo>
                      <a:pt x="57" y="85"/>
                    </a:lnTo>
                    <a:lnTo>
                      <a:pt x="57" y="19"/>
                    </a:lnTo>
                    <a:lnTo>
                      <a:pt x="19" y="19"/>
                    </a:lnTo>
                    <a:lnTo>
                      <a:pt x="19" y="85"/>
                    </a:lnTo>
                    <a:lnTo>
                      <a:pt x="0" y="85"/>
                    </a:lnTo>
                    <a:lnTo>
                      <a:pt x="0" y="0"/>
                    </a:lnTo>
                    <a:lnTo>
                      <a:pt x="76" y="0"/>
                    </a:lnTo>
                    <a:lnTo>
                      <a:pt x="7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0" name="Freeform 21">
                <a:extLst>
                  <a:ext uri="{FF2B5EF4-FFF2-40B4-BE49-F238E27FC236}">
                    <a16:creationId xmlns:a16="http://schemas.microsoft.com/office/drawing/2014/main" id="{0C8B888E-F5E0-428D-8D45-A703F47334AA}"/>
                  </a:ext>
                </a:extLst>
              </p:cNvPr>
              <p:cNvSpPr>
                <a:spLocks noEditPoints="1"/>
              </p:cNvSpPr>
              <p:nvPr/>
            </p:nvSpPr>
            <p:spPr bwMode="auto">
              <a:xfrm>
                <a:off x="13233400" y="3868738"/>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cxnSp>
        <p:nvCxnSpPr>
          <p:cNvPr id="52" name="直接连接符 51">
            <a:extLst>
              <a:ext uri="{FF2B5EF4-FFF2-40B4-BE49-F238E27FC236}">
                <a16:creationId xmlns:a16="http://schemas.microsoft.com/office/drawing/2014/main" id="{B0B62FE5-689A-4C0E-835B-1BE7D3308C3D}"/>
              </a:ext>
            </a:extLst>
          </p:cNvPr>
          <p:cNvCxnSpPr>
            <a:cxnSpLocks/>
          </p:cNvCxnSpPr>
          <p:nvPr/>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3D834D4-A02B-4395-8638-530A762068C0}"/>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4285F7A0-B237-4C9D-99D0-40D023D29340}"/>
              </a:ext>
            </a:extLst>
          </p:cNvPr>
          <p:cNvSpPr txBox="1"/>
          <p:nvPr/>
        </p:nvSpPr>
        <p:spPr>
          <a:xfrm>
            <a:off x="452512" y="300592"/>
            <a:ext cx="4606371" cy="461665"/>
          </a:xfrm>
          <a:prstGeom prst="rect">
            <a:avLst/>
          </a:prstGeom>
          <a:noFill/>
        </p:spPr>
        <p:txBody>
          <a:bodyPr wrap="square" rtlCol="0">
            <a:spAutoFit/>
          </a:bodyPr>
          <a:lstStyle/>
          <a:p>
            <a:r>
              <a:rPr lang="en-US" altLang="zh-CN" sz="2400" b="1" dirty="0">
                <a:solidFill>
                  <a:schemeClr val="accent1"/>
                </a:solidFill>
                <a:latin typeface="+mj-ea"/>
                <a:ea typeface="+mj-ea"/>
              </a:rPr>
              <a:t>Why BDML</a:t>
            </a:r>
            <a:endParaRPr lang="zh-CN" altLang="en-US" sz="2400" b="1" dirty="0">
              <a:solidFill>
                <a:schemeClr val="accent1"/>
              </a:solidFill>
              <a:latin typeface="+mj-ea"/>
              <a:ea typeface="+mj-ea"/>
            </a:endParaRPr>
          </a:p>
        </p:txBody>
      </p:sp>
      <p:pic>
        <p:nvPicPr>
          <p:cNvPr id="55" name="图片 54" descr="黑白色的标志&#10;&#10;中度可信度描述已自动生成">
            <a:extLst>
              <a:ext uri="{FF2B5EF4-FFF2-40B4-BE49-F238E27FC236}">
                <a16:creationId xmlns:a16="http://schemas.microsoft.com/office/drawing/2014/main" id="{CA1BDCC9-1A8F-40E1-9A71-1C52F10B9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E3288C86-D5D5-4B2E-AC83-3877B515629F}"/>
              </a:ext>
            </a:extLst>
          </p:cNvPr>
          <p:cNvSpPr>
            <a:spLocks noGrp="1"/>
          </p:cNvSpPr>
          <p:nvPr>
            <p:ph type="sldNum" sz="quarter" idx="12"/>
          </p:nvPr>
        </p:nvSpPr>
        <p:spPr/>
        <p:txBody>
          <a:bodyPr/>
          <a:lstStyle/>
          <a:p>
            <a:fld id="{CCBA9D17-A0D3-409F-BFF9-E5BAE63FEE36}" type="slidenum">
              <a:rPr lang="zh-CN" altLang="en-US" smtClean="0"/>
              <a:pPr/>
              <a:t>8</a:t>
            </a:fld>
            <a:endParaRPr lang="zh-CN" altLang="en-US" dirty="0"/>
          </a:p>
        </p:txBody>
      </p:sp>
    </p:spTree>
    <p:extLst>
      <p:ext uri="{BB962C8B-B14F-4D97-AF65-F5344CB8AC3E}">
        <p14:creationId xmlns:p14="http://schemas.microsoft.com/office/powerpoint/2010/main" val="2433904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92590-693A-E90A-7F0B-A0D772877227}"/>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18609143-AA2A-A74A-9296-392A9F61BEBB}"/>
              </a:ext>
            </a:extLst>
          </p:cNvPr>
          <p:cNvGrpSpPr/>
          <p:nvPr/>
        </p:nvGrpSpPr>
        <p:grpSpPr>
          <a:xfrm>
            <a:off x="663627" y="1902582"/>
            <a:ext cx="2534916" cy="4567792"/>
            <a:chOff x="660400" y="1931150"/>
            <a:chExt cx="2534916" cy="2995699"/>
          </a:xfrm>
        </p:grpSpPr>
        <p:sp>
          <p:nvSpPr>
            <p:cNvPr id="16" name="矩形 15">
              <a:extLst>
                <a:ext uri="{FF2B5EF4-FFF2-40B4-BE49-F238E27FC236}">
                  <a16:creationId xmlns:a16="http://schemas.microsoft.com/office/drawing/2014/main" id="{16985666-B67D-D945-BEE7-DC163BDE7A21}"/>
                </a:ext>
              </a:extLst>
            </p:cNvPr>
            <p:cNvSpPr/>
            <p:nvPr/>
          </p:nvSpPr>
          <p:spPr>
            <a:xfrm>
              <a:off x="660400"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矩形 16">
              <a:extLst>
                <a:ext uri="{FF2B5EF4-FFF2-40B4-BE49-F238E27FC236}">
                  <a16:creationId xmlns:a16="http://schemas.microsoft.com/office/drawing/2014/main" id="{197ECE9B-70A8-5F34-2FE7-50D00245FF87}"/>
                </a:ext>
              </a:extLst>
            </p:cNvPr>
            <p:cNvSpPr/>
            <p:nvPr/>
          </p:nvSpPr>
          <p:spPr>
            <a:xfrm>
              <a:off x="832674" y="1990804"/>
              <a:ext cx="2086203" cy="463668"/>
            </a:xfrm>
            <a:prstGeom prst="rect">
              <a:avLst/>
            </a:prstGeom>
          </p:spPr>
          <p:txBody>
            <a:bodyPr wrap="square" lIns="0">
              <a:normAutofit fontScale="85000" lnSpcReduction="10000"/>
            </a:bodyPr>
            <a:lstStyle/>
            <a:p>
              <a:pPr>
                <a:lnSpc>
                  <a:spcPct val="120000"/>
                </a:lnSpc>
              </a:pPr>
              <a:r>
                <a:rPr lang="en"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Track A: Tactile sensing (preferred)</a:t>
              </a:r>
            </a:p>
          </p:txBody>
        </p:sp>
        <p:sp>
          <p:nvSpPr>
            <p:cNvPr id="18" name="矩形 17">
              <a:extLst>
                <a:ext uri="{FF2B5EF4-FFF2-40B4-BE49-F238E27FC236}">
                  <a16:creationId xmlns:a16="http://schemas.microsoft.com/office/drawing/2014/main" id="{DB5A7B80-1D9A-999E-1577-68AC848E8D95}"/>
                </a:ext>
              </a:extLst>
            </p:cNvPr>
            <p:cNvSpPr/>
            <p:nvPr/>
          </p:nvSpPr>
          <p:spPr>
            <a:xfrm>
              <a:off x="660401"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75F922BD-85B1-D687-517B-CFC16BAD1E5C}"/>
                </a:ext>
              </a:extLst>
            </p:cNvPr>
            <p:cNvSpPr/>
            <p:nvPr/>
          </p:nvSpPr>
          <p:spPr>
            <a:xfrm>
              <a:off x="741840" y="2518634"/>
              <a:ext cx="2453476" cy="1933593"/>
            </a:xfrm>
            <a:prstGeom prst="rect">
              <a:avLst/>
            </a:prstGeom>
          </p:spPr>
          <p:txBody>
            <a:bodyPr wrap="square" lIns="0">
              <a:normAutofit fontScale="92500" lnSpcReduction="10000"/>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Calibration + signal conditioning (noise, drift, synchronization)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Contact-state estimation (onset / slip cues / force trends)</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Experiments + metrics for iteration (repeatability first)</a:t>
              </a:r>
            </a:p>
          </p:txBody>
        </p:sp>
        <p:grpSp>
          <p:nvGrpSpPr>
            <p:cNvPr id="21" name="组合 20">
              <a:extLst>
                <a:ext uri="{FF2B5EF4-FFF2-40B4-BE49-F238E27FC236}">
                  <a16:creationId xmlns:a16="http://schemas.microsoft.com/office/drawing/2014/main" id="{1671E902-387B-1686-ABE8-C504B1F2C878}"/>
                </a:ext>
              </a:extLst>
            </p:cNvPr>
            <p:cNvGrpSpPr/>
            <p:nvPr/>
          </p:nvGrpSpPr>
          <p:grpSpPr>
            <a:xfrm flipH="1">
              <a:off x="832675" y="4463181"/>
              <a:ext cx="364235" cy="369223"/>
              <a:chOff x="9363075" y="4967288"/>
              <a:chExt cx="463551" cy="469900"/>
            </a:xfrm>
            <a:solidFill>
              <a:schemeClr val="bg1"/>
            </a:solidFill>
          </p:grpSpPr>
          <p:sp>
            <p:nvSpPr>
              <p:cNvPr id="22" name="Freeform 22">
                <a:extLst>
                  <a:ext uri="{FF2B5EF4-FFF2-40B4-BE49-F238E27FC236}">
                    <a16:creationId xmlns:a16="http://schemas.microsoft.com/office/drawing/2014/main" id="{BBD97E4D-9091-C59F-BFDD-EF569E6F5846}"/>
                  </a:ext>
                </a:extLst>
              </p:cNvPr>
              <p:cNvSpPr>
                <a:spLocks/>
              </p:cNvSpPr>
              <p:nvPr/>
            </p:nvSpPr>
            <p:spPr bwMode="auto">
              <a:xfrm>
                <a:off x="9371013" y="5280025"/>
                <a:ext cx="158750" cy="150813"/>
              </a:xfrm>
              <a:custGeom>
                <a:avLst/>
                <a:gdLst>
                  <a:gd name="T0" fmla="*/ 14 w 100"/>
                  <a:gd name="T1" fmla="*/ 95 h 95"/>
                  <a:gd name="T2" fmla="*/ 0 w 100"/>
                  <a:gd name="T3" fmla="*/ 80 h 95"/>
                  <a:gd name="T4" fmla="*/ 85 w 100"/>
                  <a:gd name="T5" fmla="*/ 0 h 95"/>
                  <a:gd name="T6" fmla="*/ 100 w 100"/>
                  <a:gd name="T7" fmla="*/ 14 h 95"/>
                  <a:gd name="T8" fmla="*/ 14 w 100"/>
                  <a:gd name="T9" fmla="*/ 95 h 95"/>
                </a:gdLst>
                <a:ahLst/>
                <a:cxnLst>
                  <a:cxn ang="0">
                    <a:pos x="T0" y="T1"/>
                  </a:cxn>
                  <a:cxn ang="0">
                    <a:pos x="T2" y="T3"/>
                  </a:cxn>
                  <a:cxn ang="0">
                    <a:pos x="T4" y="T5"/>
                  </a:cxn>
                  <a:cxn ang="0">
                    <a:pos x="T6" y="T7"/>
                  </a:cxn>
                  <a:cxn ang="0">
                    <a:pos x="T8" y="T9"/>
                  </a:cxn>
                </a:cxnLst>
                <a:rect l="0" t="0" r="r" b="b"/>
                <a:pathLst>
                  <a:path w="100" h="95">
                    <a:moveTo>
                      <a:pt x="14" y="95"/>
                    </a:moveTo>
                    <a:lnTo>
                      <a:pt x="0" y="80"/>
                    </a:lnTo>
                    <a:lnTo>
                      <a:pt x="85" y="0"/>
                    </a:lnTo>
                    <a:lnTo>
                      <a:pt x="100" y="14"/>
                    </a:lnTo>
                    <a:lnTo>
                      <a:pt x="14"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3" name="Freeform 23">
                <a:extLst>
                  <a:ext uri="{FF2B5EF4-FFF2-40B4-BE49-F238E27FC236}">
                    <a16:creationId xmlns:a16="http://schemas.microsoft.com/office/drawing/2014/main" id="{92D3FA5D-01DD-34A9-67BE-F0D2B2703BA4}"/>
                  </a:ext>
                </a:extLst>
              </p:cNvPr>
              <p:cNvSpPr>
                <a:spLocks noEditPoints="1"/>
              </p:cNvSpPr>
              <p:nvPr/>
            </p:nvSpPr>
            <p:spPr bwMode="auto">
              <a:xfrm>
                <a:off x="9486900" y="5200650"/>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Freeform 24">
                <a:extLst>
                  <a:ext uri="{FF2B5EF4-FFF2-40B4-BE49-F238E27FC236}">
                    <a16:creationId xmlns:a16="http://schemas.microsoft.com/office/drawing/2014/main" id="{37BA3D9D-E2FD-38FC-3FF3-8ACAD691EC09}"/>
                  </a:ext>
                </a:extLst>
              </p:cNvPr>
              <p:cNvSpPr>
                <a:spLocks noEditPoints="1"/>
              </p:cNvSpPr>
              <p:nvPr/>
            </p:nvSpPr>
            <p:spPr bwMode="auto">
              <a:xfrm>
                <a:off x="9577388" y="4967288"/>
                <a:ext cx="249238" cy="249238"/>
              </a:xfrm>
              <a:custGeom>
                <a:avLst/>
                <a:gdLst>
                  <a:gd name="T0" fmla="*/ 32 w 66"/>
                  <a:gd name="T1" fmla="*/ 66 h 66"/>
                  <a:gd name="T2" fmla="*/ 9 w 66"/>
                  <a:gd name="T3" fmla="*/ 57 h 66"/>
                  <a:gd name="T4" fmla="*/ 0 w 66"/>
                  <a:gd name="T5" fmla="*/ 34 h 66"/>
                  <a:gd name="T6" fmla="*/ 9 w 66"/>
                  <a:gd name="T7" fmla="*/ 11 h 66"/>
                  <a:gd name="T8" fmla="*/ 20 w 66"/>
                  <a:gd name="T9" fmla="*/ 0 h 66"/>
                  <a:gd name="T10" fmla="*/ 66 w 66"/>
                  <a:gd name="T11" fmla="*/ 46 h 66"/>
                  <a:gd name="T12" fmla="*/ 55 w 66"/>
                  <a:gd name="T13" fmla="*/ 57 h 66"/>
                  <a:gd name="T14" fmla="*/ 32 w 66"/>
                  <a:gd name="T15" fmla="*/ 66 h 66"/>
                  <a:gd name="T16" fmla="*/ 20 w 66"/>
                  <a:gd name="T17" fmla="*/ 12 h 66"/>
                  <a:gd name="T18" fmla="*/ 15 w 66"/>
                  <a:gd name="T19" fmla="*/ 17 h 66"/>
                  <a:gd name="T20" fmla="*/ 8 w 66"/>
                  <a:gd name="T21" fmla="*/ 34 h 66"/>
                  <a:gd name="T22" fmla="*/ 15 w 66"/>
                  <a:gd name="T23" fmla="*/ 51 h 66"/>
                  <a:gd name="T24" fmla="*/ 32 w 66"/>
                  <a:gd name="T25" fmla="*/ 58 h 66"/>
                  <a:gd name="T26" fmla="*/ 49 w 66"/>
                  <a:gd name="T27" fmla="*/ 51 h 66"/>
                  <a:gd name="T28" fmla="*/ 54 w 66"/>
                  <a:gd name="T29" fmla="*/ 46 h 66"/>
                  <a:gd name="T30" fmla="*/ 20 w 66"/>
                  <a:gd name="T31" fmla="*/ 1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66">
                    <a:moveTo>
                      <a:pt x="32" y="66"/>
                    </a:moveTo>
                    <a:cubicBezTo>
                      <a:pt x="23" y="66"/>
                      <a:pt x="15" y="63"/>
                      <a:pt x="9" y="57"/>
                    </a:cubicBezTo>
                    <a:cubicBezTo>
                      <a:pt x="3" y="51"/>
                      <a:pt x="0" y="43"/>
                      <a:pt x="0" y="34"/>
                    </a:cubicBezTo>
                    <a:cubicBezTo>
                      <a:pt x="0" y="25"/>
                      <a:pt x="3" y="17"/>
                      <a:pt x="9" y="11"/>
                    </a:cubicBezTo>
                    <a:cubicBezTo>
                      <a:pt x="20" y="0"/>
                      <a:pt x="20" y="0"/>
                      <a:pt x="20" y="0"/>
                    </a:cubicBezTo>
                    <a:cubicBezTo>
                      <a:pt x="66" y="46"/>
                      <a:pt x="66" y="46"/>
                      <a:pt x="66" y="46"/>
                    </a:cubicBezTo>
                    <a:cubicBezTo>
                      <a:pt x="55" y="57"/>
                      <a:pt x="55" y="57"/>
                      <a:pt x="55" y="57"/>
                    </a:cubicBezTo>
                    <a:cubicBezTo>
                      <a:pt x="49" y="63"/>
                      <a:pt x="41" y="66"/>
                      <a:pt x="32" y="66"/>
                    </a:cubicBezTo>
                    <a:moveTo>
                      <a:pt x="20" y="12"/>
                    </a:moveTo>
                    <a:cubicBezTo>
                      <a:pt x="15" y="17"/>
                      <a:pt x="15" y="17"/>
                      <a:pt x="15" y="17"/>
                    </a:cubicBezTo>
                    <a:cubicBezTo>
                      <a:pt x="10" y="22"/>
                      <a:pt x="8" y="28"/>
                      <a:pt x="8" y="34"/>
                    </a:cubicBezTo>
                    <a:cubicBezTo>
                      <a:pt x="8" y="40"/>
                      <a:pt x="10" y="46"/>
                      <a:pt x="15" y="51"/>
                    </a:cubicBezTo>
                    <a:cubicBezTo>
                      <a:pt x="20" y="56"/>
                      <a:pt x="26" y="58"/>
                      <a:pt x="32" y="58"/>
                    </a:cubicBezTo>
                    <a:cubicBezTo>
                      <a:pt x="38" y="58"/>
                      <a:pt x="44" y="56"/>
                      <a:pt x="49" y="51"/>
                    </a:cubicBezTo>
                    <a:cubicBezTo>
                      <a:pt x="54" y="46"/>
                      <a:pt x="54" y="46"/>
                      <a:pt x="54" y="46"/>
                    </a:cubicBez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Freeform 25">
                <a:extLst>
                  <a:ext uri="{FF2B5EF4-FFF2-40B4-BE49-F238E27FC236}">
                    <a16:creationId xmlns:a16="http://schemas.microsoft.com/office/drawing/2014/main" id="{FDE14038-3BBF-3B9D-6A83-28B0A9FDCD9D}"/>
                  </a:ext>
                </a:extLst>
              </p:cNvPr>
              <p:cNvSpPr>
                <a:spLocks/>
              </p:cNvSpPr>
              <p:nvPr/>
            </p:nvSpPr>
            <p:spPr bwMode="auto">
              <a:xfrm>
                <a:off x="9363075" y="5065713"/>
                <a:ext cx="365125" cy="371475"/>
              </a:xfrm>
              <a:custGeom>
                <a:avLst/>
                <a:gdLst>
                  <a:gd name="T0" fmla="*/ 0 w 230"/>
                  <a:gd name="T1" fmla="*/ 234 h 234"/>
                  <a:gd name="T2" fmla="*/ 22 w 230"/>
                  <a:gd name="T3" fmla="*/ 49 h 234"/>
                  <a:gd name="T4" fmla="*/ 112 w 230"/>
                  <a:gd name="T5" fmla="*/ 0 h 234"/>
                  <a:gd name="T6" fmla="*/ 121 w 230"/>
                  <a:gd name="T7" fmla="*/ 16 h 234"/>
                  <a:gd name="T8" fmla="*/ 41 w 230"/>
                  <a:gd name="T9" fmla="*/ 61 h 234"/>
                  <a:gd name="T10" fmla="*/ 24 w 230"/>
                  <a:gd name="T11" fmla="*/ 211 h 234"/>
                  <a:gd name="T12" fmla="*/ 185 w 230"/>
                  <a:gd name="T13" fmla="*/ 180 h 234"/>
                  <a:gd name="T14" fmla="*/ 211 w 230"/>
                  <a:gd name="T15" fmla="*/ 111 h 234"/>
                  <a:gd name="T16" fmla="*/ 230 w 230"/>
                  <a:gd name="T17" fmla="*/ 116 h 234"/>
                  <a:gd name="T18" fmla="*/ 199 w 230"/>
                  <a:gd name="T19" fmla="*/ 199 h 234"/>
                  <a:gd name="T20" fmla="*/ 0 w 230"/>
                  <a:gd name="T21"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0" h="234">
                    <a:moveTo>
                      <a:pt x="0" y="234"/>
                    </a:moveTo>
                    <a:lnTo>
                      <a:pt x="22" y="49"/>
                    </a:lnTo>
                    <a:lnTo>
                      <a:pt x="112" y="0"/>
                    </a:lnTo>
                    <a:lnTo>
                      <a:pt x="121" y="16"/>
                    </a:lnTo>
                    <a:lnTo>
                      <a:pt x="41" y="61"/>
                    </a:lnTo>
                    <a:lnTo>
                      <a:pt x="24" y="211"/>
                    </a:lnTo>
                    <a:lnTo>
                      <a:pt x="185" y="180"/>
                    </a:lnTo>
                    <a:lnTo>
                      <a:pt x="211" y="111"/>
                    </a:lnTo>
                    <a:lnTo>
                      <a:pt x="230" y="116"/>
                    </a:lnTo>
                    <a:lnTo>
                      <a:pt x="199" y="199"/>
                    </a:lnTo>
                    <a:lnTo>
                      <a:pt x="0" y="2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 name="组合 3">
            <a:extLst>
              <a:ext uri="{FF2B5EF4-FFF2-40B4-BE49-F238E27FC236}">
                <a16:creationId xmlns:a16="http://schemas.microsoft.com/office/drawing/2014/main" id="{5151B9ED-12A8-7388-5A9D-B0A682E20A8E}"/>
              </a:ext>
            </a:extLst>
          </p:cNvPr>
          <p:cNvGrpSpPr/>
          <p:nvPr/>
        </p:nvGrpSpPr>
        <p:grpSpPr>
          <a:xfrm>
            <a:off x="3471684" y="1902582"/>
            <a:ext cx="2447025" cy="4567792"/>
            <a:chOff x="3468457" y="1931150"/>
            <a:chExt cx="2447025" cy="2995699"/>
          </a:xfrm>
        </p:grpSpPr>
        <p:sp>
          <p:nvSpPr>
            <p:cNvPr id="28" name="矩形 27">
              <a:extLst>
                <a:ext uri="{FF2B5EF4-FFF2-40B4-BE49-F238E27FC236}">
                  <a16:creationId xmlns:a16="http://schemas.microsoft.com/office/drawing/2014/main" id="{3399011B-394D-0B51-F1E2-41148FE19899}"/>
                </a:ext>
              </a:extLst>
            </p:cNvPr>
            <p:cNvSpPr/>
            <p:nvPr/>
          </p:nvSpPr>
          <p:spPr>
            <a:xfrm>
              <a:off x="3468458"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9" name="矩形 28">
              <a:extLst>
                <a:ext uri="{FF2B5EF4-FFF2-40B4-BE49-F238E27FC236}">
                  <a16:creationId xmlns:a16="http://schemas.microsoft.com/office/drawing/2014/main" id="{14ED3A8E-B3D2-1960-D093-0026C3F7BBF1}"/>
                </a:ext>
              </a:extLst>
            </p:cNvPr>
            <p:cNvSpPr/>
            <p:nvPr/>
          </p:nvSpPr>
          <p:spPr>
            <a:xfrm>
              <a:off x="3468457" y="1931150"/>
              <a:ext cx="2398016" cy="626577"/>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Track B: Underwater control (open)</a:t>
              </a:r>
            </a:p>
          </p:txBody>
        </p:sp>
        <p:sp>
          <p:nvSpPr>
            <p:cNvPr id="30" name="矩形 29">
              <a:extLst>
                <a:ext uri="{FF2B5EF4-FFF2-40B4-BE49-F238E27FC236}">
                  <a16:creationId xmlns:a16="http://schemas.microsoft.com/office/drawing/2014/main" id="{BFA904F5-F30E-C0EA-CF05-746B03F7FB34}"/>
                </a:ext>
              </a:extLst>
            </p:cNvPr>
            <p:cNvSpPr/>
            <p:nvPr/>
          </p:nvSpPr>
          <p:spPr>
            <a:xfrm>
              <a:off x="3468459"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1" name="矩形 30">
              <a:extLst>
                <a:ext uri="{FF2B5EF4-FFF2-40B4-BE49-F238E27FC236}">
                  <a16:creationId xmlns:a16="http://schemas.microsoft.com/office/drawing/2014/main" id="{E6D8EB63-D539-26D2-7359-C25EB0BBA0A4}"/>
                </a:ext>
              </a:extLst>
            </p:cNvPr>
            <p:cNvSpPr/>
            <p:nvPr/>
          </p:nvSpPr>
          <p:spPr>
            <a:xfrm>
              <a:off x="3511719" y="2571806"/>
              <a:ext cx="2311491" cy="1725413"/>
            </a:xfrm>
            <a:prstGeom prst="rect">
              <a:avLst/>
            </a:prstGeom>
          </p:spPr>
          <p:txBody>
            <a:bodyPr wrap="square" lIns="0">
              <a:normAutofit fontScale="92500" lnSpcReduction="10000"/>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Robust estimation/control under constraints (bandwidth / visibility / drift)</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Benchmark + evaluation setup (stability / accuracy)</a:t>
              </a:r>
            </a:p>
          </p:txBody>
        </p:sp>
        <p:grpSp>
          <p:nvGrpSpPr>
            <p:cNvPr id="59" name="组合 58">
              <a:extLst>
                <a:ext uri="{FF2B5EF4-FFF2-40B4-BE49-F238E27FC236}">
                  <a16:creationId xmlns:a16="http://schemas.microsoft.com/office/drawing/2014/main" id="{2788D81D-5B28-600E-F5DC-D1050CEC4FEE}"/>
                </a:ext>
              </a:extLst>
            </p:cNvPr>
            <p:cNvGrpSpPr/>
            <p:nvPr/>
          </p:nvGrpSpPr>
          <p:grpSpPr>
            <a:xfrm>
              <a:off x="3640723" y="4471950"/>
              <a:ext cx="310873" cy="355464"/>
              <a:chOff x="11864960" y="2498733"/>
              <a:chExt cx="420669" cy="481011"/>
            </a:xfrm>
            <a:solidFill>
              <a:schemeClr val="bg1"/>
            </a:solidFill>
          </p:grpSpPr>
          <p:sp>
            <p:nvSpPr>
              <p:cNvPr id="60" name="Freeform 5">
                <a:extLst>
                  <a:ext uri="{FF2B5EF4-FFF2-40B4-BE49-F238E27FC236}">
                    <a16:creationId xmlns:a16="http://schemas.microsoft.com/office/drawing/2014/main" id="{D11E8CEF-9283-1858-4C0F-BDE9FAE513D0}"/>
                  </a:ext>
                </a:extLst>
              </p:cNvPr>
              <p:cNvSpPr>
                <a:spLocks/>
              </p:cNvSpPr>
              <p:nvPr/>
            </p:nvSpPr>
            <p:spPr bwMode="auto">
              <a:xfrm>
                <a:off x="11864960" y="2603505"/>
                <a:ext cx="390525" cy="376239"/>
              </a:xfrm>
              <a:custGeom>
                <a:avLst/>
                <a:gdLst>
                  <a:gd name="T0" fmla="*/ 52 w 104"/>
                  <a:gd name="T1" fmla="*/ 100 h 100"/>
                  <a:gd name="T2" fmla="*/ 0 w 104"/>
                  <a:gd name="T3" fmla="*/ 48 h 100"/>
                  <a:gd name="T4" fmla="*/ 32 w 104"/>
                  <a:gd name="T5" fmla="*/ 0 h 100"/>
                  <a:gd name="T6" fmla="*/ 35 w 104"/>
                  <a:gd name="T7" fmla="*/ 7 h 100"/>
                  <a:gd name="T8" fmla="*/ 8 w 104"/>
                  <a:gd name="T9" fmla="*/ 48 h 100"/>
                  <a:gd name="T10" fmla="*/ 52 w 104"/>
                  <a:gd name="T11" fmla="*/ 92 h 100"/>
                  <a:gd name="T12" fmla="*/ 96 w 104"/>
                  <a:gd name="T13" fmla="*/ 52 h 100"/>
                  <a:gd name="T14" fmla="*/ 104 w 104"/>
                  <a:gd name="T15" fmla="*/ 52 h 100"/>
                  <a:gd name="T16" fmla="*/ 52 w 104"/>
                  <a:gd name="T1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100">
                    <a:moveTo>
                      <a:pt x="52" y="100"/>
                    </a:moveTo>
                    <a:cubicBezTo>
                      <a:pt x="23" y="100"/>
                      <a:pt x="0" y="77"/>
                      <a:pt x="0" y="48"/>
                    </a:cubicBezTo>
                    <a:cubicBezTo>
                      <a:pt x="0" y="27"/>
                      <a:pt x="13" y="8"/>
                      <a:pt x="32" y="0"/>
                    </a:cubicBezTo>
                    <a:cubicBezTo>
                      <a:pt x="35" y="7"/>
                      <a:pt x="35" y="7"/>
                      <a:pt x="35" y="7"/>
                    </a:cubicBezTo>
                    <a:cubicBezTo>
                      <a:pt x="19" y="14"/>
                      <a:pt x="8" y="30"/>
                      <a:pt x="8" y="48"/>
                    </a:cubicBezTo>
                    <a:cubicBezTo>
                      <a:pt x="8" y="72"/>
                      <a:pt x="28" y="92"/>
                      <a:pt x="52" y="92"/>
                    </a:cubicBezTo>
                    <a:cubicBezTo>
                      <a:pt x="75" y="92"/>
                      <a:pt x="94" y="74"/>
                      <a:pt x="96" y="52"/>
                    </a:cubicBezTo>
                    <a:cubicBezTo>
                      <a:pt x="104" y="52"/>
                      <a:pt x="104" y="52"/>
                      <a:pt x="104" y="52"/>
                    </a:cubicBezTo>
                    <a:cubicBezTo>
                      <a:pt x="102" y="79"/>
                      <a:pt x="79" y="100"/>
                      <a:pt x="52" y="10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Freeform 6">
                <a:extLst>
                  <a:ext uri="{FF2B5EF4-FFF2-40B4-BE49-F238E27FC236}">
                    <a16:creationId xmlns:a16="http://schemas.microsoft.com/office/drawing/2014/main" id="{D53124D7-EFE2-4E6F-AED4-8A04443919CE}"/>
                  </a:ext>
                </a:extLst>
              </p:cNvPr>
              <p:cNvSpPr>
                <a:spLocks/>
              </p:cNvSpPr>
              <p:nvPr/>
            </p:nvSpPr>
            <p:spPr bwMode="auto">
              <a:xfrm>
                <a:off x="12123723" y="2603505"/>
                <a:ext cx="131762" cy="166689"/>
              </a:xfrm>
              <a:custGeom>
                <a:avLst/>
                <a:gdLst>
                  <a:gd name="T0" fmla="*/ 27 w 35"/>
                  <a:gd name="T1" fmla="*/ 44 h 44"/>
                  <a:gd name="T2" fmla="*/ 0 w 35"/>
                  <a:gd name="T3" fmla="*/ 7 h 44"/>
                  <a:gd name="T4" fmla="*/ 3 w 35"/>
                  <a:gd name="T5" fmla="*/ 0 h 44"/>
                  <a:gd name="T6" fmla="*/ 35 w 35"/>
                  <a:gd name="T7" fmla="*/ 44 h 44"/>
                  <a:gd name="T8" fmla="*/ 27 w 35"/>
                  <a:gd name="T9" fmla="*/ 44 h 44"/>
                </a:gdLst>
                <a:ahLst/>
                <a:cxnLst>
                  <a:cxn ang="0">
                    <a:pos x="T0" y="T1"/>
                  </a:cxn>
                  <a:cxn ang="0">
                    <a:pos x="T2" y="T3"/>
                  </a:cxn>
                  <a:cxn ang="0">
                    <a:pos x="T4" y="T5"/>
                  </a:cxn>
                  <a:cxn ang="0">
                    <a:pos x="T6" y="T7"/>
                  </a:cxn>
                  <a:cxn ang="0">
                    <a:pos x="T8" y="T9"/>
                  </a:cxn>
                </a:cxnLst>
                <a:rect l="0" t="0" r="r" b="b"/>
                <a:pathLst>
                  <a:path w="35" h="44">
                    <a:moveTo>
                      <a:pt x="27" y="44"/>
                    </a:moveTo>
                    <a:cubicBezTo>
                      <a:pt x="25" y="28"/>
                      <a:pt x="15" y="14"/>
                      <a:pt x="0" y="7"/>
                    </a:cubicBezTo>
                    <a:cubicBezTo>
                      <a:pt x="3" y="0"/>
                      <a:pt x="3" y="0"/>
                      <a:pt x="3" y="0"/>
                    </a:cubicBezTo>
                    <a:cubicBezTo>
                      <a:pt x="21" y="8"/>
                      <a:pt x="33" y="24"/>
                      <a:pt x="35" y="44"/>
                    </a:cubicBezTo>
                    <a:lnTo>
                      <a:pt x="27"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Freeform 7">
                <a:extLst>
                  <a:ext uri="{FF2B5EF4-FFF2-40B4-BE49-F238E27FC236}">
                    <a16:creationId xmlns:a16="http://schemas.microsoft.com/office/drawing/2014/main" id="{759A133C-57D2-5FE5-C09E-9FB47E930DEE}"/>
                  </a:ext>
                </a:extLst>
              </p:cNvPr>
              <p:cNvSpPr>
                <a:spLocks/>
              </p:cNvSpPr>
              <p:nvPr/>
            </p:nvSpPr>
            <p:spPr bwMode="auto">
              <a:xfrm>
                <a:off x="11969747" y="2498733"/>
                <a:ext cx="180975" cy="134938"/>
              </a:xfrm>
              <a:custGeom>
                <a:avLst/>
                <a:gdLst>
                  <a:gd name="T0" fmla="*/ 86 w 114"/>
                  <a:gd name="T1" fmla="*/ 85 h 85"/>
                  <a:gd name="T2" fmla="*/ 67 w 114"/>
                  <a:gd name="T3" fmla="*/ 85 h 85"/>
                  <a:gd name="T4" fmla="*/ 67 w 114"/>
                  <a:gd name="T5" fmla="*/ 38 h 85"/>
                  <a:gd name="T6" fmla="*/ 95 w 114"/>
                  <a:gd name="T7" fmla="*/ 38 h 85"/>
                  <a:gd name="T8" fmla="*/ 95 w 114"/>
                  <a:gd name="T9" fmla="*/ 19 h 85"/>
                  <a:gd name="T10" fmla="*/ 19 w 114"/>
                  <a:gd name="T11" fmla="*/ 19 h 85"/>
                  <a:gd name="T12" fmla="*/ 19 w 114"/>
                  <a:gd name="T13" fmla="*/ 38 h 85"/>
                  <a:gd name="T14" fmla="*/ 48 w 114"/>
                  <a:gd name="T15" fmla="*/ 38 h 85"/>
                  <a:gd name="T16" fmla="*/ 48 w 114"/>
                  <a:gd name="T17" fmla="*/ 85 h 85"/>
                  <a:gd name="T18" fmla="*/ 29 w 114"/>
                  <a:gd name="T19" fmla="*/ 85 h 85"/>
                  <a:gd name="T20" fmla="*/ 29 w 114"/>
                  <a:gd name="T21" fmla="*/ 57 h 85"/>
                  <a:gd name="T22" fmla="*/ 0 w 114"/>
                  <a:gd name="T23" fmla="*/ 57 h 85"/>
                  <a:gd name="T24" fmla="*/ 0 w 114"/>
                  <a:gd name="T25" fmla="*/ 0 h 85"/>
                  <a:gd name="T26" fmla="*/ 114 w 114"/>
                  <a:gd name="T27" fmla="*/ 0 h 85"/>
                  <a:gd name="T28" fmla="*/ 114 w 114"/>
                  <a:gd name="T29" fmla="*/ 57 h 85"/>
                  <a:gd name="T30" fmla="*/ 86 w 114"/>
                  <a:gd name="T31" fmla="*/ 57 h 85"/>
                  <a:gd name="T32" fmla="*/ 86 w 114"/>
                  <a:gd name="T33"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4" h="85">
                    <a:moveTo>
                      <a:pt x="86" y="85"/>
                    </a:moveTo>
                    <a:lnTo>
                      <a:pt x="67" y="85"/>
                    </a:lnTo>
                    <a:lnTo>
                      <a:pt x="67" y="38"/>
                    </a:lnTo>
                    <a:lnTo>
                      <a:pt x="95" y="38"/>
                    </a:lnTo>
                    <a:lnTo>
                      <a:pt x="95" y="19"/>
                    </a:lnTo>
                    <a:lnTo>
                      <a:pt x="19" y="19"/>
                    </a:lnTo>
                    <a:lnTo>
                      <a:pt x="19" y="38"/>
                    </a:lnTo>
                    <a:lnTo>
                      <a:pt x="48" y="38"/>
                    </a:lnTo>
                    <a:lnTo>
                      <a:pt x="48" y="85"/>
                    </a:lnTo>
                    <a:lnTo>
                      <a:pt x="29" y="85"/>
                    </a:lnTo>
                    <a:lnTo>
                      <a:pt x="29" y="57"/>
                    </a:lnTo>
                    <a:lnTo>
                      <a:pt x="0" y="57"/>
                    </a:lnTo>
                    <a:lnTo>
                      <a:pt x="0" y="0"/>
                    </a:lnTo>
                    <a:lnTo>
                      <a:pt x="114" y="0"/>
                    </a:lnTo>
                    <a:lnTo>
                      <a:pt x="114" y="57"/>
                    </a:lnTo>
                    <a:lnTo>
                      <a:pt x="86" y="57"/>
                    </a:lnTo>
                    <a:lnTo>
                      <a:pt x="8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3" name="Freeform 8">
                <a:extLst>
                  <a:ext uri="{FF2B5EF4-FFF2-40B4-BE49-F238E27FC236}">
                    <a16:creationId xmlns:a16="http://schemas.microsoft.com/office/drawing/2014/main" id="{FA20B950-FB6B-6668-376D-053456B2D8FB}"/>
                  </a:ext>
                </a:extLst>
              </p:cNvPr>
              <p:cNvSpPr>
                <a:spLocks/>
              </p:cNvSpPr>
              <p:nvPr/>
            </p:nvSpPr>
            <p:spPr bwMode="auto">
              <a:xfrm>
                <a:off x="12199936" y="2562233"/>
                <a:ext cx="68263" cy="68263"/>
              </a:xfrm>
              <a:custGeom>
                <a:avLst/>
                <a:gdLst>
                  <a:gd name="T0" fmla="*/ 14 w 43"/>
                  <a:gd name="T1" fmla="*/ 43 h 43"/>
                  <a:gd name="T2" fmla="*/ 0 w 43"/>
                  <a:gd name="T3" fmla="*/ 29 h 43"/>
                  <a:gd name="T4" fmla="*/ 28 w 43"/>
                  <a:gd name="T5" fmla="*/ 0 h 43"/>
                  <a:gd name="T6" fmla="*/ 43 w 43"/>
                  <a:gd name="T7" fmla="*/ 15 h 43"/>
                  <a:gd name="T8" fmla="*/ 14 w 43"/>
                  <a:gd name="T9" fmla="*/ 43 h 43"/>
                </a:gdLst>
                <a:ahLst/>
                <a:cxnLst>
                  <a:cxn ang="0">
                    <a:pos x="T0" y="T1"/>
                  </a:cxn>
                  <a:cxn ang="0">
                    <a:pos x="T2" y="T3"/>
                  </a:cxn>
                  <a:cxn ang="0">
                    <a:pos x="T4" y="T5"/>
                  </a:cxn>
                  <a:cxn ang="0">
                    <a:pos x="T6" y="T7"/>
                  </a:cxn>
                  <a:cxn ang="0">
                    <a:pos x="T8" y="T9"/>
                  </a:cxn>
                </a:cxnLst>
                <a:rect l="0" t="0" r="r" b="b"/>
                <a:pathLst>
                  <a:path w="43" h="43">
                    <a:moveTo>
                      <a:pt x="14" y="43"/>
                    </a:moveTo>
                    <a:lnTo>
                      <a:pt x="0" y="29"/>
                    </a:lnTo>
                    <a:lnTo>
                      <a:pt x="28" y="0"/>
                    </a:lnTo>
                    <a:lnTo>
                      <a:pt x="43" y="15"/>
                    </a:lnTo>
                    <a:lnTo>
                      <a:pt x="14"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4" name="Freeform 9">
                <a:extLst>
                  <a:ext uri="{FF2B5EF4-FFF2-40B4-BE49-F238E27FC236}">
                    <a16:creationId xmlns:a16="http://schemas.microsoft.com/office/drawing/2014/main" id="{3AF2B7F1-1BC0-E6F0-3B3D-75D2F7DDDD40}"/>
                  </a:ext>
                </a:extLst>
              </p:cNvPr>
              <p:cNvSpPr>
                <a:spLocks/>
              </p:cNvSpPr>
              <p:nvPr/>
            </p:nvSpPr>
            <p:spPr bwMode="auto">
              <a:xfrm>
                <a:off x="12225304" y="2543181"/>
                <a:ext cx="60325" cy="60325"/>
              </a:xfrm>
              <a:custGeom>
                <a:avLst/>
                <a:gdLst>
                  <a:gd name="T0" fmla="*/ 27 w 38"/>
                  <a:gd name="T1" fmla="*/ 38 h 38"/>
                  <a:gd name="T2" fmla="*/ 0 w 38"/>
                  <a:gd name="T3" fmla="*/ 12 h 38"/>
                  <a:gd name="T4" fmla="*/ 12 w 38"/>
                  <a:gd name="T5" fmla="*/ 0 h 38"/>
                  <a:gd name="T6" fmla="*/ 38 w 38"/>
                  <a:gd name="T7" fmla="*/ 27 h 38"/>
                  <a:gd name="T8" fmla="*/ 27 w 38"/>
                  <a:gd name="T9" fmla="*/ 38 h 38"/>
                </a:gdLst>
                <a:ahLst/>
                <a:cxnLst>
                  <a:cxn ang="0">
                    <a:pos x="T0" y="T1"/>
                  </a:cxn>
                  <a:cxn ang="0">
                    <a:pos x="T2" y="T3"/>
                  </a:cxn>
                  <a:cxn ang="0">
                    <a:pos x="T4" y="T5"/>
                  </a:cxn>
                  <a:cxn ang="0">
                    <a:pos x="T6" y="T7"/>
                  </a:cxn>
                  <a:cxn ang="0">
                    <a:pos x="T8" y="T9"/>
                  </a:cxn>
                </a:cxnLst>
                <a:rect l="0" t="0" r="r" b="b"/>
                <a:pathLst>
                  <a:path w="38" h="38">
                    <a:moveTo>
                      <a:pt x="27" y="38"/>
                    </a:moveTo>
                    <a:lnTo>
                      <a:pt x="0" y="12"/>
                    </a:lnTo>
                    <a:lnTo>
                      <a:pt x="12" y="0"/>
                    </a:lnTo>
                    <a:lnTo>
                      <a:pt x="38" y="27"/>
                    </a:lnTo>
                    <a:lnTo>
                      <a:pt x="2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5" name="Freeform 10">
                <a:extLst>
                  <a:ext uri="{FF2B5EF4-FFF2-40B4-BE49-F238E27FC236}">
                    <a16:creationId xmlns:a16="http://schemas.microsoft.com/office/drawing/2014/main" id="{0A5F0DFD-4FDB-5A6A-B285-681B22D8A399}"/>
                  </a:ext>
                </a:extLst>
              </p:cNvPr>
              <p:cNvSpPr>
                <a:spLocks/>
              </p:cNvSpPr>
              <p:nvPr/>
            </p:nvSpPr>
            <p:spPr bwMode="auto">
              <a:xfrm>
                <a:off x="12045950" y="2663825"/>
                <a:ext cx="134938" cy="136525"/>
              </a:xfrm>
              <a:custGeom>
                <a:avLst/>
                <a:gdLst>
                  <a:gd name="T0" fmla="*/ 85 w 85"/>
                  <a:gd name="T1" fmla="*/ 86 h 86"/>
                  <a:gd name="T2" fmla="*/ 0 w 85"/>
                  <a:gd name="T3" fmla="*/ 86 h 86"/>
                  <a:gd name="T4" fmla="*/ 0 w 85"/>
                  <a:gd name="T5" fmla="*/ 0 h 86"/>
                  <a:gd name="T6" fmla="*/ 19 w 85"/>
                  <a:gd name="T7" fmla="*/ 0 h 86"/>
                  <a:gd name="T8" fmla="*/ 19 w 85"/>
                  <a:gd name="T9" fmla="*/ 67 h 86"/>
                  <a:gd name="T10" fmla="*/ 85 w 85"/>
                  <a:gd name="T11" fmla="*/ 67 h 86"/>
                  <a:gd name="T12" fmla="*/ 85 w 85"/>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85" h="86">
                    <a:moveTo>
                      <a:pt x="85" y="86"/>
                    </a:moveTo>
                    <a:lnTo>
                      <a:pt x="0" y="86"/>
                    </a:lnTo>
                    <a:lnTo>
                      <a:pt x="0" y="0"/>
                    </a:lnTo>
                    <a:lnTo>
                      <a:pt x="19" y="0"/>
                    </a:lnTo>
                    <a:lnTo>
                      <a:pt x="19" y="67"/>
                    </a:lnTo>
                    <a:lnTo>
                      <a:pt x="85" y="67"/>
                    </a:lnTo>
                    <a:lnTo>
                      <a:pt x="8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5" name="组合 4">
            <a:extLst>
              <a:ext uri="{FF2B5EF4-FFF2-40B4-BE49-F238E27FC236}">
                <a16:creationId xmlns:a16="http://schemas.microsoft.com/office/drawing/2014/main" id="{7A5B8ACF-4457-B012-322A-50125A469088}"/>
              </a:ext>
            </a:extLst>
          </p:cNvPr>
          <p:cNvGrpSpPr/>
          <p:nvPr/>
        </p:nvGrpSpPr>
        <p:grpSpPr>
          <a:xfrm>
            <a:off x="6279743" y="1902582"/>
            <a:ext cx="2508656" cy="4567788"/>
            <a:chOff x="6276516" y="1931150"/>
            <a:chExt cx="2508656" cy="2995699"/>
          </a:xfrm>
        </p:grpSpPr>
        <p:sp>
          <p:nvSpPr>
            <p:cNvPr id="38" name="矩形 37">
              <a:extLst>
                <a:ext uri="{FF2B5EF4-FFF2-40B4-BE49-F238E27FC236}">
                  <a16:creationId xmlns:a16="http://schemas.microsoft.com/office/drawing/2014/main" id="{B2FBEF21-C444-9DB0-D5E0-D9995D403A62}"/>
                </a:ext>
              </a:extLst>
            </p:cNvPr>
            <p:cNvSpPr/>
            <p:nvPr/>
          </p:nvSpPr>
          <p:spPr>
            <a:xfrm>
              <a:off x="6276516"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9" name="矩形 38">
              <a:extLst>
                <a:ext uri="{FF2B5EF4-FFF2-40B4-BE49-F238E27FC236}">
                  <a16:creationId xmlns:a16="http://schemas.microsoft.com/office/drawing/2014/main" id="{E0741986-6200-1D9B-E137-D47C2D1FBC27}"/>
                </a:ext>
              </a:extLst>
            </p:cNvPr>
            <p:cNvSpPr/>
            <p:nvPr/>
          </p:nvSpPr>
          <p:spPr>
            <a:xfrm>
              <a:off x="6338149" y="2047057"/>
              <a:ext cx="244702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Ideal deliverables</a:t>
              </a:r>
            </a:p>
            <a:p>
              <a:pPr>
                <a:lnSpc>
                  <a:spcPct val="120000"/>
                </a:lnSpc>
              </a:pP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40" name="矩形 39">
              <a:extLst>
                <a:ext uri="{FF2B5EF4-FFF2-40B4-BE49-F238E27FC236}">
                  <a16:creationId xmlns:a16="http://schemas.microsoft.com/office/drawing/2014/main" id="{13B7EBA1-96CB-2108-5C7E-11DDB49A6BFD}"/>
                </a:ext>
              </a:extLst>
            </p:cNvPr>
            <p:cNvSpPr/>
            <p:nvPr/>
          </p:nvSpPr>
          <p:spPr>
            <a:xfrm>
              <a:off x="6276517"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1" name="矩形 40">
              <a:extLst>
                <a:ext uri="{FF2B5EF4-FFF2-40B4-BE49-F238E27FC236}">
                  <a16:creationId xmlns:a16="http://schemas.microsoft.com/office/drawing/2014/main" id="{D892B8CA-58C6-D957-EBCD-240CC7019F9B}"/>
                </a:ext>
              </a:extLst>
            </p:cNvPr>
            <p:cNvSpPr/>
            <p:nvPr/>
          </p:nvSpPr>
          <p:spPr>
            <a:xfrm>
              <a:off x="6338149" y="2597232"/>
              <a:ext cx="2225740" cy="1778129"/>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A</a:t>
              </a:r>
              <a:r>
                <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 </a:t>
              </a: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reliable pipeline + reproducible experiments</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Clear results (plots) + clean code + documentation</a:t>
              </a:r>
            </a:p>
          </p:txBody>
        </p:sp>
        <p:grpSp>
          <p:nvGrpSpPr>
            <p:cNvPr id="67" name="组合 66">
              <a:extLst>
                <a:ext uri="{FF2B5EF4-FFF2-40B4-BE49-F238E27FC236}">
                  <a16:creationId xmlns:a16="http://schemas.microsoft.com/office/drawing/2014/main" id="{67DB6CB7-BEF5-068A-79C6-C2B5F2298CC3}"/>
                </a:ext>
              </a:extLst>
            </p:cNvPr>
            <p:cNvGrpSpPr/>
            <p:nvPr/>
          </p:nvGrpSpPr>
          <p:grpSpPr>
            <a:xfrm>
              <a:off x="6448791" y="4465536"/>
              <a:ext cx="368569" cy="355727"/>
              <a:chOff x="11834813" y="3744913"/>
              <a:chExt cx="455613" cy="439738"/>
            </a:xfrm>
            <a:solidFill>
              <a:schemeClr val="bg1"/>
            </a:solidFill>
          </p:grpSpPr>
          <p:sp>
            <p:nvSpPr>
              <p:cNvPr id="68" name="Freeform 11">
                <a:extLst>
                  <a:ext uri="{FF2B5EF4-FFF2-40B4-BE49-F238E27FC236}">
                    <a16:creationId xmlns:a16="http://schemas.microsoft.com/office/drawing/2014/main" id="{ED869FDD-5D46-C448-A5CF-0AADB6AAEAB4}"/>
                  </a:ext>
                </a:extLst>
              </p:cNvPr>
              <p:cNvSpPr>
                <a:spLocks/>
              </p:cNvSpPr>
              <p:nvPr/>
            </p:nvSpPr>
            <p:spPr bwMode="auto">
              <a:xfrm>
                <a:off x="11834813" y="3763963"/>
                <a:ext cx="455613" cy="300038"/>
              </a:xfrm>
              <a:custGeom>
                <a:avLst/>
                <a:gdLst>
                  <a:gd name="T0" fmla="*/ 263 w 287"/>
                  <a:gd name="T1" fmla="*/ 189 h 189"/>
                  <a:gd name="T2" fmla="*/ 78 w 287"/>
                  <a:gd name="T3" fmla="*/ 189 h 189"/>
                  <a:gd name="T4" fmla="*/ 31 w 287"/>
                  <a:gd name="T5" fmla="*/ 18 h 189"/>
                  <a:gd name="T6" fmla="*/ 0 w 287"/>
                  <a:gd name="T7" fmla="*/ 18 h 189"/>
                  <a:gd name="T8" fmla="*/ 0 w 287"/>
                  <a:gd name="T9" fmla="*/ 0 h 189"/>
                  <a:gd name="T10" fmla="*/ 45 w 287"/>
                  <a:gd name="T11" fmla="*/ 0 h 189"/>
                  <a:gd name="T12" fmla="*/ 92 w 287"/>
                  <a:gd name="T13" fmla="*/ 170 h 189"/>
                  <a:gd name="T14" fmla="*/ 249 w 287"/>
                  <a:gd name="T15" fmla="*/ 170 h 189"/>
                  <a:gd name="T16" fmla="*/ 263 w 287"/>
                  <a:gd name="T17" fmla="*/ 85 h 189"/>
                  <a:gd name="T18" fmla="*/ 114 w 287"/>
                  <a:gd name="T19" fmla="*/ 85 h 189"/>
                  <a:gd name="T20" fmla="*/ 114 w 287"/>
                  <a:gd name="T21" fmla="*/ 66 h 189"/>
                  <a:gd name="T22" fmla="*/ 287 w 287"/>
                  <a:gd name="T23" fmla="*/ 66 h 189"/>
                  <a:gd name="T24" fmla="*/ 263 w 287"/>
                  <a:gd name="T25"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7" h="189">
                    <a:moveTo>
                      <a:pt x="263" y="189"/>
                    </a:moveTo>
                    <a:lnTo>
                      <a:pt x="78" y="189"/>
                    </a:lnTo>
                    <a:lnTo>
                      <a:pt x="31" y="18"/>
                    </a:lnTo>
                    <a:lnTo>
                      <a:pt x="0" y="18"/>
                    </a:lnTo>
                    <a:lnTo>
                      <a:pt x="0" y="0"/>
                    </a:lnTo>
                    <a:lnTo>
                      <a:pt x="45" y="0"/>
                    </a:lnTo>
                    <a:lnTo>
                      <a:pt x="92" y="170"/>
                    </a:lnTo>
                    <a:lnTo>
                      <a:pt x="249" y="170"/>
                    </a:lnTo>
                    <a:lnTo>
                      <a:pt x="263" y="85"/>
                    </a:lnTo>
                    <a:lnTo>
                      <a:pt x="114" y="85"/>
                    </a:lnTo>
                    <a:lnTo>
                      <a:pt x="114" y="66"/>
                    </a:lnTo>
                    <a:lnTo>
                      <a:pt x="287" y="66"/>
                    </a:lnTo>
                    <a:lnTo>
                      <a:pt x="263" y="1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9" name="Freeform 12">
                <a:extLst>
                  <a:ext uri="{FF2B5EF4-FFF2-40B4-BE49-F238E27FC236}">
                    <a16:creationId xmlns:a16="http://schemas.microsoft.com/office/drawing/2014/main" id="{4AEAF8E5-3B8E-6268-2377-0785DC8C78C1}"/>
                  </a:ext>
                </a:extLst>
              </p:cNvPr>
              <p:cNvSpPr>
                <a:spLocks noEditPoints="1"/>
              </p:cNvSpPr>
              <p:nvPr/>
            </p:nvSpPr>
            <p:spPr bwMode="auto">
              <a:xfrm>
                <a:off x="11955463"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0" name="Freeform 13">
                <a:extLst>
                  <a:ext uri="{FF2B5EF4-FFF2-40B4-BE49-F238E27FC236}">
                    <a16:creationId xmlns:a16="http://schemas.microsoft.com/office/drawing/2014/main" id="{5B18690E-7EC2-BEBE-0ABC-23CD0F41678C}"/>
                  </a:ext>
                </a:extLst>
              </p:cNvPr>
              <p:cNvSpPr>
                <a:spLocks noEditPoints="1"/>
              </p:cNvSpPr>
              <p:nvPr/>
            </p:nvSpPr>
            <p:spPr bwMode="auto">
              <a:xfrm>
                <a:off x="12150725"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 name="Rectangle 14">
                <a:extLst>
                  <a:ext uri="{FF2B5EF4-FFF2-40B4-BE49-F238E27FC236}">
                    <a16:creationId xmlns:a16="http://schemas.microsoft.com/office/drawing/2014/main" id="{39A71DC5-6926-443A-E85F-F265DFD66C6D}"/>
                  </a:ext>
                </a:extLst>
              </p:cNvPr>
              <p:cNvSpPr>
                <a:spLocks noChangeArrowheads="1"/>
              </p:cNvSpPr>
              <p:nvPr/>
            </p:nvSpPr>
            <p:spPr bwMode="auto">
              <a:xfrm>
                <a:off x="12045950"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2" name="Rectangle 15">
                <a:extLst>
                  <a:ext uri="{FF2B5EF4-FFF2-40B4-BE49-F238E27FC236}">
                    <a16:creationId xmlns:a16="http://schemas.microsoft.com/office/drawing/2014/main" id="{ABF09647-B3BB-28C6-AB14-5E7B961DFCDE}"/>
                  </a:ext>
                </a:extLst>
              </p:cNvPr>
              <p:cNvSpPr>
                <a:spLocks noChangeArrowheads="1"/>
              </p:cNvSpPr>
              <p:nvPr/>
            </p:nvSpPr>
            <p:spPr bwMode="auto">
              <a:xfrm>
                <a:off x="12136438"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3" name="Freeform 16">
                <a:extLst>
                  <a:ext uri="{FF2B5EF4-FFF2-40B4-BE49-F238E27FC236}">
                    <a16:creationId xmlns:a16="http://schemas.microsoft.com/office/drawing/2014/main" id="{D2593D1C-4D6E-BC72-8C4F-D8F40D473271}"/>
                  </a:ext>
                </a:extLst>
              </p:cNvPr>
              <p:cNvSpPr>
                <a:spLocks/>
              </p:cNvSpPr>
              <p:nvPr/>
            </p:nvSpPr>
            <p:spPr bwMode="auto">
              <a:xfrm>
                <a:off x="12015788" y="3763963"/>
                <a:ext cx="107950" cy="74613"/>
              </a:xfrm>
              <a:custGeom>
                <a:avLst/>
                <a:gdLst>
                  <a:gd name="T0" fmla="*/ 19 w 68"/>
                  <a:gd name="T1" fmla="*/ 47 h 47"/>
                  <a:gd name="T2" fmla="*/ 0 w 68"/>
                  <a:gd name="T3" fmla="*/ 47 h 47"/>
                  <a:gd name="T4" fmla="*/ 0 w 68"/>
                  <a:gd name="T5" fmla="*/ 21 h 47"/>
                  <a:gd name="T6" fmla="*/ 64 w 68"/>
                  <a:gd name="T7" fmla="*/ 0 h 47"/>
                  <a:gd name="T8" fmla="*/ 68 w 68"/>
                  <a:gd name="T9" fmla="*/ 18 h 47"/>
                  <a:gd name="T10" fmla="*/ 19 w 68"/>
                  <a:gd name="T11" fmla="*/ 35 h 47"/>
                  <a:gd name="T12" fmla="*/ 19 w 6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68" h="47">
                    <a:moveTo>
                      <a:pt x="19" y="47"/>
                    </a:moveTo>
                    <a:lnTo>
                      <a:pt x="0" y="47"/>
                    </a:lnTo>
                    <a:lnTo>
                      <a:pt x="0" y="21"/>
                    </a:lnTo>
                    <a:lnTo>
                      <a:pt x="64" y="0"/>
                    </a:lnTo>
                    <a:lnTo>
                      <a:pt x="68" y="18"/>
                    </a:lnTo>
                    <a:lnTo>
                      <a:pt x="19" y="35"/>
                    </a:lnTo>
                    <a:lnTo>
                      <a:pt x="19"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4" name="Freeform 17">
                <a:extLst>
                  <a:ext uri="{FF2B5EF4-FFF2-40B4-BE49-F238E27FC236}">
                    <a16:creationId xmlns:a16="http://schemas.microsoft.com/office/drawing/2014/main" id="{4832AEC5-8232-542C-957E-7A8A362DFB72}"/>
                  </a:ext>
                </a:extLst>
              </p:cNvPr>
              <p:cNvSpPr>
                <a:spLocks/>
              </p:cNvSpPr>
              <p:nvPr/>
            </p:nvSpPr>
            <p:spPr bwMode="auto">
              <a:xfrm>
                <a:off x="12106275" y="3744913"/>
                <a:ext cx="149225" cy="93663"/>
              </a:xfrm>
              <a:custGeom>
                <a:avLst/>
                <a:gdLst>
                  <a:gd name="T0" fmla="*/ 94 w 94"/>
                  <a:gd name="T1" fmla="*/ 59 h 59"/>
                  <a:gd name="T2" fmla="*/ 75 w 94"/>
                  <a:gd name="T3" fmla="*/ 59 h 59"/>
                  <a:gd name="T4" fmla="*/ 75 w 94"/>
                  <a:gd name="T5" fmla="*/ 38 h 59"/>
                  <a:gd name="T6" fmla="*/ 19 w 94"/>
                  <a:gd name="T7" fmla="*/ 23 h 59"/>
                  <a:gd name="T8" fmla="*/ 19 w 94"/>
                  <a:gd name="T9" fmla="*/ 59 h 59"/>
                  <a:gd name="T10" fmla="*/ 0 w 94"/>
                  <a:gd name="T11" fmla="*/ 59 h 59"/>
                  <a:gd name="T12" fmla="*/ 0 w 94"/>
                  <a:gd name="T13" fmla="*/ 0 h 59"/>
                  <a:gd name="T14" fmla="*/ 94 w 94"/>
                  <a:gd name="T15" fmla="*/ 23 h 59"/>
                  <a:gd name="T16" fmla="*/ 94 w 94"/>
                  <a:gd name="T1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59">
                    <a:moveTo>
                      <a:pt x="94" y="59"/>
                    </a:moveTo>
                    <a:lnTo>
                      <a:pt x="75" y="59"/>
                    </a:lnTo>
                    <a:lnTo>
                      <a:pt x="75" y="38"/>
                    </a:lnTo>
                    <a:lnTo>
                      <a:pt x="19" y="23"/>
                    </a:lnTo>
                    <a:lnTo>
                      <a:pt x="19" y="59"/>
                    </a:lnTo>
                    <a:lnTo>
                      <a:pt x="0" y="59"/>
                    </a:lnTo>
                    <a:lnTo>
                      <a:pt x="0" y="0"/>
                    </a:lnTo>
                    <a:lnTo>
                      <a:pt x="94" y="23"/>
                    </a:lnTo>
                    <a:lnTo>
                      <a:pt x="94"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6" name="组合 5">
            <a:extLst>
              <a:ext uri="{FF2B5EF4-FFF2-40B4-BE49-F238E27FC236}">
                <a16:creationId xmlns:a16="http://schemas.microsoft.com/office/drawing/2014/main" id="{E40907AF-E5AA-B7F2-70AC-39CA71E03F81}"/>
              </a:ext>
            </a:extLst>
          </p:cNvPr>
          <p:cNvGrpSpPr/>
          <p:nvPr/>
        </p:nvGrpSpPr>
        <p:grpSpPr>
          <a:xfrm>
            <a:off x="9087802" y="1902581"/>
            <a:ext cx="2447024" cy="4567787"/>
            <a:chOff x="9084575" y="1931150"/>
            <a:chExt cx="2447024" cy="2995699"/>
          </a:xfrm>
        </p:grpSpPr>
        <p:sp>
          <p:nvSpPr>
            <p:cNvPr id="48" name="矩形 47">
              <a:extLst>
                <a:ext uri="{FF2B5EF4-FFF2-40B4-BE49-F238E27FC236}">
                  <a16:creationId xmlns:a16="http://schemas.microsoft.com/office/drawing/2014/main" id="{99F0595C-F5AB-E393-78A3-A9DB6F732321}"/>
                </a:ext>
              </a:extLst>
            </p:cNvPr>
            <p:cNvSpPr/>
            <p:nvPr/>
          </p:nvSpPr>
          <p:spPr>
            <a:xfrm>
              <a:off x="9084575"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9" name="矩形 48">
              <a:extLst>
                <a:ext uri="{FF2B5EF4-FFF2-40B4-BE49-F238E27FC236}">
                  <a16:creationId xmlns:a16="http://schemas.microsoft.com/office/drawing/2014/main" id="{FE14B98B-BD4D-B15C-6CD4-C6801CABA2CF}"/>
                </a:ext>
              </a:extLst>
            </p:cNvPr>
            <p:cNvSpPr/>
            <p:nvPr/>
          </p:nvSpPr>
          <p:spPr>
            <a:xfrm>
              <a:off x="9256849" y="2057889"/>
              <a:ext cx="190479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Working style</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50" name="矩形 49">
              <a:extLst>
                <a:ext uri="{FF2B5EF4-FFF2-40B4-BE49-F238E27FC236}">
                  <a16:creationId xmlns:a16="http://schemas.microsoft.com/office/drawing/2014/main" id="{F1911D8E-5B23-EDAC-2742-280F524E22FE}"/>
                </a:ext>
              </a:extLst>
            </p:cNvPr>
            <p:cNvSpPr/>
            <p:nvPr/>
          </p:nvSpPr>
          <p:spPr>
            <a:xfrm>
              <a:off x="9084576"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1" name="矩形 50">
              <a:extLst>
                <a:ext uri="{FF2B5EF4-FFF2-40B4-BE49-F238E27FC236}">
                  <a16:creationId xmlns:a16="http://schemas.microsoft.com/office/drawing/2014/main" id="{F1205082-2EC8-CECB-4DA2-607C96B530DF}"/>
                </a:ext>
              </a:extLst>
            </p:cNvPr>
            <p:cNvSpPr/>
            <p:nvPr/>
          </p:nvSpPr>
          <p:spPr>
            <a:xfrm>
              <a:off x="9256850" y="2638607"/>
              <a:ext cx="2225740" cy="1498552"/>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Weekly milestones</a:t>
              </a:r>
            </a:p>
            <a:p>
              <a:r>
                <a:rPr lang="en" altLang="zh-CN" dirty="0"/>
                <a:t>measurable outcomes</a:t>
              </a:r>
            </a:p>
          </p:txBody>
        </p:sp>
        <p:grpSp>
          <p:nvGrpSpPr>
            <p:cNvPr id="76" name="组合 75">
              <a:extLst>
                <a:ext uri="{FF2B5EF4-FFF2-40B4-BE49-F238E27FC236}">
                  <a16:creationId xmlns:a16="http://schemas.microsoft.com/office/drawing/2014/main" id="{6C77AEFB-7A51-FB33-BD28-8469D51F432D}"/>
                </a:ext>
              </a:extLst>
            </p:cNvPr>
            <p:cNvGrpSpPr/>
            <p:nvPr/>
          </p:nvGrpSpPr>
          <p:grpSpPr>
            <a:xfrm>
              <a:off x="9256850" y="4479311"/>
              <a:ext cx="353094" cy="353093"/>
              <a:chOff x="13057188" y="3740150"/>
              <a:chExt cx="474663" cy="474663"/>
            </a:xfrm>
            <a:solidFill>
              <a:schemeClr val="bg1"/>
            </a:solidFill>
          </p:grpSpPr>
          <p:sp>
            <p:nvSpPr>
              <p:cNvPr id="77" name="Freeform 18">
                <a:extLst>
                  <a:ext uri="{FF2B5EF4-FFF2-40B4-BE49-F238E27FC236}">
                    <a16:creationId xmlns:a16="http://schemas.microsoft.com/office/drawing/2014/main" id="{F2ABAD32-8920-C2BC-6484-7995336F5CAE}"/>
                  </a:ext>
                </a:extLst>
              </p:cNvPr>
              <p:cNvSpPr>
                <a:spLocks/>
              </p:cNvSpPr>
              <p:nvPr/>
            </p:nvSpPr>
            <p:spPr bwMode="auto">
              <a:xfrm>
                <a:off x="13114338" y="4019550"/>
                <a:ext cx="360363" cy="195263"/>
              </a:xfrm>
              <a:custGeom>
                <a:avLst/>
                <a:gdLst>
                  <a:gd name="T0" fmla="*/ 227 w 227"/>
                  <a:gd name="T1" fmla="*/ 123 h 123"/>
                  <a:gd name="T2" fmla="*/ 0 w 227"/>
                  <a:gd name="T3" fmla="*/ 123 h 123"/>
                  <a:gd name="T4" fmla="*/ 0 w 227"/>
                  <a:gd name="T5" fmla="*/ 0 h 123"/>
                  <a:gd name="T6" fmla="*/ 19 w 227"/>
                  <a:gd name="T7" fmla="*/ 0 h 123"/>
                  <a:gd name="T8" fmla="*/ 19 w 227"/>
                  <a:gd name="T9" fmla="*/ 104 h 123"/>
                  <a:gd name="T10" fmla="*/ 208 w 227"/>
                  <a:gd name="T11" fmla="*/ 104 h 123"/>
                  <a:gd name="T12" fmla="*/ 208 w 227"/>
                  <a:gd name="T13" fmla="*/ 0 h 123"/>
                  <a:gd name="T14" fmla="*/ 227 w 227"/>
                  <a:gd name="T15" fmla="*/ 0 h 123"/>
                  <a:gd name="T16" fmla="*/ 227 w 227"/>
                  <a:gd name="T17"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123">
                    <a:moveTo>
                      <a:pt x="227" y="123"/>
                    </a:moveTo>
                    <a:lnTo>
                      <a:pt x="0" y="123"/>
                    </a:lnTo>
                    <a:lnTo>
                      <a:pt x="0" y="0"/>
                    </a:lnTo>
                    <a:lnTo>
                      <a:pt x="19" y="0"/>
                    </a:lnTo>
                    <a:lnTo>
                      <a:pt x="19" y="104"/>
                    </a:lnTo>
                    <a:lnTo>
                      <a:pt x="208" y="104"/>
                    </a:lnTo>
                    <a:lnTo>
                      <a:pt x="208" y="0"/>
                    </a:lnTo>
                    <a:lnTo>
                      <a:pt x="227" y="0"/>
                    </a:lnTo>
                    <a:lnTo>
                      <a:pt x="227"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8" name="Freeform 19">
                <a:extLst>
                  <a:ext uri="{FF2B5EF4-FFF2-40B4-BE49-F238E27FC236}">
                    <a16:creationId xmlns:a16="http://schemas.microsoft.com/office/drawing/2014/main" id="{6F32F710-1ED1-9217-6F28-37AC0839001D}"/>
                  </a:ext>
                </a:extLst>
              </p:cNvPr>
              <p:cNvSpPr>
                <a:spLocks/>
              </p:cNvSpPr>
              <p:nvPr/>
            </p:nvSpPr>
            <p:spPr bwMode="auto">
              <a:xfrm>
                <a:off x="13057188" y="3740150"/>
                <a:ext cx="474663" cy="274638"/>
              </a:xfrm>
              <a:custGeom>
                <a:avLst/>
                <a:gdLst>
                  <a:gd name="T0" fmla="*/ 284 w 299"/>
                  <a:gd name="T1" fmla="*/ 173 h 173"/>
                  <a:gd name="T2" fmla="*/ 149 w 299"/>
                  <a:gd name="T3" fmla="*/ 29 h 173"/>
                  <a:gd name="T4" fmla="*/ 14 w 299"/>
                  <a:gd name="T5" fmla="*/ 173 h 173"/>
                  <a:gd name="T6" fmla="*/ 0 w 299"/>
                  <a:gd name="T7" fmla="*/ 159 h 173"/>
                  <a:gd name="T8" fmla="*/ 149 w 299"/>
                  <a:gd name="T9" fmla="*/ 0 h 173"/>
                  <a:gd name="T10" fmla="*/ 299 w 299"/>
                  <a:gd name="T11" fmla="*/ 159 h 173"/>
                  <a:gd name="T12" fmla="*/ 284 w 299"/>
                  <a:gd name="T13" fmla="*/ 173 h 173"/>
                </a:gdLst>
                <a:ahLst/>
                <a:cxnLst>
                  <a:cxn ang="0">
                    <a:pos x="T0" y="T1"/>
                  </a:cxn>
                  <a:cxn ang="0">
                    <a:pos x="T2" y="T3"/>
                  </a:cxn>
                  <a:cxn ang="0">
                    <a:pos x="T4" y="T5"/>
                  </a:cxn>
                  <a:cxn ang="0">
                    <a:pos x="T6" y="T7"/>
                  </a:cxn>
                  <a:cxn ang="0">
                    <a:pos x="T8" y="T9"/>
                  </a:cxn>
                  <a:cxn ang="0">
                    <a:pos x="T10" y="T11"/>
                  </a:cxn>
                  <a:cxn ang="0">
                    <a:pos x="T12" y="T13"/>
                  </a:cxn>
                </a:cxnLst>
                <a:rect l="0" t="0" r="r" b="b"/>
                <a:pathLst>
                  <a:path w="299" h="173">
                    <a:moveTo>
                      <a:pt x="284" y="173"/>
                    </a:moveTo>
                    <a:lnTo>
                      <a:pt x="149" y="29"/>
                    </a:lnTo>
                    <a:lnTo>
                      <a:pt x="14" y="173"/>
                    </a:lnTo>
                    <a:lnTo>
                      <a:pt x="0" y="159"/>
                    </a:lnTo>
                    <a:lnTo>
                      <a:pt x="149" y="0"/>
                    </a:lnTo>
                    <a:lnTo>
                      <a:pt x="299" y="159"/>
                    </a:lnTo>
                    <a:lnTo>
                      <a:pt x="284" y="1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9" name="Freeform 20">
                <a:extLst>
                  <a:ext uri="{FF2B5EF4-FFF2-40B4-BE49-F238E27FC236}">
                    <a16:creationId xmlns:a16="http://schemas.microsoft.com/office/drawing/2014/main" id="{A66AAE26-86D8-3C49-E642-EB3177312E02}"/>
                  </a:ext>
                </a:extLst>
              </p:cNvPr>
              <p:cNvSpPr>
                <a:spLocks/>
              </p:cNvSpPr>
              <p:nvPr/>
            </p:nvSpPr>
            <p:spPr bwMode="auto">
              <a:xfrm>
                <a:off x="13233400" y="4019550"/>
                <a:ext cx="120650" cy="134938"/>
              </a:xfrm>
              <a:custGeom>
                <a:avLst/>
                <a:gdLst>
                  <a:gd name="T0" fmla="*/ 76 w 76"/>
                  <a:gd name="T1" fmla="*/ 85 h 85"/>
                  <a:gd name="T2" fmla="*/ 57 w 76"/>
                  <a:gd name="T3" fmla="*/ 85 h 85"/>
                  <a:gd name="T4" fmla="*/ 57 w 76"/>
                  <a:gd name="T5" fmla="*/ 19 h 85"/>
                  <a:gd name="T6" fmla="*/ 19 w 76"/>
                  <a:gd name="T7" fmla="*/ 19 h 85"/>
                  <a:gd name="T8" fmla="*/ 19 w 76"/>
                  <a:gd name="T9" fmla="*/ 85 h 85"/>
                  <a:gd name="T10" fmla="*/ 0 w 76"/>
                  <a:gd name="T11" fmla="*/ 85 h 85"/>
                  <a:gd name="T12" fmla="*/ 0 w 76"/>
                  <a:gd name="T13" fmla="*/ 0 h 85"/>
                  <a:gd name="T14" fmla="*/ 76 w 76"/>
                  <a:gd name="T15" fmla="*/ 0 h 85"/>
                  <a:gd name="T16" fmla="*/ 76 w 76"/>
                  <a:gd name="T1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85">
                    <a:moveTo>
                      <a:pt x="76" y="85"/>
                    </a:moveTo>
                    <a:lnTo>
                      <a:pt x="57" y="85"/>
                    </a:lnTo>
                    <a:lnTo>
                      <a:pt x="57" y="19"/>
                    </a:lnTo>
                    <a:lnTo>
                      <a:pt x="19" y="19"/>
                    </a:lnTo>
                    <a:lnTo>
                      <a:pt x="19" y="85"/>
                    </a:lnTo>
                    <a:lnTo>
                      <a:pt x="0" y="85"/>
                    </a:lnTo>
                    <a:lnTo>
                      <a:pt x="0" y="0"/>
                    </a:lnTo>
                    <a:lnTo>
                      <a:pt x="76" y="0"/>
                    </a:lnTo>
                    <a:lnTo>
                      <a:pt x="7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0" name="Freeform 21">
                <a:extLst>
                  <a:ext uri="{FF2B5EF4-FFF2-40B4-BE49-F238E27FC236}">
                    <a16:creationId xmlns:a16="http://schemas.microsoft.com/office/drawing/2014/main" id="{A60FC6E1-2A16-5F1E-0715-BE6D111CE22C}"/>
                  </a:ext>
                </a:extLst>
              </p:cNvPr>
              <p:cNvSpPr>
                <a:spLocks noEditPoints="1"/>
              </p:cNvSpPr>
              <p:nvPr/>
            </p:nvSpPr>
            <p:spPr bwMode="auto">
              <a:xfrm>
                <a:off x="13233400" y="3868738"/>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cxnSp>
        <p:nvCxnSpPr>
          <p:cNvPr id="52" name="直接连接符 51">
            <a:extLst>
              <a:ext uri="{FF2B5EF4-FFF2-40B4-BE49-F238E27FC236}">
                <a16:creationId xmlns:a16="http://schemas.microsoft.com/office/drawing/2014/main" id="{401E64A7-9A3D-2BB1-A924-8C117572C013}"/>
              </a:ext>
            </a:extLst>
          </p:cNvPr>
          <p:cNvCxnSpPr>
            <a:cxnSpLocks/>
          </p:cNvCxnSpPr>
          <p:nvPr/>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8A3C1A0-116A-CC34-71EA-8AF484644723}"/>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E4A1C0A3-F725-E088-A308-07BA7B028FDB}"/>
              </a:ext>
            </a:extLst>
          </p:cNvPr>
          <p:cNvSpPr txBox="1"/>
          <p:nvPr/>
        </p:nvSpPr>
        <p:spPr>
          <a:xfrm>
            <a:off x="452512" y="300592"/>
            <a:ext cx="7091288" cy="461665"/>
          </a:xfrm>
          <a:prstGeom prst="rect">
            <a:avLst/>
          </a:prstGeom>
          <a:noFill/>
        </p:spPr>
        <p:txBody>
          <a:bodyPr wrap="square" rtlCol="0">
            <a:spAutoFit/>
          </a:bodyPr>
          <a:lstStyle/>
          <a:p>
            <a:r>
              <a:rPr lang="en-US" altLang="zh-CN" sz="2400" b="1" dirty="0">
                <a:solidFill>
                  <a:schemeClr val="accent1"/>
                </a:solidFill>
                <a:latin typeface="+mj-ea"/>
                <a:ea typeface="+mj-ea"/>
              </a:rPr>
              <a:t>What I’d like to work on this summer</a:t>
            </a:r>
            <a:endParaRPr lang="zh-CN" altLang="en-US" sz="2400" b="1" dirty="0">
              <a:solidFill>
                <a:schemeClr val="accent1"/>
              </a:solidFill>
              <a:latin typeface="+mj-ea"/>
              <a:ea typeface="+mj-ea"/>
            </a:endParaRPr>
          </a:p>
        </p:txBody>
      </p:sp>
      <p:pic>
        <p:nvPicPr>
          <p:cNvPr id="55" name="图片 54" descr="黑白色的标志&#10;&#10;中度可信度描述已自动生成">
            <a:extLst>
              <a:ext uri="{FF2B5EF4-FFF2-40B4-BE49-F238E27FC236}">
                <a16:creationId xmlns:a16="http://schemas.microsoft.com/office/drawing/2014/main" id="{B6D92254-C37B-C684-7386-7A1C477D2A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613EFBF5-7AF5-3C87-5D6F-74BAD04B5573}"/>
              </a:ext>
            </a:extLst>
          </p:cNvPr>
          <p:cNvSpPr>
            <a:spLocks noGrp="1"/>
          </p:cNvSpPr>
          <p:nvPr>
            <p:ph type="sldNum" sz="quarter" idx="12"/>
          </p:nvPr>
        </p:nvSpPr>
        <p:spPr/>
        <p:txBody>
          <a:bodyPr/>
          <a:lstStyle/>
          <a:p>
            <a:fld id="{CCBA9D17-A0D3-409F-BFF9-E5BAE63FEE36}" type="slidenum">
              <a:rPr lang="zh-CN" altLang="en-US" smtClean="0"/>
              <a:pPr/>
              <a:t>9</a:t>
            </a:fld>
            <a:endParaRPr lang="zh-CN" altLang="en-US" dirty="0"/>
          </a:p>
        </p:txBody>
      </p:sp>
      <p:sp>
        <p:nvSpPr>
          <p:cNvPr id="7" name="文本框 6">
            <a:extLst>
              <a:ext uri="{FF2B5EF4-FFF2-40B4-BE49-F238E27FC236}">
                <a16:creationId xmlns:a16="http://schemas.microsoft.com/office/drawing/2014/main" id="{58CF1CFC-F198-F420-5DF7-9D6F12412623}"/>
              </a:ext>
            </a:extLst>
          </p:cNvPr>
          <p:cNvSpPr txBox="1"/>
          <p:nvPr/>
        </p:nvSpPr>
        <p:spPr>
          <a:xfrm>
            <a:off x="528706" y="882534"/>
            <a:ext cx="6398868" cy="923330"/>
          </a:xfrm>
          <a:prstGeom prst="rect">
            <a:avLst/>
          </a:prstGeom>
          <a:noFill/>
        </p:spPr>
        <p:txBody>
          <a:bodyPr wrap="square" rtlCol="0">
            <a:spAutoFit/>
          </a:bodyPr>
          <a:lstStyle/>
          <a:p>
            <a:r>
              <a:rPr lang="en" altLang="zh-CN" b="1" dirty="0"/>
              <a:t>I’m flexible on topics—happy to take on new challenges. If I pick one, tactile is the best fit.</a:t>
            </a:r>
            <a:endParaRPr lang="en" altLang="zh-CN" dirty="0"/>
          </a:p>
          <a:p>
            <a:endParaRPr kumimoji="1" lang="zh-CN" altLang="en-US" dirty="0"/>
          </a:p>
        </p:txBody>
      </p:sp>
    </p:spTree>
    <p:extLst>
      <p:ext uri="{BB962C8B-B14F-4D97-AF65-F5344CB8AC3E}">
        <p14:creationId xmlns:p14="http://schemas.microsoft.com/office/powerpoint/2010/main" val="4202688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D5FE7-BB4C-7460-B72F-6BFB0D0981AB}"/>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D0813CB0-A47B-18BB-C2B4-FE300493786E}"/>
              </a:ext>
            </a:extLst>
          </p:cNvPr>
          <p:cNvPicPr>
            <a:picLocks noChangeAspect="1"/>
          </p:cNvPicPr>
          <p:nvPr/>
        </p:nvPicPr>
        <p:blipFill>
          <a:blip r:embed="rId6">
            <a:alphaModFix amt="8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80" name="PA-文本框 879">
            <a:extLst>
              <a:ext uri="{FF2B5EF4-FFF2-40B4-BE49-F238E27FC236}">
                <a16:creationId xmlns:a16="http://schemas.microsoft.com/office/drawing/2014/main" id="{D346556C-491E-71DE-9FC4-097C7861C00E}"/>
              </a:ext>
            </a:extLst>
          </p:cNvPr>
          <p:cNvSpPr txBox="1"/>
          <p:nvPr>
            <p:custDataLst>
              <p:tags r:id="rId1"/>
            </p:custDataLst>
          </p:nvPr>
        </p:nvSpPr>
        <p:spPr>
          <a:xfrm>
            <a:off x="2946854" y="1769417"/>
            <a:ext cx="2399737" cy="3031183"/>
          </a:xfrm>
          <a:custGeom>
            <a:avLst/>
            <a:gdLst/>
            <a:ahLst/>
            <a:cxnLst/>
            <a:rect l="l" t="t" r="r" b="b"/>
            <a:pathLst>
              <a:path w="3403492" h="4299058">
                <a:moveTo>
                  <a:pt x="2262900" y="163338"/>
                </a:moveTo>
                <a:cubicBezTo>
                  <a:pt x="2081955" y="165947"/>
                  <a:pt x="1909638" y="233094"/>
                  <a:pt x="1745948" y="364780"/>
                </a:cubicBezTo>
                <a:cubicBezTo>
                  <a:pt x="1582259" y="496466"/>
                  <a:pt x="1430790" y="677036"/>
                  <a:pt x="1291543" y="906491"/>
                </a:cubicBezTo>
                <a:cubicBezTo>
                  <a:pt x="1152296" y="1135945"/>
                  <a:pt x="1028864" y="1398630"/>
                  <a:pt x="921247" y="1694545"/>
                </a:cubicBezTo>
                <a:cubicBezTo>
                  <a:pt x="811914" y="1993230"/>
                  <a:pt x="743052" y="2257567"/>
                  <a:pt x="714663" y="2487558"/>
                </a:cubicBezTo>
                <a:cubicBezTo>
                  <a:pt x="686273" y="2717548"/>
                  <a:pt x="705952" y="2898176"/>
                  <a:pt x="773700" y="3029439"/>
                </a:cubicBezTo>
                <a:cubicBezTo>
                  <a:pt x="841448" y="3160703"/>
                  <a:pt x="964862" y="3227586"/>
                  <a:pt x="1143941" y="3230088"/>
                </a:cubicBezTo>
                <a:cubicBezTo>
                  <a:pt x="1323462" y="3227586"/>
                  <a:pt x="1495031" y="3160703"/>
                  <a:pt x="1658649" y="3029439"/>
                </a:cubicBezTo>
                <a:cubicBezTo>
                  <a:pt x="1822266" y="2898175"/>
                  <a:pt x="1974080" y="2717548"/>
                  <a:pt x="2114094" y="2487558"/>
                </a:cubicBezTo>
                <a:cubicBezTo>
                  <a:pt x="2254106" y="2257567"/>
                  <a:pt x="2378467" y="1993230"/>
                  <a:pt x="2487176" y="1694545"/>
                </a:cubicBezTo>
                <a:cubicBezTo>
                  <a:pt x="2595417" y="1398630"/>
                  <a:pt x="2663350" y="1135945"/>
                  <a:pt x="2690974" y="906491"/>
                </a:cubicBezTo>
                <a:cubicBezTo>
                  <a:pt x="2718598" y="677036"/>
                  <a:pt x="2698572" y="496466"/>
                  <a:pt x="2630897" y="364780"/>
                </a:cubicBezTo>
                <a:cubicBezTo>
                  <a:pt x="2563221" y="233094"/>
                  <a:pt x="2440556" y="165947"/>
                  <a:pt x="2262900" y="163338"/>
                </a:cubicBezTo>
                <a:close/>
                <a:moveTo>
                  <a:pt x="2322496" y="0"/>
                </a:moveTo>
                <a:cubicBezTo>
                  <a:pt x="2601947" y="232"/>
                  <a:pt x="2835708" y="63923"/>
                  <a:pt x="3023781" y="191071"/>
                </a:cubicBezTo>
                <a:cubicBezTo>
                  <a:pt x="3211854" y="318219"/>
                  <a:pt x="3331343" y="507431"/>
                  <a:pt x="3382248" y="758708"/>
                </a:cubicBezTo>
                <a:cubicBezTo>
                  <a:pt x="3433152" y="1009983"/>
                  <a:pt x="3392577" y="1321929"/>
                  <a:pt x="3260522" y="1694545"/>
                </a:cubicBezTo>
                <a:cubicBezTo>
                  <a:pt x="3139990" y="2018208"/>
                  <a:pt x="2983336" y="2296330"/>
                  <a:pt x="2790562" y="2528913"/>
                </a:cubicBezTo>
                <a:cubicBezTo>
                  <a:pt x="2597788" y="2761496"/>
                  <a:pt x="2383879" y="2947559"/>
                  <a:pt x="2148835" y="3087102"/>
                </a:cubicBezTo>
                <a:cubicBezTo>
                  <a:pt x="1913792" y="3226647"/>
                  <a:pt x="1672600" y="3318692"/>
                  <a:pt x="1425260" y="3363238"/>
                </a:cubicBezTo>
                <a:cubicBezTo>
                  <a:pt x="1333267" y="3587748"/>
                  <a:pt x="1321208" y="3763436"/>
                  <a:pt x="1389081" y="3890301"/>
                </a:cubicBezTo>
                <a:cubicBezTo>
                  <a:pt x="1456955" y="4017166"/>
                  <a:pt x="1590965" y="4081723"/>
                  <a:pt x="1791111" y="4083970"/>
                </a:cubicBezTo>
                <a:cubicBezTo>
                  <a:pt x="1853470" y="4084420"/>
                  <a:pt x="1913776" y="4079205"/>
                  <a:pt x="1972029" y="4068326"/>
                </a:cubicBezTo>
                <a:cubicBezTo>
                  <a:pt x="2030283" y="4057446"/>
                  <a:pt x="2094608" y="4038206"/>
                  <a:pt x="2165005" y="4010602"/>
                </a:cubicBezTo>
                <a:cubicBezTo>
                  <a:pt x="2168426" y="4049398"/>
                  <a:pt x="2171847" y="4088193"/>
                  <a:pt x="2175267" y="4126989"/>
                </a:cubicBezTo>
                <a:cubicBezTo>
                  <a:pt x="2074884" y="4179326"/>
                  <a:pt x="1961942" y="4220910"/>
                  <a:pt x="1836442" y="4251739"/>
                </a:cubicBezTo>
                <a:cubicBezTo>
                  <a:pt x="1710943" y="4282568"/>
                  <a:pt x="1587627" y="4298341"/>
                  <a:pt x="1466494" y="4299058"/>
                </a:cubicBezTo>
                <a:cubicBezTo>
                  <a:pt x="1120682" y="4293692"/>
                  <a:pt x="888843" y="4204258"/>
                  <a:pt x="770977" y="4030758"/>
                </a:cubicBezTo>
                <a:cubicBezTo>
                  <a:pt x="653112" y="3857257"/>
                  <a:pt x="639121" y="3631887"/>
                  <a:pt x="729005" y="3354648"/>
                </a:cubicBezTo>
                <a:cubicBezTo>
                  <a:pt x="523105" y="3305803"/>
                  <a:pt x="356281" y="3211299"/>
                  <a:pt x="228533" y="3071138"/>
                </a:cubicBezTo>
                <a:cubicBezTo>
                  <a:pt x="100785" y="2930977"/>
                  <a:pt x="26283" y="2745975"/>
                  <a:pt x="5027" y="2516134"/>
                </a:cubicBezTo>
                <a:cubicBezTo>
                  <a:pt x="-5601" y="2401213"/>
                  <a:pt x="625" y="2275287"/>
                  <a:pt x="23704" y="2138356"/>
                </a:cubicBezTo>
                <a:cubicBezTo>
                  <a:pt x="46784" y="2001425"/>
                  <a:pt x="86717" y="1853488"/>
                  <a:pt x="143504" y="1694545"/>
                </a:cubicBezTo>
                <a:cubicBezTo>
                  <a:pt x="283001" y="1323287"/>
                  <a:pt x="470536" y="1011980"/>
                  <a:pt x="706110" y="760624"/>
                </a:cubicBezTo>
                <a:cubicBezTo>
                  <a:pt x="941684" y="509269"/>
                  <a:pt x="1200396" y="319737"/>
                  <a:pt x="1482244" y="192029"/>
                </a:cubicBezTo>
                <a:cubicBezTo>
                  <a:pt x="1764093" y="64322"/>
                  <a:pt x="2044177" y="313"/>
                  <a:pt x="2322496" y="0"/>
                </a:cubicBezTo>
                <a:close/>
              </a:path>
            </a:pathLst>
          </a:custGeom>
          <a:gradFill>
            <a:gsLst>
              <a:gs pos="0">
                <a:schemeClr val="accent1">
                  <a:alpha val="66000"/>
                </a:schemeClr>
              </a:gs>
              <a:gs pos="80000">
                <a:schemeClr val="accent1">
                  <a:alpha val="0"/>
                </a:schemeClr>
              </a:gs>
            </a:gsLst>
            <a:lin ang="2700000" scaled="1"/>
          </a:gra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4400" i="1" dirty="0">
              <a:latin typeface="Arial" panose="020B0604020202020204" pitchFamily="34" charset="0"/>
              <a:ea typeface="微软雅黑" panose="020B0503020204020204" pitchFamily="34" charset="-122"/>
              <a:sym typeface="Arial" panose="020B0604020202020204" pitchFamily="34" charset="0"/>
            </a:endParaRPr>
          </a:p>
        </p:txBody>
      </p:sp>
      <p:sp>
        <p:nvSpPr>
          <p:cNvPr id="881" name="PA-文本框 880">
            <a:extLst>
              <a:ext uri="{FF2B5EF4-FFF2-40B4-BE49-F238E27FC236}">
                <a16:creationId xmlns:a16="http://schemas.microsoft.com/office/drawing/2014/main" id="{794186E8-C8C5-9CF4-DBCE-2CEA43F31670}"/>
              </a:ext>
            </a:extLst>
          </p:cNvPr>
          <p:cNvSpPr txBox="1"/>
          <p:nvPr>
            <p:custDataLst>
              <p:tags r:id="rId2"/>
            </p:custDataLst>
          </p:nvPr>
        </p:nvSpPr>
        <p:spPr>
          <a:xfrm>
            <a:off x="5549929" y="3094383"/>
            <a:ext cx="1181071" cy="1089146"/>
          </a:xfrm>
          <a:custGeom>
            <a:avLst/>
            <a:gdLst/>
            <a:ahLst/>
            <a:cxnLst/>
            <a:rect l="l" t="t" r="r" b="b"/>
            <a:pathLst>
              <a:path w="2579925" h="2379125">
                <a:moveTo>
                  <a:pt x="729992" y="1177217"/>
                </a:moveTo>
                <a:cubicBezTo>
                  <a:pt x="652949" y="1246055"/>
                  <a:pt x="593925" y="1316423"/>
                  <a:pt x="552921" y="1388321"/>
                </a:cubicBezTo>
                <a:cubicBezTo>
                  <a:pt x="511915" y="1460218"/>
                  <a:pt x="485313" y="1533646"/>
                  <a:pt x="473114" y="1608603"/>
                </a:cubicBezTo>
                <a:cubicBezTo>
                  <a:pt x="449018" y="1766548"/>
                  <a:pt x="478212" y="1891222"/>
                  <a:pt x="560697" y="1982623"/>
                </a:cubicBezTo>
                <a:cubicBezTo>
                  <a:pt x="643182" y="2074025"/>
                  <a:pt x="763642" y="2120682"/>
                  <a:pt x="922077" y="2122594"/>
                </a:cubicBezTo>
                <a:cubicBezTo>
                  <a:pt x="997275" y="2122594"/>
                  <a:pt x="1067798" y="2113416"/>
                  <a:pt x="1133648" y="2095059"/>
                </a:cubicBezTo>
                <a:cubicBezTo>
                  <a:pt x="1199497" y="2076702"/>
                  <a:pt x="1262666" y="2049167"/>
                  <a:pt x="1323154" y="2012453"/>
                </a:cubicBezTo>
                <a:cubicBezTo>
                  <a:pt x="1267919" y="1941639"/>
                  <a:pt x="1215560" y="1871399"/>
                  <a:pt x="1166078" y="1801732"/>
                </a:cubicBezTo>
                <a:cubicBezTo>
                  <a:pt x="1116596" y="1732065"/>
                  <a:pt x="1069158" y="1665649"/>
                  <a:pt x="1023762" y="1602484"/>
                </a:cubicBezTo>
                <a:cubicBezTo>
                  <a:pt x="954763" y="1504262"/>
                  <a:pt x="896978" y="1421529"/>
                  <a:pt x="850409" y="1354284"/>
                </a:cubicBezTo>
                <a:cubicBezTo>
                  <a:pt x="803840" y="1287039"/>
                  <a:pt x="763701" y="1228017"/>
                  <a:pt x="729992" y="1177217"/>
                </a:cubicBezTo>
                <a:close/>
                <a:moveTo>
                  <a:pt x="1255707" y="131133"/>
                </a:moveTo>
                <a:cubicBezTo>
                  <a:pt x="1173779" y="132408"/>
                  <a:pt x="1103744" y="158165"/>
                  <a:pt x="1045602" y="208403"/>
                </a:cubicBezTo>
                <a:cubicBezTo>
                  <a:pt x="987459" y="258640"/>
                  <a:pt x="950554" y="325708"/>
                  <a:pt x="934886" y="409605"/>
                </a:cubicBezTo>
                <a:cubicBezTo>
                  <a:pt x="924635" y="463348"/>
                  <a:pt x="924670" y="518047"/>
                  <a:pt x="934989" y="573702"/>
                </a:cubicBezTo>
                <a:cubicBezTo>
                  <a:pt x="945309" y="629357"/>
                  <a:pt x="970971" y="694001"/>
                  <a:pt x="1011976" y="767634"/>
                </a:cubicBezTo>
                <a:cubicBezTo>
                  <a:pt x="1029338" y="794606"/>
                  <a:pt x="1047475" y="821740"/>
                  <a:pt x="1066389" y="849035"/>
                </a:cubicBezTo>
                <a:cubicBezTo>
                  <a:pt x="1085303" y="876330"/>
                  <a:pt x="1107625" y="907201"/>
                  <a:pt x="1133354" y="941647"/>
                </a:cubicBezTo>
                <a:cubicBezTo>
                  <a:pt x="1224796" y="861135"/>
                  <a:pt x="1298898" y="778633"/>
                  <a:pt x="1355658" y="694141"/>
                </a:cubicBezTo>
                <a:cubicBezTo>
                  <a:pt x="1412417" y="609649"/>
                  <a:pt x="1449004" y="520924"/>
                  <a:pt x="1465416" y="427966"/>
                </a:cubicBezTo>
                <a:cubicBezTo>
                  <a:pt x="1481331" y="331254"/>
                  <a:pt x="1470989" y="257684"/>
                  <a:pt x="1434393" y="207255"/>
                </a:cubicBezTo>
                <a:cubicBezTo>
                  <a:pt x="1397796" y="156826"/>
                  <a:pt x="1338234" y="131452"/>
                  <a:pt x="1255707" y="131133"/>
                </a:cubicBezTo>
                <a:close/>
                <a:moveTo>
                  <a:pt x="1281318" y="0"/>
                </a:moveTo>
                <a:cubicBezTo>
                  <a:pt x="1479427" y="1958"/>
                  <a:pt x="1624031" y="43067"/>
                  <a:pt x="1715128" y="123328"/>
                </a:cubicBezTo>
                <a:cubicBezTo>
                  <a:pt x="1806225" y="203589"/>
                  <a:pt x="1840669" y="311255"/>
                  <a:pt x="1818459" y="446326"/>
                </a:cubicBezTo>
                <a:cubicBezTo>
                  <a:pt x="1798223" y="564467"/>
                  <a:pt x="1734958" y="667854"/>
                  <a:pt x="1628666" y="756487"/>
                </a:cubicBezTo>
                <a:cubicBezTo>
                  <a:pt x="1522374" y="845121"/>
                  <a:pt x="1372178" y="926214"/>
                  <a:pt x="1178080" y="999768"/>
                </a:cubicBezTo>
                <a:cubicBezTo>
                  <a:pt x="1205455" y="1035971"/>
                  <a:pt x="1238134" y="1077529"/>
                  <a:pt x="1276117" y="1124441"/>
                </a:cubicBezTo>
                <a:cubicBezTo>
                  <a:pt x="1314100" y="1171353"/>
                  <a:pt x="1358049" y="1226679"/>
                  <a:pt x="1407964" y="1290418"/>
                </a:cubicBezTo>
                <a:cubicBezTo>
                  <a:pt x="1469517" y="1367988"/>
                  <a:pt x="1525947" y="1439248"/>
                  <a:pt x="1577255" y="1504198"/>
                </a:cubicBezTo>
                <a:cubicBezTo>
                  <a:pt x="1628564" y="1569148"/>
                  <a:pt x="1677934" y="1630465"/>
                  <a:pt x="1725366" y="1688149"/>
                </a:cubicBezTo>
                <a:cubicBezTo>
                  <a:pt x="1804340" y="1581577"/>
                  <a:pt x="1872237" y="1470417"/>
                  <a:pt x="1929059" y="1354666"/>
                </a:cubicBezTo>
                <a:cubicBezTo>
                  <a:pt x="1985881" y="1238916"/>
                  <a:pt x="2034159" y="1115518"/>
                  <a:pt x="2073894" y="984470"/>
                </a:cubicBezTo>
                <a:cubicBezTo>
                  <a:pt x="1977530" y="971211"/>
                  <a:pt x="1881166" y="957951"/>
                  <a:pt x="1784802" y="944692"/>
                </a:cubicBezTo>
                <a:cubicBezTo>
                  <a:pt x="1789655" y="916274"/>
                  <a:pt x="1794509" y="887855"/>
                  <a:pt x="1799363" y="859437"/>
                </a:cubicBezTo>
                <a:cubicBezTo>
                  <a:pt x="2059550" y="859437"/>
                  <a:pt x="2319738" y="859437"/>
                  <a:pt x="2579925" y="859437"/>
                </a:cubicBezTo>
                <a:cubicBezTo>
                  <a:pt x="2575072" y="887855"/>
                  <a:pt x="2570218" y="916274"/>
                  <a:pt x="2565364" y="944692"/>
                </a:cubicBezTo>
                <a:cubicBezTo>
                  <a:pt x="2475541" y="956927"/>
                  <a:pt x="2385718" y="969161"/>
                  <a:pt x="2295895" y="981395"/>
                </a:cubicBezTo>
                <a:cubicBezTo>
                  <a:pt x="2225188" y="1138191"/>
                  <a:pt x="2151639" y="1275100"/>
                  <a:pt x="2075247" y="1392123"/>
                </a:cubicBezTo>
                <a:cubicBezTo>
                  <a:pt x="1998855" y="1509147"/>
                  <a:pt x="1900013" y="1629229"/>
                  <a:pt x="1778721" y="1752371"/>
                </a:cubicBezTo>
                <a:cubicBezTo>
                  <a:pt x="1838028" y="1823311"/>
                  <a:pt x="1899735" y="1896355"/>
                  <a:pt x="1963843" y="1971502"/>
                </a:cubicBezTo>
                <a:cubicBezTo>
                  <a:pt x="2027951" y="2046649"/>
                  <a:pt x="2099123" y="2129636"/>
                  <a:pt x="2177358" y="2220463"/>
                </a:cubicBezTo>
                <a:cubicBezTo>
                  <a:pt x="2224462" y="2226573"/>
                  <a:pt x="2271565" y="2232682"/>
                  <a:pt x="2318669" y="2238792"/>
                </a:cubicBezTo>
                <a:cubicBezTo>
                  <a:pt x="2312557" y="2268264"/>
                  <a:pt x="2306445" y="2297736"/>
                  <a:pt x="2300333" y="2327209"/>
                </a:cubicBezTo>
                <a:cubicBezTo>
                  <a:pt x="2224079" y="2343814"/>
                  <a:pt x="2160888" y="2355648"/>
                  <a:pt x="2110759" y="2362710"/>
                </a:cubicBezTo>
                <a:cubicBezTo>
                  <a:pt x="2060630" y="2369772"/>
                  <a:pt x="2010920" y="2373208"/>
                  <a:pt x="1961628" y="2373017"/>
                </a:cubicBezTo>
                <a:cubicBezTo>
                  <a:pt x="1862805" y="2374035"/>
                  <a:pt x="1775436" y="2362074"/>
                  <a:pt x="1699522" y="2337134"/>
                </a:cubicBezTo>
                <a:cubicBezTo>
                  <a:pt x="1623607" y="2312193"/>
                  <a:pt x="1554571" y="2268166"/>
                  <a:pt x="1492415" y="2205052"/>
                </a:cubicBezTo>
                <a:cubicBezTo>
                  <a:pt x="1452118" y="2162307"/>
                  <a:pt x="1413432" y="2119524"/>
                  <a:pt x="1376357" y="2076702"/>
                </a:cubicBezTo>
                <a:cubicBezTo>
                  <a:pt x="1288434" y="2160153"/>
                  <a:pt x="1182974" y="2230799"/>
                  <a:pt x="1059979" y="2288642"/>
                </a:cubicBezTo>
                <a:cubicBezTo>
                  <a:pt x="936985" y="2346485"/>
                  <a:pt x="798204" y="2376646"/>
                  <a:pt x="643638" y="2379125"/>
                </a:cubicBezTo>
                <a:cubicBezTo>
                  <a:pt x="401516" y="2374045"/>
                  <a:pt x="228175" y="2313188"/>
                  <a:pt x="123616" y="2196554"/>
                </a:cubicBezTo>
                <a:cubicBezTo>
                  <a:pt x="19056" y="2079920"/>
                  <a:pt x="-19172" y="1937987"/>
                  <a:pt x="8930" y="1770755"/>
                </a:cubicBezTo>
                <a:cubicBezTo>
                  <a:pt x="30029" y="1637795"/>
                  <a:pt x="94722" y="1517456"/>
                  <a:pt x="203011" y="1409737"/>
                </a:cubicBezTo>
                <a:cubicBezTo>
                  <a:pt x="311300" y="1302018"/>
                  <a:pt x="472974" y="1206155"/>
                  <a:pt x="688034" y="1122146"/>
                </a:cubicBezTo>
                <a:cubicBezTo>
                  <a:pt x="676019" y="1104809"/>
                  <a:pt x="664004" y="1087472"/>
                  <a:pt x="651990" y="1070136"/>
                </a:cubicBezTo>
                <a:cubicBezTo>
                  <a:pt x="589261" y="973159"/>
                  <a:pt x="548492" y="881477"/>
                  <a:pt x="529684" y="795091"/>
                </a:cubicBezTo>
                <a:cubicBezTo>
                  <a:pt x="510876" y="708704"/>
                  <a:pt x="509192" y="623050"/>
                  <a:pt x="524632" y="538129"/>
                </a:cubicBezTo>
                <a:cubicBezTo>
                  <a:pt x="556154" y="371118"/>
                  <a:pt x="639922" y="240118"/>
                  <a:pt x="775936" y="145131"/>
                </a:cubicBezTo>
                <a:cubicBezTo>
                  <a:pt x="911950" y="50144"/>
                  <a:pt x="1080411" y="1767"/>
                  <a:pt x="1281318" y="0"/>
                </a:cubicBezTo>
                <a:close/>
              </a:path>
            </a:pathLst>
          </a:custGeom>
          <a:gradFill>
            <a:gsLst>
              <a:gs pos="0">
                <a:schemeClr val="bg1">
                  <a:lumMod val="85000"/>
                </a:schemeClr>
              </a:gs>
              <a:gs pos="80000">
                <a:schemeClr val="accent3">
                  <a:lumMod val="20000"/>
                  <a:lumOff val="80000"/>
                  <a:alpha val="0"/>
                </a:schemeClr>
              </a:gs>
            </a:gsLst>
            <a:lin ang="2700000" scaled="1"/>
          </a:gra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4400" i="1" dirty="0">
              <a:latin typeface="Arial" panose="020B0604020202020204" pitchFamily="34" charset="0"/>
              <a:ea typeface="微软雅黑" panose="020B0503020204020204" pitchFamily="34" charset="-122"/>
              <a:sym typeface="Arial" panose="020B0604020202020204" pitchFamily="34" charset="0"/>
            </a:endParaRPr>
          </a:p>
        </p:txBody>
      </p:sp>
      <p:sp>
        <p:nvSpPr>
          <p:cNvPr id="882" name="PA-文本框 881">
            <a:extLst>
              <a:ext uri="{FF2B5EF4-FFF2-40B4-BE49-F238E27FC236}">
                <a16:creationId xmlns:a16="http://schemas.microsoft.com/office/drawing/2014/main" id="{CF0B9C2A-BB2B-59C9-C093-E2D22E50A848}"/>
              </a:ext>
            </a:extLst>
          </p:cNvPr>
          <p:cNvSpPr txBox="1"/>
          <p:nvPr>
            <p:custDataLst>
              <p:tags r:id="rId3"/>
            </p:custDataLst>
          </p:nvPr>
        </p:nvSpPr>
        <p:spPr>
          <a:xfrm>
            <a:off x="6249458" y="2607617"/>
            <a:ext cx="2009289" cy="2675571"/>
          </a:xfrm>
          <a:custGeom>
            <a:avLst/>
            <a:gdLst/>
            <a:ahLst/>
            <a:cxnLst/>
            <a:rect l="l" t="t" r="r" b="b"/>
            <a:pathLst>
              <a:path w="3228489" h="4299058">
                <a:moveTo>
                  <a:pt x="2414769" y="779693"/>
                </a:moveTo>
                <a:cubicBezTo>
                  <a:pt x="2062991" y="1433258"/>
                  <a:pt x="1711214" y="2086824"/>
                  <a:pt x="1359437" y="2740390"/>
                </a:cubicBezTo>
                <a:cubicBezTo>
                  <a:pt x="1660348" y="2740390"/>
                  <a:pt x="1961260" y="2740390"/>
                  <a:pt x="2262171" y="2740390"/>
                </a:cubicBezTo>
                <a:cubicBezTo>
                  <a:pt x="2313037" y="2086824"/>
                  <a:pt x="2363903" y="1433258"/>
                  <a:pt x="2414769" y="779693"/>
                </a:cubicBezTo>
                <a:close/>
                <a:moveTo>
                  <a:pt x="2701545" y="0"/>
                </a:moveTo>
                <a:cubicBezTo>
                  <a:pt x="2851281" y="0"/>
                  <a:pt x="3001017" y="0"/>
                  <a:pt x="3150753" y="0"/>
                </a:cubicBezTo>
                <a:cubicBezTo>
                  <a:pt x="3066964" y="1350321"/>
                  <a:pt x="2983175" y="2700641"/>
                  <a:pt x="2899387" y="4050962"/>
                </a:cubicBezTo>
                <a:cubicBezTo>
                  <a:pt x="3009087" y="4068191"/>
                  <a:pt x="3118788" y="4085420"/>
                  <a:pt x="3228489" y="4102649"/>
                </a:cubicBezTo>
                <a:cubicBezTo>
                  <a:pt x="3207673" y="4168118"/>
                  <a:pt x="3186857" y="4233588"/>
                  <a:pt x="3166040" y="4299058"/>
                </a:cubicBezTo>
                <a:cubicBezTo>
                  <a:pt x="2675082" y="4299058"/>
                  <a:pt x="2184124" y="4299058"/>
                  <a:pt x="1693166" y="4299058"/>
                </a:cubicBezTo>
                <a:cubicBezTo>
                  <a:pt x="1713759" y="4234292"/>
                  <a:pt x="1734351" y="4169526"/>
                  <a:pt x="1754943" y="4104760"/>
                </a:cubicBezTo>
                <a:cubicBezTo>
                  <a:pt x="1889151" y="4085674"/>
                  <a:pt x="2023358" y="4066589"/>
                  <a:pt x="2157566" y="4047503"/>
                </a:cubicBezTo>
                <a:cubicBezTo>
                  <a:pt x="2187082" y="3678445"/>
                  <a:pt x="2216597" y="3309387"/>
                  <a:pt x="2246113" y="2940329"/>
                </a:cubicBezTo>
                <a:cubicBezTo>
                  <a:pt x="1914967" y="2940329"/>
                  <a:pt x="1583820" y="2940329"/>
                  <a:pt x="1252673" y="2940329"/>
                </a:cubicBezTo>
                <a:cubicBezTo>
                  <a:pt x="1057969" y="3303651"/>
                  <a:pt x="863264" y="3666972"/>
                  <a:pt x="668559" y="4030293"/>
                </a:cubicBezTo>
                <a:cubicBezTo>
                  <a:pt x="796005" y="4055115"/>
                  <a:pt x="923451" y="4079937"/>
                  <a:pt x="1050897" y="4104760"/>
                </a:cubicBezTo>
                <a:cubicBezTo>
                  <a:pt x="1030304" y="4169526"/>
                  <a:pt x="1009712" y="4234292"/>
                  <a:pt x="989120" y="4299058"/>
                </a:cubicBezTo>
                <a:lnTo>
                  <a:pt x="0" y="4299058"/>
                </a:lnTo>
                <a:cubicBezTo>
                  <a:pt x="20592" y="4234292"/>
                  <a:pt x="41184" y="4169526"/>
                  <a:pt x="61776" y="4104760"/>
                </a:cubicBezTo>
                <a:cubicBezTo>
                  <a:pt x="188561" y="4081850"/>
                  <a:pt x="315346" y="4058940"/>
                  <a:pt x="442131" y="4036030"/>
                </a:cubicBezTo>
                <a:cubicBezTo>
                  <a:pt x="1195269" y="2690687"/>
                  <a:pt x="1948407" y="1345344"/>
                  <a:pt x="2701545" y="0"/>
                </a:cubicBezTo>
                <a:close/>
              </a:path>
            </a:pathLst>
          </a:custGeom>
          <a:gradFill>
            <a:gsLst>
              <a:gs pos="0">
                <a:schemeClr val="accent2"/>
              </a:gs>
              <a:gs pos="100000">
                <a:schemeClr val="accent2">
                  <a:lumMod val="60000"/>
                  <a:lumOff val="40000"/>
                  <a:alpha val="0"/>
                </a:schemeClr>
              </a:gs>
            </a:gsLst>
            <a:lin ang="2700000" scaled="1"/>
          </a:gra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4400" i="1" dirty="0">
              <a:latin typeface="Arial" panose="020B0604020202020204" pitchFamily="34" charset="0"/>
              <a:ea typeface="微软雅黑" panose="020B0503020204020204" pitchFamily="34" charset="-122"/>
              <a:sym typeface="Arial" panose="020B0604020202020204" pitchFamily="34" charset="0"/>
            </a:endParaRPr>
          </a:p>
        </p:txBody>
      </p:sp>
      <p:cxnSp>
        <p:nvCxnSpPr>
          <p:cNvPr id="8" name="直接连接符 7">
            <a:extLst>
              <a:ext uri="{FF2B5EF4-FFF2-40B4-BE49-F238E27FC236}">
                <a16:creationId xmlns:a16="http://schemas.microsoft.com/office/drawing/2014/main" id="{53AC59BB-E9DE-C4B1-D609-ED7F6BECB2A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9E727E72-2A19-9D31-F3FE-189671C4ED93}"/>
              </a:ext>
            </a:extLst>
          </p:cNvPr>
          <p:cNvSpPr txBox="1"/>
          <p:nvPr/>
        </p:nvSpPr>
        <p:spPr>
          <a:xfrm>
            <a:off x="452512" y="300592"/>
            <a:ext cx="4606371" cy="461665"/>
          </a:xfrm>
          <a:prstGeom prst="rect">
            <a:avLst/>
          </a:prstGeom>
          <a:noFill/>
        </p:spPr>
        <p:txBody>
          <a:bodyPr wrap="square" rtlCol="0">
            <a:spAutoFit/>
          </a:bodyPr>
          <a:lstStyle/>
          <a:p>
            <a:r>
              <a:rPr lang="en-US" altLang="zh-CN" sz="2400" b="1" dirty="0">
                <a:solidFill>
                  <a:schemeClr val="accent1"/>
                </a:solidFill>
                <a:latin typeface="+mj-ea"/>
                <a:ea typeface="+mj-ea"/>
              </a:rPr>
              <a:t>Q&amp;A</a:t>
            </a:r>
            <a:endParaRPr lang="zh-CN" altLang="en-US" sz="2400" b="1" dirty="0">
              <a:solidFill>
                <a:schemeClr val="accent1"/>
              </a:solidFill>
              <a:latin typeface="+mj-ea"/>
              <a:ea typeface="+mj-ea"/>
            </a:endParaRPr>
          </a:p>
        </p:txBody>
      </p:sp>
      <p:pic>
        <p:nvPicPr>
          <p:cNvPr id="10" name="图片 9" descr="黑白色的标志&#10;&#10;中度可信度描述已自动生成">
            <a:extLst>
              <a:ext uri="{FF2B5EF4-FFF2-40B4-BE49-F238E27FC236}">
                <a16:creationId xmlns:a16="http://schemas.microsoft.com/office/drawing/2014/main" id="{12378245-3FE1-CCA3-DDA7-961F35110B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A949E83F-F089-E085-1EA9-590BA72B6CC3}"/>
              </a:ext>
            </a:extLst>
          </p:cNvPr>
          <p:cNvSpPr>
            <a:spLocks noGrp="1"/>
          </p:cNvSpPr>
          <p:nvPr>
            <p:ph type="sldNum" sz="quarter" idx="12"/>
          </p:nvPr>
        </p:nvSpPr>
        <p:spPr/>
        <p:txBody>
          <a:bodyPr/>
          <a:lstStyle/>
          <a:p>
            <a:fld id="{CCBA9D17-A0D3-409F-BFF9-E5BAE63FEE36}" type="slidenum">
              <a:rPr lang="zh-CN" altLang="en-US" smtClean="0"/>
              <a:pPr/>
              <a:t>10</a:t>
            </a:fld>
            <a:endParaRPr lang="zh-CN" altLang="en-US" dirty="0"/>
          </a:p>
        </p:txBody>
      </p:sp>
    </p:spTree>
    <p:extLst>
      <p:ext uri="{BB962C8B-B14F-4D97-AF65-F5344CB8AC3E}">
        <p14:creationId xmlns:p14="http://schemas.microsoft.com/office/powerpoint/2010/main" val="688970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B1AF-E4FF-B9DB-2773-5753F6D024C3}"/>
            </a:ext>
          </a:extLst>
        </p:cNvPr>
        <p:cNvGrpSpPr/>
        <p:nvPr/>
      </p:nvGrpSpPr>
      <p:grpSpPr>
        <a:xfrm>
          <a:off x="0" y="0"/>
          <a:ext cx="0" cy="0"/>
          <a:chOff x="0" y="0"/>
          <a:chExt cx="0" cy="0"/>
        </a:xfrm>
      </p:grpSpPr>
      <p:sp>
        <p:nvSpPr>
          <p:cNvPr id="38" name="文本框 37">
            <a:extLst>
              <a:ext uri="{FF2B5EF4-FFF2-40B4-BE49-F238E27FC236}">
                <a16:creationId xmlns:a16="http://schemas.microsoft.com/office/drawing/2014/main" id="{C4BDB0D7-4255-3F6B-34FD-40524FBD935A}"/>
              </a:ext>
            </a:extLst>
          </p:cNvPr>
          <p:cNvSpPr txBox="1"/>
          <p:nvPr/>
        </p:nvSpPr>
        <p:spPr>
          <a:xfrm>
            <a:off x="1296445" y="394471"/>
            <a:ext cx="6884288" cy="1323439"/>
          </a:xfrm>
          <a:prstGeom prst="rect">
            <a:avLst/>
          </a:prstGeom>
          <a:noFill/>
        </p:spPr>
        <p:txBody>
          <a:bodyPr wrap="square" rtlCol="0">
            <a:spAutoFit/>
          </a:bodyPr>
          <a:lstStyle/>
          <a:p>
            <a:pPr lvl="0">
              <a:defRPr/>
            </a:pPr>
            <a:r>
              <a:rPr lang="en" altLang="zh-CN" sz="4000" b="1" spc="300" dirty="0">
                <a:solidFill>
                  <a:schemeClr val="accent1"/>
                </a:solidFill>
                <a:latin typeface="Arial" panose="020B0604020202020204" pitchFamily="34" charset="0"/>
                <a:ea typeface="Microsoft YaHei" panose="020B0503020204020204" pitchFamily="34" charset="-122"/>
                <a:cs typeface="+mn-ea"/>
                <a:sym typeface="Arial" panose="020B0604020202020204" pitchFamily="34" charset="0"/>
              </a:rPr>
              <a:t>Questions for discussion</a:t>
            </a:r>
            <a:endParaRPr kumimoji="0" lang="zh-CN" altLang="en-US"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34" name="组合 33">
            <a:extLst>
              <a:ext uri="{FF2B5EF4-FFF2-40B4-BE49-F238E27FC236}">
                <a16:creationId xmlns:a16="http://schemas.microsoft.com/office/drawing/2014/main" id="{4E51CAC1-2379-286B-7041-27FCE695FD23}"/>
              </a:ext>
            </a:extLst>
          </p:cNvPr>
          <p:cNvGrpSpPr/>
          <p:nvPr/>
        </p:nvGrpSpPr>
        <p:grpSpPr>
          <a:xfrm>
            <a:off x="923306" y="2219780"/>
            <a:ext cx="10345387" cy="1209220"/>
            <a:chOff x="1296445" y="1777506"/>
            <a:chExt cx="10345387" cy="1209220"/>
          </a:xfrm>
        </p:grpSpPr>
        <p:sp>
          <p:nvSpPr>
            <p:cNvPr id="40" name="文本框 39">
              <a:extLst>
                <a:ext uri="{FF2B5EF4-FFF2-40B4-BE49-F238E27FC236}">
                  <a16:creationId xmlns:a16="http://schemas.microsoft.com/office/drawing/2014/main" id="{920D3D78-A95C-396A-4C1B-E06745223D77}"/>
                </a:ext>
              </a:extLst>
            </p:cNvPr>
            <p:cNvSpPr txBox="1"/>
            <p:nvPr/>
          </p:nvSpPr>
          <p:spPr>
            <a:xfrm>
              <a:off x="1912863" y="2155729"/>
              <a:ext cx="9728969" cy="830997"/>
            </a:xfrm>
            <a:prstGeom prst="rect">
              <a:avLst/>
            </a:prstGeom>
            <a:noFill/>
          </p:spPr>
          <p:txBody>
            <a:bodyPr wrap="square" rtlCol="0">
              <a:spAutoFit/>
            </a:bodyPr>
            <a:lstStyle/>
            <a:p>
              <a:r>
                <a:rPr lang="en" altLang="zh-CN" sz="2400" b="1" dirty="0"/>
                <a:t>Are the project areas in the spreadsheet specific ongoing projects this summer, or general directions?</a:t>
              </a:r>
              <a:endParaRPr lang="en" altLang="zh-CN" sz="2400" dirty="0"/>
            </a:p>
          </p:txBody>
        </p:sp>
        <p:grpSp>
          <p:nvGrpSpPr>
            <p:cNvPr id="41" name="组合 40">
              <a:extLst>
                <a:ext uri="{FF2B5EF4-FFF2-40B4-BE49-F238E27FC236}">
                  <a16:creationId xmlns:a16="http://schemas.microsoft.com/office/drawing/2014/main" id="{360BCFD7-A58A-C503-D8C9-935933F702B3}"/>
                </a:ext>
              </a:extLst>
            </p:cNvPr>
            <p:cNvGrpSpPr/>
            <p:nvPr/>
          </p:nvGrpSpPr>
          <p:grpSpPr>
            <a:xfrm>
              <a:off x="1296445" y="1777506"/>
              <a:ext cx="800100" cy="713161"/>
              <a:chOff x="6976951" y="1586703"/>
              <a:chExt cx="800100" cy="713161"/>
            </a:xfrm>
          </p:grpSpPr>
          <p:cxnSp>
            <p:nvCxnSpPr>
              <p:cNvPr id="43" name="直接连接符 42">
                <a:extLst>
                  <a:ext uri="{FF2B5EF4-FFF2-40B4-BE49-F238E27FC236}">
                    <a16:creationId xmlns:a16="http://schemas.microsoft.com/office/drawing/2014/main" id="{42B88A78-E719-26CE-27D2-B412D298D5F7}"/>
                  </a:ext>
                </a:extLst>
              </p:cNvPr>
              <p:cNvCxnSpPr/>
              <p:nvPr/>
            </p:nvCxnSpPr>
            <p:spPr>
              <a:xfrm flipH="1">
                <a:off x="7160632" y="1829707"/>
                <a:ext cx="432738" cy="47015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8FDE8D1D-7BB7-A3C0-5762-B61356D88325}"/>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1</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grpSp>
        <p:nvGrpSpPr>
          <p:cNvPr id="51" name="组合 50">
            <a:extLst>
              <a:ext uri="{FF2B5EF4-FFF2-40B4-BE49-F238E27FC236}">
                <a16:creationId xmlns:a16="http://schemas.microsoft.com/office/drawing/2014/main" id="{2687811D-9126-3AEC-E3E8-F91ED5D5185F}"/>
              </a:ext>
            </a:extLst>
          </p:cNvPr>
          <p:cNvGrpSpPr/>
          <p:nvPr/>
        </p:nvGrpSpPr>
        <p:grpSpPr>
          <a:xfrm>
            <a:off x="923306" y="3334187"/>
            <a:ext cx="800100" cy="713161"/>
            <a:chOff x="6976951" y="1586703"/>
            <a:chExt cx="800100" cy="713161"/>
          </a:xfrm>
        </p:grpSpPr>
        <p:sp>
          <p:nvSpPr>
            <p:cNvPr id="52" name="文本框 51">
              <a:extLst>
                <a:ext uri="{FF2B5EF4-FFF2-40B4-BE49-F238E27FC236}">
                  <a16:creationId xmlns:a16="http://schemas.microsoft.com/office/drawing/2014/main" id="{D868C39C-3C10-ECBA-6B20-DB9E86C5CE64}"/>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2</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3" name="直接连接符 52">
              <a:extLst>
                <a:ext uri="{FF2B5EF4-FFF2-40B4-BE49-F238E27FC236}">
                  <a16:creationId xmlns:a16="http://schemas.microsoft.com/office/drawing/2014/main" id="{C93B9D63-B50F-4055-F119-C3F1E2E4F520}"/>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275B89B8-891E-7303-A8FD-214226D1C59E}"/>
              </a:ext>
            </a:extLst>
          </p:cNvPr>
          <p:cNvGrpSpPr/>
          <p:nvPr/>
        </p:nvGrpSpPr>
        <p:grpSpPr>
          <a:xfrm>
            <a:off x="923306" y="4451492"/>
            <a:ext cx="10072140" cy="799797"/>
            <a:chOff x="1296445" y="1777506"/>
            <a:chExt cx="10072140" cy="799797"/>
          </a:xfrm>
        </p:grpSpPr>
        <p:sp>
          <p:nvSpPr>
            <p:cNvPr id="55" name="文本框 54">
              <a:extLst>
                <a:ext uri="{FF2B5EF4-FFF2-40B4-BE49-F238E27FC236}">
                  <a16:creationId xmlns:a16="http://schemas.microsoft.com/office/drawing/2014/main" id="{31A4187D-F7B8-F1A2-1E1D-BC3D28E07895}"/>
                </a:ext>
              </a:extLst>
            </p:cNvPr>
            <p:cNvSpPr txBox="1"/>
            <p:nvPr/>
          </p:nvSpPr>
          <p:spPr>
            <a:xfrm>
              <a:off x="1830685" y="2115638"/>
              <a:ext cx="9537900" cy="461665"/>
            </a:xfrm>
            <a:prstGeom prst="rect">
              <a:avLst/>
            </a:prstGeom>
            <a:noFill/>
          </p:spPr>
          <p:txBody>
            <a:bodyPr wrap="square" rtlCol="0">
              <a:spAutoFit/>
            </a:bodyPr>
            <a:lstStyle/>
            <a:p>
              <a:pPr lvl="0">
                <a:defRPr/>
              </a:pPr>
              <a:endParaRPr kumimoji="0" lang="zh-CN" altLang="en-US" sz="2400" b="0" i="0" u="none" strike="noStrike" kern="1200" cap="none" spc="40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56" name="组合 55">
              <a:extLst>
                <a:ext uri="{FF2B5EF4-FFF2-40B4-BE49-F238E27FC236}">
                  <a16:creationId xmlns:a16="http://schemas.microsoft.com/office/drawing/2014/main" id="{D79F90D4-73D8-DB2D-3E31-089FEA12EA34}"/>
                </a:ext>
              </a:extLst>
            </p:cNvPr>
            <p:cNvGrpSpPr/>
            <p:nvPr/>
          </p:nvGrpSpPr>
          <p:grpSpPr>
            <a:xfrm>
              <a:off x="1296445" y="1777506"/>
              <a:ext cx="800100" cy="713161"/>
              <a:chOff x="6976951" y="1586703"/>
              <a:chExt cx="800100" cy="713161"/>
            </a:xfrm>
          </p:grpSpPr>
          <p:sp>
            <p:nvSpPr>
              <p:cNvPr id="57" name="文本框 56">
                <a:extLst>
                  <a:ext uri="{FF2B5EF4-FFF2-40B4-BE49-F238E27FC236}">
                    <a16:creationId xmlns:a16="http://schemas.microsoft.com/office/drawing/2014/main" id="{2FA5DF9B-C4BC-0A1A-F6A9-FB2E2104E6A2}"/>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3</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8" name="直接连接符 57">
                <a:extLst>
                  <a:ext uri="{FF2B5EF4-FFF2-40B4-BE49-F238E27FC236}">
                    <a16:creationId xmlns:a16="http://schemas.microsoft.com/office/drawing/2014/main" id="{F956B2CD-C283-F2F4-B4FD-42FF63186DBB}"/>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
        <p:nvSpPr>
          <p:cNvPr id="5" name="文本框 4">
            <a:extLst>
              <a:ext uri="{FF2B5EF4-FFF2-40B4-BE49-F238E27FC236}">
                <a16:creationId xmlns:a16="http://schemas.microsoft.com/office/drawing/2014/main" id="{2CDF5E67-352A-5D51-6E23-4343FD1A81C7}"/>
              </a:ext>
            </a:extLst>
          </p:cNvPr>
          <p:cNvSpPr txBox="1"/>
          <p:nvPr/>
        </p:nvSpPr>
        <p:spPr>
          <a:xfrm>
            <a:off x="1539722" y="3812153"/>
            <a:ext cx="9728969" cy="830997"/>
          </a:xfrm>
          <a:prstGeom prst="rect">
            <a:avLst/>
          </a:prstGeom>
          <a:noFill/>
        </p:spPr>
        <p:txBody>
          <a:bodyPr wrap="square" rtlCol="0">
            <a:spAutoFit/>
          </a:bodyPr>
          <a:lstStyle/>
          <a:p>
            <a:r>
              <a:rPr lang="en" altLang="zh-CN" sz="2400" b="1" dirty="0"/>
              <a:t>What stage are the tactile / underwater efforts currently at (prototype, data, algorithms, experiments)?</a:t>
            </a:r>
            <a:endParaRPr lang="en" altLang="zh-CN" sz="2400" dirty="0"/>
          </a:p>
        </p:txBody>
      </p:sp>
      <p:sp>
        <p:nvSpPr>
          <p:cNvPr id="6" name="文本框 5">
            <a:extLst>
              <a:ext uri="{FF2B5EF4-FFF2-40B4-BE49-F238E27FC236}">
                <a16:creationId xmlns:a16="http://schemas.microsoft.com/office/drawing/2014/main" id="{005F4591-60D9-2155-36C5-D36C7CD9EB82}"/>
              </a:ext>
            </a:extLst>
          </p:cNvPr>
          <p:cNvSpPr txBox="1"/>
          <p:nvPr/>
        </p:nvSpPr>
        <p:spPr>
          <a:xfrm>
            <a:off x="1539723" y="4956707"/>
            <a:ext cx="9728969" cy="830997"/>
          </a:xfrm>
          <a:prstGeom prst="rect">
            <a:avLst/>
          </a:prstGeom>
          <a:noFill/>
        </p:spPr>
        <p:txBody>
          <a:bodyPr wrap="square" rtlCol="0">
            <a:spAutoFit/>
          </a:bodyPr>
          <a:lstStyle/>
          <a:p>
            <a:r>
              <a:rPr lang="en" altLang="zh-CN" sz="2400" b="1" dirty="0"/>
              <a:t>What is the typical mentorship workflow for UGVR students (day-to-day with PhD mentor, periodic check-ins </a:t>
            </a:r>
            <a:r>
              <a:rPr lang="en" altLang="zh-CN" sz="2400" b="1"/>
              <a:t>with Prof </a:t>
            </a:r>
            <a:r>
              <a:rPr lang="en" altLang="zh-CN" sz="2400" b="1" dirty="0"/>
              <a:t>Cutkosky)?</a:t>
            </a:r>
            <a:endParaRPr lang="en" altLang="zh-CN" sz="2400" dirty="0"/>
          </a:p>
        </p:txBody>
      </p:sp>
    </p:spTree>
    <p:extLst>
      <p:ext uri="{BB962C8B-B14F-4D97-AF65-F5344CB8AC3E}">
        <p14:creationId xmlns:p14="http://schemas.microsoft.com/office/powerpoint/2010/main" val="20314918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2.4"/>
</p:tagLst>
</file>

<file path=ppt/tags/tag2.xml><?xml version="1.0" encoding="utf-8"?>
<p:tagLst xmlns:a="http://schemas.openxmlformats.org/drawingml/2006/main" xmlns:r="http://schemas.openxmlformats.org/officeDocument/2006/relationships" xmlns:p="http://schemas.openxmlformats.org/presentationml/2006/main">
  <p:tag name="PA" val="v5.2.4"/>
</p:tagLst>
</file>

<file path=ppt/tags/tag3.xml><?xml version="1.0" encoding="utf-8"?>
<p:tagLst xmlns:a="http://schemas.openxmlformats.org/drawingml/2006/main" xmlns:r="http://schemas.openxmlformats.org/officeDocument/2006/relationships" xmlns:p="http://schemas.openxmlformats.org/presentationml/2006/main">
  <p:tag name="PA" val="v5.2.4"/>
</p:tagLst>
</file>

<file path=ppt/theme/theme1.xml><?xml version="1.0" encoding="utf-8"?>
<a:theme xmlns:a="http://schemas.openxmlformats.org/drawingml/2006/main" name="Office 主题​​">
  <a:themeElements>
    <a:clrScheme name="北京大学-红色主题">
      <a:dk1>
        <a:sysClr val="windowText" lastClr="000000"/>
      </a:dk1>
      <a:lt1>
        <a:sysClr val="window" lastClr="FFFFFF"/>
      </a:lt1>
      <a:dk2>
        <a:srgbClr val="44546A"/>
      </a:dk2>
      <a:lt2>
        <a:srgbClr val="E7E6E6"/>
      </a:lt2>
      <a:accent1>
        <a:srgbClr val="94070A"/>
      </a:accent1>
      <a:accent2>
        <a:srgbClr val="D7C8B5"/>
      </a:accent2>
      <a:accent3>
        <a:srgbClr val="A5A5A5"/>
      </a:accent3>
      <a:accent4>
        <a:srgbClr val="0B4065"/>
      </a:accent4>
      <a:accent5>
        <a:srgbClr val="5B9BD5"/>
      </a:accent5>
      <a:accent6>
        <a:srgbClr val="70AD47"/>
      </a:accent6>
      <a:hlink>
        <a:srgbClr val="94070A"/>
      </a:hlink>
      <a:folHlink>
        <a:srgbClr val="954F72"/>
      </a:folHlink>
    </a:clrScheme>
    <a:fontScheme name="loawae3m">
      <a:majorFont>
        <a:latin typeface="Arial" panose="020F0302020204030204"/>
        <a:ea typeface="微软雅黑"/>
        <a:cs typeface=""/>
      </a:majorFont>
      <a:minorFont>
        <a:latin typeface="Arial"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4285</TotalTime>
  <Words>2679</Words>
  <Application>Microsoft Macintosh PowerPoint</Application>
  <PresentationFormat>宽屏</PresentationFormat>
  <Paragraphs>197</Paragraphs>
  <Slides>11</Slides>
  <Notes>11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Fish</dc:creator>
  <cp:lastModifiedBy>奕好 陈</cp:lastModifiedBy>
  <cp:revision>468</cp:revision>
  <cp:lastPrinted>2026-01-18T16:14:02Z</cp:lastPrinted>
  <dcterms:created xsi:type="dcterms:W3CDTF">2021-05-06T04:51:34Z</dcterms:created>
  <dcterms:modified xsi:type="dcterms:W3CDTF">2026-02-09T19:48:49Z</dcterms:modified>
</cp:coreProperties>
</file>