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184" r:id="rId2"/>
    <p:sldId id="344" r:id="rId3"/>
    <p:sldId id="3284" r:id="rId4"/>
    <p:sldId id="3247" r:id="rId5"/>
    <p:sldId id="3285" r:id="rId6"/>
    <p:sldId id="3286" r:id="rId7"/>
    <p:sldId id="3287" r:id="rId8"/>
    <p:sldId id="3291" r:id="rId9"/>
    <p:sldId id="3293" r:id="rId10"/>
    <p:sldId id="3294" r:id="rId11"/>
    <p:sldId id="3295" r:id="rId12"/>
    <p:sldId id="3296" r:id="rId13"/>
    <p:sldId id="3292" r:id="rId14"/>
    <p:sldId id="3297" r:id="rId15"/>
    <p:sldId id="3299" r:id="rId16"/>
    <p:sldId id="3298" r:id="rId17"/>
    <p:sldId id="3300" r:id="rId21"/>
    <p:sldId id="3301" r:id="rId20"/>
    <p:sldId id="3302" r:id="rId19"/>
    <p:sldId id="3303"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261D061-56C3-4466-98F3-98E7BB90A6DD}">
          <p14:sldIdLst>
            <p14:sldId id="3184"/>
          </p14:sldIdLst>
        </p14:section>
        <p14:section name="目录" id="{9E80D4BD-46BA-485C-A69E-3FF95A4966CF}">
          <p14:sldIdLst>
            <p14:sldId id="344"/>
            <p14:sldId id="3284"/>
          </p14:sldIdLst>
        </p14:section>
        <p14:section name="内容页" id="{3ACFC61A-BEE8-495C-B5EB-7BDC91533FAD}">
          <p14:sldIdLst>
            <p14:sldId id="3247"/>
            <p14:sldId id="3285"/>
            <p14:sldId id="3286"/>
            <p14:sldId id="3287"/>
            <p14:sldId id="3291"/>
            <p14:sldId id="3293"/>
            <p14:sldId id="3294"/>
            <p14:sldId id="3295"/>
            <p14:sldId id="3296"/>
            <p14:sldId id="3292"/>
            <p14:sldId id="3297"/>
            <p14:sldId id="3299"/>
            <p14:sldId id="3298"/>
          </p14:sldIdLst>
        </p14:section>
        <p14:section name="内容页2" id="{A1EE3B0F-FF5D-4527-8D5C-2F7AEF2BC699}">
          <p14:sldIdLst>
            <p14:sldId id="277"/>
            <p14:sldId id="3288"/>
            <p14:sldId id="3289"/>
            <p14:sldId id="3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CAB69D"/>
    <a:srgbClr val="E9E2D7"/>
    <a:srgbClr val="B2676A"/>
    <a:srgbClr val="C68587"/>
    <a:srgbClr val="94070A"/>
    <a:srgbClr val="D7C8B5"/>
    <a:srgbClr val="F0F0F0"/>
    <a:srgbClr val="B99E7D"/>
    <a:srgbClr val="BE0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62202" autoAdjust="0"/>
  </p:normalViewPr>
  <p:slideViewPr>
    <p:cSldViewPr snapToGrid="0" showGuides="1">
      <p:cViewPr>
        <p:scale>
          <a:sx n="62" d="100"/>
          <a:sy n="62" d="100"/>
        </p:scale>
        <p:origin x="56" y="180"/>
      </p:cViewPr>
      <p:guideLst>
        <p:guide orient="horz" pos="2160"/>
        <p:guide pos="3840"/>
      </p:guideLst>
    </p:cSldViewPr>
  </p:slideViewPr>
  <p:notesTextViewPr>
    <p:cViewPr>
      <p:scale>
        <a:sx n="140" d="100"/>
        <a:sy n="140" d="100"/>
      </p:scale>
      <p:origin x="0" y="0"/>
    </p:cViewPr>
  </p:notesTextViewPr>
  <p:sorterViewPr>
    <p:cViewPr>
      <p:scale>
        <a:sx n="100" d="100"/>
        <a:sy n="100" d="100"/>
      </p:scale>
      <p:origin x="0" y="-5690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20.xml"/><Relationship Id="rId19" Type="http://schemas.openxmlformats.org/officeDocument/2006/relationships/slide" Target="slides/slide19.xml"/><Relationship Id="rId20" Type="http://schemas.openxmlformats.org/officeDocument/2006/relationships/slide" Target="slides/slide18.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3AEBE-9D7F-4A51-A728-35C231377196}"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E923-51F7-42BD-962F-269CF7F55DA1}" type="slidenum">
              <a:rPr lang="zh-CN" altLang="en-US" smtClean="0"/>
              <a:t>‹#›</a:t>
            </a:fld>
            <a:endParaRPr lang="zh-CN" altLang="en-US"/>
          </a:p>
        </p:txBody>
      </p:sp>
    </p:spTree>
    <p:extLst>
      <p:ext uri="{BB962C8B-B14F-4D97-AF65-F5344CB8AC3E}">
        <p14:creationId xmlns:p14="http://schemas.microsoft.com/office/powerpoint/2010/main" val="312254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 altLang="zh-CN" dirty="0"/>
              <a:t>Hi Hao and Teo, thanks for taking the time to meet with me today. My name is Yihao Chen, an undergraduate student at Peking University. Broadly, I’m interested in sensing and real-world robot interaction—especially how we can use multimodal sensing like IMU, force/pressure, and vision to build reliable perception-to-action loops for contact-rich tasks.</a:t>
            </a:r>
          </a:p>
          <a:p>
            <a:br>
              <a:rPr lang="en" altLang="zh-CN" dirty="0"/>
            </a:br>
            <a:endParaRPr lang="en" altLang="zh-CN" dirty="0"/>
          </a:p>
          <a:p>
            <a:r>
              <a:rPr lang="en" altLang="zh-CN" dirty="0"/>
              <a:t>In the next ~15 minutes, I’ll give a quick overview of a few projects I’ve worked on. I’ll organize them in a simple way: first,</a:t>
            </a:r>
            <a:r>
              <a:rPr lang="zh-CN" altLang="en-US" dirty="0"/>
              <a:t> </a:t>
            </a:r>
            <a:r>
              <a:rPr lang="en" altLang="zh-CN" dirty="0"/>
              <a:t>sensor integration and signal processing; second, robot system building and mechanism design; and third, how I try to use those signals for estimation and control to improve robustness in real environments. For each project, I’ll keep the story concise: what problem I tried to solve, what I built or implemented, what results I got, and what I would do next.</a:t>
            </a:r>
          </a:p>
          <a:p>
            <a:br>
              <a:rPr lang="en" altLang="zh-CN" dirty="0"/>
            </a:br>
            <a:endParaRPr lang="en" altLang="zh-CN" dirty="0"/>
          </a:p>
          <a:p>
            <a:r>
              <a:rPr lang="en" altLang="zh-CN" dirty="0"/>
              <a:t>After that, I’d love to hear your thoughts on where my background could fit best in BDML this summer, and I also have a few questions about the kinds of projects and expectations in the lab.</a:t>
            </a:r>
          </a:p>
          <a:p>
            <a:endParaRPr lang="en" altLang="zh-CN" dirty="0"/>
          </a:p>
          <a:p>
            <a:r>
              <a:rPr lang="en" altLang="zh-CN" dirty="0"/>
              <a:t>Hao</a:t>
            </a:r>
            <a:r>
              <a:rPr lang="zh-CN" altLang="en" dirty="0"/>
              <a:t>、</a:t>
            </a:r>
            <a:r>
              <a:rPr lang="en" altLang="zh-CN" dirty="0"/>
              <a:t>Teo </a:t>
            </a:r>
            <a:r>
              <a:rPr lang="zh-CN" altLang="en-US" dirty="0"/>
              <a:t>你们好，谢谢你们愿意跟我聊一聊。我是陈奕好，北大工学院本科生，专业方向是理论力学和机器人双主修，在周培源书院就读，可以理解为提高班。</a:t>
            </a:r>
            <a:br>
              <a:rPr lang="zh-CN" altLang="en-US" dirty="0"/>
            </a:br>
            <a:endParaRPr lang="zh-CN" altLang="en-US" dirty="0"/>
          </a:p>
          <a:p>
            <a:r>
              <a:rPr lang="zh-CN" altLang="en-US" dirty="0"/>
              <a:t>我感兴趣的研究方向是：</a:t>
            </a:r>
            <a:r>
              <a:rPr lang="zh-CN" altLang="en-US" b="1" dirty="0"/>
              <a:t>怎么让机器人在真实环境里“敢接触、能接触、接触得稳”</a:t>
            </a:r>
            <a:r>
              <a:rPr lang="zh-CN" altLang="en-US" dirty="0"/>
              <a:t>。所以我做项目时会很在意传感到控制这一层</a:t>
            </a:r>
            <a:r>
              <a:rPr lang="en-US" altLang="zh-CN" dirty="0"/>
              <a:t>——</a:t>
            </a:r>
            <a:r>
              <a:rPr lang="zh-CN" altLang="en-US" dirty="0"/>
              <a:t>比如 </a:t>
            </a:r>
            <a:r>
              <a:rPr lang="en" altLang="zh-CN" dirty="0"/>
              <a:t>IMU</a:t>
            </a:r>
            <a:r>
              <a:rPr lang="zh-CN" altLang="en" dirty="0"/>
              <a:t>、</a:t>
            </a:r>
            <a:r>
              <a:rPr lang="zh-CN" altLang="en-US" dirty="0"/>
              <a:t>力</a:t>
            </a:r>
            <a:r>
              <a:rPr lang="en-US" altLang="zh-CN" dirty="0"/>
              <a:t>/</a:t>
            </a:r>
            <a:r>
              <a:rPr lang="zh-CN" altLang="en-US" dirty="0"/>
              <a:t>压力这些信号，怎么采、怎么对齐、怎么变成对控制有用的信息，最后把它用进闭环里，让系统更稳定、更可靠。</a:t>
            </a:r>
          </a:p>
          <a:p>
            <a:br>
              <a:rPr lang="zh-CN" altLang="en-US" dirty="0"/>
            </a:br>
            <a:endParaRPr lang="zh-CN" altLang="en-US" dirty="0"/>
          </a:p>
          <a:p>
            <a:r>
              <a:rPr lang="zh-CN" altLang="en-US" dirty="0"/>
              <a:t>我大概用 </a:t>
            </a:r>
            <a:r>
              <a:rPr lang="en-US" altLang="zh-CN" dirty="0"/>
              <a:t>15 </a:t>
            </a:r>
            <a:r>
              <a:rPr lang="zh-CN" altLang="en-US" dirty="0"/>
              <a:t>分钟过一下我做过的几个项目。我会按三个块讲：</a:t>
            </a:r>
          </a:p>
          <a:p>
            <a:r>
              <a:rPr lang="zh-CN" altLang="en-US" dirty="0"/>
              <a:t>第一、系统</a:t>
            </a:r>
            <a:r>
              <a:rPr lang="en-US" altLang="zh-CN" dirty="0"/>
              <a:t>/</a:t>
            </a:r>
            <a:r>
              <a:rPr lang="zh-CN" altLang="en-US" dirty="0"/>
              <a:t>机构这类从零搭起来的东西；</a:t>
            </a:r>
          </a:p>
          <a:p>
            <a:r>
              <a:rPr lang="zh-CN" altLang="en-US" dirty="0"/>
              <a:t>第二、多传感集成和信号处理；</a:t>
            </a:r>
          </a:p>
          <a:p>
            <a:r>
              <a:rPr lang="zh-CN" altLang="en-US" dirty="0"/>
              <a:t>第三、把这些信号用到估计和控制里，去提升鲁棒性。</a:t>
            </a:r>
          </a:p>
          <a:p>
            <a:endParaRPr lang="en-US" altLang="zh-CN" dirty="0"/>
          </a:p>
          <a:p>
            <a:r>
              <a:rPr lang="zh-CN" altLang="en-US" dirty="0"/>
              <a:t>每个项目思路是：我当时想解决什么问题、我具体做了什么、效果怎么样、以及我觉得下一步还能怎么做。</a:t>
            </a:r>
          </a:p>
          <a:p>
            <a:br>
              <a:rPr lang="zh-CN" altLang="en-US" dirty="0"/>
            </a:br>
            <a:endParaRPr lang="zh-CN" altLang="en-US" dirty="0"/>
          </a:p>
          <a:p>
            <a:r>
              <a:rPr lang="zh-CN" altLang="en-US" dirty="0"/>
              <a:t>讲完之后我也很想听听你们的建议：如果暑研能加入 </a:t>
            </a:r>
            <a:r>
              <a:rPr lang="en" altLang="zh-CN" dirty="0"/>
              <a:t>BDML</a:t>
            </a:r>
            <a:r>
              <a:rPr lang="zh-CN" altLang="en" dirty="0"/>
              <a:t>，</a:t>
            </a:r>
            <a:r>
              <a:rPr lang="zh-CN" altLang="en-US" dirty="0"/>
              <a:t>我更适合从哪些方向切进去、你们觉得我该优先补哪些能力。另外我也准备了几个关于你们组项目节奏和期待的问题想请教。</a:t>
            </a:r>
          </a:p>
          <a:p>
            <a:endParaRPr lang="en" altLang="zh-CN" dirty="0"/>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a:t>
            </a:fld>
            <a:endParaRPr lang="zh-CN" altLang="en-US"/>
          </a:p>
        </p:txBody>
      </p:sp>
    </p:spTree>
    <p:extLst>
      <p:ext uri="{BB962C8B-B14F-4D97-AF65-F5344CB8AC3E}">
        <p14:creationId xmlns:p14="http://schemas.microsoft.com/office/powerpoint/2010/main" val="30922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 altLang="zh-CN" dirty="0"/>
              <a:t>Here’s the plan for today. I’ll start with a quick intro and what I can bring, then walk through three representative projects—one on sensing system integration, one on mechanical prototyping, and one ongoing research effort. After that, I’ll explain why I’m interested in BDML and what I hope to work on this summer, and then we can open it up for discussion.</a:t>
            </a:r>
          </a:p>
          <a:p>
            <a:br>
              <a:rPr lang="en" altLang="zh-CN" dirty="0"/>
            </a:br>
            <a:endParaRPr lang="en" altLang="zh-CN" dirty="0"/>
          </a:p>
          <a:p>
            <a:r>
              <a:rPr lang="zh-CN" altLang="en-US" dirty="0"/>
              <a:t>我今天大概按四步来：先用很短的时间说一下我是谁、我擅长什么；然后用三个项目作为代表，分别对应传感系统、机械原型和我正在做的研究；接着我会讲我为什么想来 </a:t>
            </a:r>
            <a:r>
              <a:rPr lang="en" altLang="zh-CN" dirty="0"/>
              <a:t>BDML</a:t>
            </a:r>
            <a:r>
              <a:rPr lang="zh-CN" altLang="en" dirty="0"/>
              <a:t>、</a:t>
            </a:r>
            <a:r>
              <a:rPr lang="zh-CN" altLang="en-US" dirty="0"/>
              <a:t>以及暑研我希望切入的方向；最后我们就自由讨论和提问。</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2</a:t>
            </a:fld>
            <a:endParaRPr lang="zh-CN" altLang="en-US"/>
          </a:p>
        </p:txBody>
      </p:sp>
    </p:spTree>
    <p:extLst>
      <p:ext uri="{BB962C8B-B14F-4D97-AF65-F5344CB8AC3E}">
        <p14:creationId xmlns:p14="http://schemas.microsoft.com/office/powerpoint/2010/main" val="416442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 altLang="zh-CN" dirty="0"/>
              <a:t>Four quick points: I can build end-to-end prototypes; I integrate sensors and produce clean synchronized logs; I debug by isolating failure modes with quick checks; and I work proactively with clear updates and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And in terms of research interests, I’m particularly excited about tactile and multimodal sensing for robust contact-rich interaction—especially in settings like underwater manipulation where uncertainty and contact make everything harder.</a:t>
            </a:r>
          </a:p>
          <a:p>
            <a:endParaRPr lang="en" altLang="zh-CN" dirty="0"/>
          </a:p>
          <a:p>
            <a:r>
              <a:rPr lang="zh-CN" altLang="en-US" dirty="0"/>
              <a:t>四点要点如下：我能构建端到端的原型；我能整合传感器并生成清晰同步的日志；我能通过快速检查来定位故障模式进行调试；并且我能主动与他人合作，提供明确的更新和文档说明。</a:t>
            </a:r>
          </a:p>
          <a:p>
            <a:r>
              <a:rPr lang="zh-CN" altLang="en-US" dirty="0"/>
              <a:t>至于研究兴趣方面，我对触觉和多模态传感在具有大量接触的可靠交互中的应用尤其感兴趣</a:t>
            </a:r>
            <a:r>
              <a:rPr lang="en-US" altLang="zh-CN" dirty="0"/>
              <a:t>——</a:t>
            </a:r>
            <a:r>
              <a:rPr lang="zh-CN" altLang="en-US" dirty="0"/>
              <a:t>特别是在像水下操作这样的环境中，不确定性以及接触因素使得一切变得更加困难。</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3</a:t>
            </a:fld>
            <a:endParaRPr lang="zh-CN" altLang="en-US"/>
          </a:p>
        </p:txBody>
      </p:sp>
    </p:spTree>
    <p:extLst>
      <p:ext uri="{BB962C8B-B14F-4D97-AF65-F5344CB8AC3E}">
        <p14:creationId xmlns:p14="http://schemas.microsoft.com/office/powerpoint/2010/main" val="281192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 altLang="zh-CN" dirty="0"/>
              <a:t>I’ll use this slide as a map for the rest of the talk.</a:t>
            </a:r>
          </a:p>
          <a:p>
            <a:r>
              <a:rPr lang="en" altLang="zh-CN" dirty="0"/>
              <a:t>The wearable sensing project shows my strength in sensor integration and reliability-oriented testing.</a:t>
            </a:r>
          </a:p>
          <a:p>
            <a:r>
              <a:rPr lang="en" altLang="zh-CN" dirty="0"/>
              <a:t>The delta robot project is about rapid prototyping under manufacturability and tolerance constraints.</a:t>
            </a:r>
          </a:p>
          <a:p>
            <a:r>
              <a:rPr lang="en" altLang="zh-CN" dirty="0"/>
              <a:t>The coronary reconstruction work is my ongoing research, where I combine an algorithmic pipeline with evaluation and iteration.</a:t>
            </a:r>
          </a:p>
          <a:p>
            <a:r>
              <a:rPr lang="en" altLang="zh-CN" dirty="0"/>
              <a:t>And finally, the underwater robotics survey gives me a systems view of real deployment constraints—visibility, bandwidth, drift—which is also why I’m excited about robust contact-rich interaction.</a:t>
            </a:r>
          </a:p>
          <a:p>
            <a:endParaRPr lang="en" altLang="zh-CN" dirty="0"/>
          </a:p>
          <a:p>
            <a:r>
              <a:rPr lang="zh-CN" altLang="en-US" dirty="0"/>
              <a:t>我将用这张幻灯片作为接下来演讲的示意图。</a:t>
            </a:r>
          </a:p>
          <a:p>
            <a:r>
              <a:rPr lang="zh-CN" altLang="en-US" dirty="0"/>
              <a:t>可穿戴传感项目展示了我在传感器集成以及可靠性测试方面的能力。</a:t>
            </a:r>
          </a:p>
          <a:p>
            <a:r>
              <a:rPr lang="en" altLang="zh-CN" dirty="0"/>
              <a:t>Delta </a:t>
            </a:r>
            <a:r>
              <a:rPr lang="zh-CN" altLang="en-US" dirty="0"/>
              <a:t>机器人项目涉及在可制造性和公差限制条件下进行快速原型制作。</a:t>
            </a:r>
          </a:p>
          <a:p>
            <a:r>
              <a:rPr lang="zh-CN" altLang="en-US" dirty="0"/>
              <a:t>冠状动脉重建工作是我正在进行的研究，其中我将算法流程与评估和迭代相结合。</a:t>
            </a:r>
          </a:p>
          <a:p>
            <a:r>
              <a:rPr lang="zh-CN" altLang="en-US" dirty="0"/>
              <a:t>最后，水下机器人调查让我对实际部署的限制（如可见度、带宽、漂移）有了系统性的认识</a:t>
            </a:r>
            <a:r>
              <a:rPr lang="en-US" altLang="zh-CN" dirty="0"/>
              <a:t>——</a:t>
            </a:r>
            <a:r>
              <a:rPr lang="zh-CN" altLang="en-US" dirty="0"/>
              <a:t>这也是我对丰富且具有接触性的稳健交互感到兴奋的原因。</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4</a:t>
            </a:fld>
            <a:endParaRPr lang="zh-CN" altLang="en-US"/>
          </a:p>
        </p:txBody>
      </p:sp>
    </p:spTree>
    <p:extLst>
      <p:ext uri="{BB962C8B-B14F-4D97-AF65-F5344CB8AC3E}">
        <p14:creationId xmlns:p14="http://schemas.microsoft.com/office/powerpoint/2010/main" val="252326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 altLang="zh-CN" dirty="0"/>
              <a:t>This project is a wearable leg-guard sensing system. The motivation was pretty practical: when you collect motion and load signals on a human body, the real challenge is not getting </a:t>
            </a:r>
            <a:r>
              <a:rPr lang="en" altLang="zh-CN" i="1" dirty="0"/>
              <a:t>any</a:t>
            </a:r>
            <a:r>
              <a:rPr lang="en" altLang="zh-CN" dirty="0"/>
              <a:t> signal—it’s getting </a:t>
            </a:r>
            <a:r>
              <a:rPr lang="en" altLang="zh-CN" i="1" dirty="0"/>
              <a:t>stable, repeatable</a:t>
            </a:r>
            <a:r>
              <a:rPr lang="en" altLang="zh-CN" dirty="0"/>
              <a:t> data under realistic movement.</a:t>
            </a:r>
          </a:p>
          <a:p>
            <a:br>
              <a:rPr lang="en" altLang="zh-CN" dirty="0"/>
            </a:br>
            <a:endParaRPr lang="en" altLang="zh-CN" dirty="0"/>
          </a:p>
          <a:p>
            <a:r>
              <a:rPr lang="en" altLang="zh-CN" dirty="0"/>
              <a:t>I led the project end-to-end: I did the system planning and architecture, designed the PCB and selected components, and then brought the whole stack up across hardware, firmware, and communications. For implementation, I used an Arduino plus an STM32 for acquisition and control, and integrated multiple sensors mainly through I²C and related interfaces.</a:t>
            </a:r>
          </a:p>
          <a:p>
            <a:br>
              <a:rPr lang="en" altLang="zh-CN" dirty="0"/>
            </a:br>
            <a:endParaRPr lang="en" altLang="zh-CN" dirty="0"/>
          </a:p>
          <a:p>
            <a:r>
              <a:rPr lang="en" altLang="zh-CN" dirty="0"/>
              <a:t>For validation, I focused on reliability: I tested it repeatedly under real motion, logged failure cases like dropouts and synchronization issues, and iterated based on those logs rather than optimizing for a one-off demo. The main takeaway for me is that I’m comfortable building sensing systems end-to-end, and I tend to work in a reliability-oriented way.</a:t>
            </a:r>
          </a:p>
        </p:txBody>
      </p:sp>
      <p:sp>
        <p:nvSpPr>
          <p:cNvPr id="4" name="灯片编号占位符 3"/>
          <p:cNvSpPr>
            <a:spLocks noGrp="1"/>
          </p:cNvSpPr>
          <p:nvPr>
            <p:ph type="sldNum" sz="quarter" idx="5"/>
          </p:nvPr>
        </p:nvSpPr>
        <p:spPr/>
        <p:txBody>
          <a:bodyPr/>
          <a:lstStyle/>
          <a:p>
            <a:fld id="{50F5E923-51F7-42BD-962F-269CF7F55DA1}" type="slidenum">
              <a:rPr lang="zh-CN" altLang="en-US" smtClean="0"/>
              <a:t>5</a:t>
            </a:fld>
            <a:endParaRPr lang="zh-CN" altLang="en-US"/>
          </a:p>
        </p:txBody>
      </p:sp>
    </p:spTree>
    <p:extLst>
      <p:ext uri="{BB962C8B-B14F-4D97-AF65-F5344CB8AC3E}">
        <p14:creationId xmlns:p14="http://schemas.microsoft.com/office/powerpoint/2010/main" val="273486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93A0-9AC8-FBEF-5A5B-7D7BBC1FE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66E65-2DDD-8AD3-5267-9A351D0FC5B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C847AAA-1E79-8C85-1674-2BBF620FB37C}"/>
              </a:ext>
            </a:extLst>
          </p:cNvPr>
          <p:cNvSpPr>
            <a:spLocks noGrp="1"/>
          </p:cNvSpPr>
          <p:nvPr>
            <p:ph type="body" idx="1"/>
          </p:nvPr>
        </p:nvSpPr>
        <p:spPr/>
        <p:txBody>
          <a:bodyPr/>
          <a:lstStyle/>
          <a:p>
            <a:r>
              <a:rPr lang="en" altLang="zh-CN" dirty="0"/>
              <a:t>This project is a 3-DOF Delta robot that I built as a mechanical capstone. The objective was to take a kinematics-driven concept and push it all the way to a working physical prototype.</a:t>
            </a:r>
          </a:p>
          <a:p>
            <a:br>
              <a:rPr lang="en" altLang="zh-CN" dirty="0"/>
            </a:br>
            <a:endParaRPr lang="en" altLang="zh-CN" dirty="0"/>
          </a:p>
          <a:p>
            <a:r>
              <a:rPr lang="en" altLang="zh-CN" dirty="0"/>
              <a:t>My role covered the full mechanical pipeline: I did the SolidWorks CAD modeling, planned the design and selected parts early, and then went through multiple rounds of 3D printing and assembly. On the implementation side, I didn’t stop at the mechanism level—I also designed the detailed parts and interfaces, and I tried to consider manufacturing and assembly constraints upfront rather than fixing everything at the end.</a:t>
            </a:r>
          </a:p>
          <a:p>
            <a:br>
              <a:rPr lang="en" altLang="zh-CN" dirty="0"/>
            </a:br>
            <a:endParaRPr lang="en" altLang="zh-CN" dirty="0"/>
          </a:p>
          <a:p>
            <a:r>
              <a:rPr lang="en" altLang="zh-CN" dirty="0"/>
              <a:t>Validation was very prototype-driven. The main issues were tolerances, interference between moving links, and overall robustness. Each time we assembled the prototype, the feedback immediately translated into geometry and interface changes—clearance, joint design, mounting, and alignment—so the design converged through iteration.</a:t>
            </a:r>
          </a:p>
          <a:p>
            <a:br>
              <a:rPr lang="en" altLang="zh-CN" dirty="0"/>
            </a:br>
            <a:endParaRPr lang="en" altLang="zh-CN" dirty="0"/>
          </a:p>
          <a:p>
            <a:r>
              <a:rPr lang="en" altLang="zh-CN" dirty="0"/>
              <a:t>The takeaway is that I’m comfortable turning kinematics-based ideas into manufacturable hardware by iterating through real build-and-test cycles.</a:t>
            </a:r>
          </a:p>
        </p:txBody>
      </p:sp>
      <p:sp>
        <p:nvSpPr>
          <p:cNvPr id="4" name="灯片编号占位符 3">
            <a:extLst>
              <a:ext uri="{FF2B5EF4-FFF2-40B4-BE49-F238E27FC236}">
                <a16:creationId xmlns:a16="http://schemas.microsoft.com/office/drawing/2014/main" id="{7FF3CB03-82F5-6509-9726-09CBB1FACFBA}"/>
              </a:ext>
            </a:extLst>
          </p:cNvPr>
          <p:cNvSpPr>
            <a:spLocks noGrp="1"/>
          </p:cNvSpPr>
          <p:nvPr>
            <p:ph type="sldNum" sz="quarter" idx="5"/>
          </p:nvPr>
        </p:nvSpPr>
        <p:spPr/>
        <p:txBody>
          <a:bodyPr/>
          <a:lstStyle/>
          <a:p>
            <a:fld id="{50F5E923-51F7-42BD-962F-269CF7F55DA1}" type="slidenum">
              <a:rPr lang="zh-CN" altLang="en-US" smtClean="0"/>
              <a:t>6</a:t>
            </a:fld>
            <a:endParaRPr lang="zh-CN" altLang="en-US"/>
          </a:p>
        </p:txBody>
      </p:sp>
    </p:spTree>
    <p:extLst>
      <p:ext uri="{BB962C8B-B14F-4D97-AF65-F5344CB8AC3E}">
        <p14:creationId xmlns:p14="http://schemas.microsoft.com/office/powerpoint/2010/main" val="22245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8A57-E86F-D416-0C01-2DA1030532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8323BD-1855-3F98-FBE2-8649D6242DE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8093AA0-C147-9157-354B-15C95CBEAAC9}"/>
              </a:ext>
            </a:extLst>
          </p:cNvPr>
          <p:cNvSpPr>
            <a:spLocks noGrp="1"/>
          </p:cNvSpPr>
          <p:nvPr>
            <p:ph type="body" idx="1"/>
          </p:nvPr>
        </p:nvSpPr>
        <p:spPr/>
        <p:txBody>
          <a:bodyPr/>
          <a:lstStyle/>
          <a:p>
            <a:r>
              <a:rPr lang="en" altLang="zh-CN" dirty="0"/>
              <a:t>This is my ongoing research project, and I’m leading the upstream workflow and pipeline development. The long-term objective is to build a reconstruction and modeling pipeline that stays clinically relevant—meaning the outputs are structured, evaluable, and compatible with real hospital workflows.</a:t>
            </a:r>
          </a:p>
          <a:p>
            <a:br>
              <a:rPr lang="en" altLang="zh-CN" dirty="0"/>
            </a:br>
            <a:endParaRPr lang="en" altLang="zh-CN" dirty="0"/>
          </a:p>
          <a:p>
            <a:r>
              <a:rPr lang="en" altLang="zh-CN" dirty="0"/>
              <a:t>The next phase is where it becomes more “clinically grounded”: incorporating hospital data and workflow constraints, adding anatomically consistent labeling so different segments are comparable, and defining evaluation metrics that align with navigation or decision-support use cases—so we’re not just optimizing for pretty reconstructions, but for robustness and usefulness.</a:t>
            </a:r>
          </a:p>
          <a:p>
            <a:endParaRPr lang="en" altLang="zh-CN" dirty="0"/>
          </a:p>
          <a:p>
            <a:r>
              <a:rPr lang="zh-CN" altLang="en-US" sz="1200" b="0" i="0" kern="1200" dirty="0">
                <a:solidFill>
                  <a:schemeClr val="tx1"/>
                </a:solidFill>
                <a:effectLst/>
                <a:latin typeface="+mn-lt"/>
                <a:ea typeface="+mn-ea"/>
                <a:cs typeface="+mn-cs"/>
              </a:rPr>
              <a:t>这部分我汇报的是一个可复现、可量化的冠脉分析闭环。流程从 </a:t>
            </a:r>
            <a:r>
              <a:rPr lang="en-US" altLang="zh-CN" sz="1200" b="0" i="0" kern="1200" dirty="0">
                <a:solidFill>
                  <a:schemeClr val="tx1"/>
                </a:solidFill>
                <a:effectLst/>
                <a:latin typeface="+mn-lt"/>
                <a:ea typeface="+mn-ea"/>
                <a:cs typeface="+mn-cs"/>
              </a:rPr>
              <a:t>CT </a:t>
            </a:r>
            <a:r>
              <a:rPr lang="zh-CN" altLang="en-US" sz="1200" b="0" i="0" kern="1200" dirty="0">
                <a:solidFill>
                  <a:schemeClr val="tx1"/>
                </a:solidFill>
                <a:effectLst/>
                <a:latin typeface="+mn-lt"/>
                <a:ea typeface="+mn-ea"/>
                <a:cs typeface="+mn-cs"/>
              </a:rPr>
              <a:t>出发，经过分割、中心线提取、修复、特征提取，到最后重建与对比。今天重点不是单一算法，而是每一步都有指标、可以持续迭代。</a:t>
            </a:r>
            <a:br>
              <a:rPr lang="en" altLang="zh-CN" dirty="0"/>
            </a:br>
            <a:endParaRPr lang="en" altLang="zh-CN" dirty="0"/>
          </a:p>
        </p:txBody>
      </p:sp>
      <p:sp>
        <p:nvSpPr>
          <p:cNvPr id="4" name="灯片编号占位符 3">
            <a:extLst>
              <a:ext uri="{FF2B5EF4-FFF2-40B4-BE49-F238E27FC236}">
                <a16:creationId xmlns:a16="http://schemas.microsoft.com/office/drawing/2014/main" id="{A2490100-1D0E-6088-2D60-9A71AAB4DEFE}"/>
              </a:ext>
            </a:extLst>
          </p:cNvPr>
          <p:cNvSpPr>
            <a:spLocks noGrp="1"/>
          </p:cNvSpPr>
          <p:nvPr>
            <p:ph type="sldNum" sz="quarter" idx="5"/>
          </p:nvPr>
        </p:nvSpPr>
        <p:spPr/>
        <p:txBody>
          <a:bodyPr/>
          <a:lstStyle/>
          <a:p>
            <a:fld id="{50F5E923-51F7-42BD-962F-269CF7F55DA1}" type="slidenum">
              <a:rPr lang="zh-CN" altLang="en-US" smtClean="0"/>
              <a:t>7</a:t>
            </a:fld>
            <a:endParaRPr lang="zh-CN" altLang="en-US"/>
          </a:p>
        </p:txBody>
      </p:sp>
    </p:spTree>
    <p:extLst>
      <p:ext uri="{BB962C8B-B14F-4D97-AF65-F5344CB8AC3E}">
        <p14:creationId xmlns:p14="http://schemas.microsoft.com/office/powerpoint/2010/main" val="291234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F1E2D-8F99-5F86-8058-77138DD22F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804BD2-CBB5-12F5-453A-D6C7D349DC1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7D6CECE-9D19-040E-CF29-A74F611035B0}"/>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这页展示了五步流程和数据流向。输入是 </a:t>
            </a:r>
            <a:r>
              <a:rPr lang="en-US" altLang="zh-CN" sz="1200" b="0" i="0" kern="1200" dirty="0">
                <a:solidFill>
                  <a:schemeClr val="tx1"/>
                </a:solidFill>
                <a:effectLst/>
                <a:latin typeface="+mn-lt"/>
                <a:ea typeface="+mn-ea"/>
                <a:cs typeface="+mn-cs"/>
              </a:rPr>
              <a:t>CT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，输出是每一步的中间结果与指标文件。这样做的好处是，任何一步出问题都能快速定位，不会出现‘结果不好但不知道错在哪’。”</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我目前的项目，是</a:t>
            </a:r>
            <a:r>
              <a:rPr lang="en-US" altLang="zh-CN" dirty="0"/>
              <a:t>3</a:t>
            </a:r>
            <a:r>
              <a:rPr lang="zh-CN" altLang="en-US" dirty="0"/>
              <a:t>维与</a:t>
            </a:r>
            <a:r>
              <a:rPr lang="en-US" altLang="zh-CN" dirty="0"/>
              <a:t>2</a:t>
            </a:r>
            <a:r>
              <a:rPr lang="zh-CN" altLang="en-US" dirty="0"/>
              <a:t>维</a:t>
            </a:r>
            <a:r>
              <a:rPr lang="en-US" altLang="zh-CN" dirty="0"/>
              <a:t>DSA</a:t>
            </a:r>
            <a:r>
              <a:rPr lang="zh-CN" altLang="en-US" dirty="0"/>
              <a:t>的匹配，所以跟注重中心线的准确性，强调血管的物理约束以及形变，目前呢，分割这块内容大致是这样的。</a:t>
            </a:r>
            <a:br>
              <a:rPr lang="zh-CN" altLang="en-US" dirty="0"/>
            </a:br>
            <a:r>
              <a:rPr lang="zh-CN" altLang="en-US" dirty="0"/>
              <a:t>这五步分别是</a:t>
            </a:r>
            <a:br>
              <a:rPr lang="en-US" altLang="zh-CN" dirty="0"/>
            </a:br>
            <a:r>
              <a:rPr lang="en-US" altLang="zh-CN" dirty="0"/>
              <a:t>1. CT -&gt; mask</a:t>
            </a:r>
            <a:br>
              <a:rPr lang="en-US" altLang="zh-CN" dirty="0"/>
            </a:br>
            <a:r>
              <a:rPr lang="en-US" altLang="zh-CN" dirty="0"/>
              <a:t>2. mask -&gt; Polyline</a:t>
            </a:r>
            <a:br>
              <a:rPr lang="en-US" altLang="zh-CN" dirty="0"/>
            </a:br>
            <a:r>
              <a:rPr lang="en-US" altLang="zh-CN" dirty="0"/>
              <a:t>3. repairment</a:t>
            </a:r>
            <a:br>
              <a:rPr lang="en-US" altLang="zh-CN" dirty="0"/>
            </a:br>
            <a:r>
              <a:rPr lang="en-US" altLang="zh-CN" dirty="0"/>
              <a:t>4. feature extraction</a:t>
            </a:r>
            <a:br>
              <a:rPr lang="en-US" altLang="zh-CN" dirty="0"/>
            </a:br>
            <a:r>
              <a:rPr lang="en-US" altLang="zh-CN" dirty="0"/>
              <a:t>5. reconstruction</a:t>
            </a:r>
          </a:p>
          <a:p>
            <a:r>
              <a:rPr lang="zh-CN" altLang="en-US" dirty="0"/>
              <a:t>第四步主要是继承了我学长在肌肉重建方面的工作，主要目的是降维加速计算，提高算法的实时性潜力。</a:t>
            </a:r>
            <a:br>
              <a:rPr lang="en-US" altLang="zh-CN" dirty="0"/>
            </a:br>
            <a:br>
              <a:rPr lang="en-US" altLang="zh-CN" dirty="0"/>
            </a:br>
            <a:r>
              <a:rPr lang="zh-CN" altLang="en-US" dirty="0"/>
              <a:t>至于量化指标呢</a:t>
            </a:r>
            <a:br>
              <a:rPr lang="en-US" altLang="zh-CN" dirty="0"/>
            </a:b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用 </a:t>
            </a:r>
            <a:r>
              <a:rPr lang="en-US" altLang="zh-CN" sz="1200" b="0" i="0" kern="1200" dirty="0">
                <a:solidFill>
                  <a:schemeClr val="tx1"/>
                </a:solidFill>
                <a:effectLst/>
                <a:latin typeface="+mn-lt"/>
                <a:ea typeface="+mn-ea"/>
                <a:cs typeface="+mn-cs"/>
              </a:rPr>
              <a:t>Dice/ASD/HD95 </a:t>
            </a:r>
            <a:r>
              <a:rPr lang="zh-CN" altLang="en-US" sz="1200" b="0" i="0" kern="1200" dirty="0">
                <a:solidFill>
                  <a:schemeClr val="tx1"/>
                </a:solidFill>
                <a:effectLst/>
                <a:latin typeface="+mn-lt"/>
                <a:ea typeface="+mn-ea"/>
                <a:cs typeface="+mn-cs"/>
              </a:rPr>
              <a:t>看分割质量；</a:t>
            </a:r>
            <a:r>
              <a:rPr lang="en-US" altLang="zh-CN" sz="1200" b="0" i="0" kern="1200" dirty="0">
                <a:solidFill>
                  <a:schemeClr val="tx1"/>
                </a:solidFill>
                <a:effectLst/>
                <a:latin typeface="+mn-lt"/>
                <a:ea typeface="+mn-ea"/>
                <a:cs typeface="+mn-cs"/>
              </a:rPr>
              <a:t>Step2/3 </a:t>
            </a:r>
            <a:r>
              <a:rPr lang="zh-CN" altLang="en-US" sz="1200" b="0" i="0" kern="1200" dirty="0">
                <a:solidFill>
                  <a:schemeClr val="tx1"/>
                </a:solidFill>
                <a:effectLst/>
                <a:latin typeface="+mn-lt"/>
                <a:ea typeface="+mn-ea"/>
                <a:cs typeface="+mn-cs"/>
              </a:rPr>
              <a:t>用中心线点到点距离和覆盖率；</a:t>
            </a:r>
            <a:r>
              <a:rPr lang="en-US" altLang="zh-CN" sz="1200" b="0" i="0" kern="1200" dirty="0">
                <a:solidFill>
                  <a:schemeClr val="tx1"/>
                </a:solidFill>
                <a:effectLst/>
                <a:latin typeface="+mn-lt"/>
                <a:ea typeface="+mn-ea"/>
                <a:cs typeface="+mn-cs"/>
              </a:rPr>
              <a:t>Step4 </a:t>
            </a:r>
            <a:r>
              <a:rPr lang="zh-CN" altLang="en-US" sz="1200" b="0" i="0" kern="1200" dirty="0">
                <a:solidFill>
                  <a:schemeClr val="tx1"/>
                </a:solidFill>
                <a:effectLst/>
                <a:latin typeface="+mn-lt"/>
                <a:ea typeface="+mn-ea"/>
                <a:cs typeface="+mn-cs"/>
              </a:rPr>
              <a:t>用分支数量差和特征向量相似度；</a:t>
            </a:r>
            <a:r>
              <a:rPr lang="en-US" altLang="zh-CN" sz="1200" b="0" i="0" kern="1200" dirty="0">
                <a:solidFill>
                  <a:schemeClr val="tx1"/>
                </a:solidFill>
                <a:effectLst/>
                <a:latin typeface="+mn-lt"/>
                <a:ea typeface="+mn-ea"/>
                <a:cs typeface="+mn-cs"/>
              </a:rPr>
              <a:t>Step5 </a:t>
            </a:r>
            <a:r>
              <a:rPr lang="zh-CN" altLang="en-US" sz="1200" b="0" i="0" kern="1200" dirty="0">
                <a:solidFill>
                  <a:schemeClr val="tx1"/>
                </a:solidFill>
                <a:effectLst/>
                <a:latin typeface="+mn-lt"/>
                <a:ea typeface="+mn-ea"/>
                <a:cs typeface="+mn-cs"/>
              </a:rPr>
              <a:t>用重建结果到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的距离分布。核心原则是：距离类越小越好，覆盖率</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相似度越大越好。”</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过渡句：“有了指标后，看跨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的总结果。”</a:t>
            </a:r>
            <a:endParaRPr lang="en-US" altLang="zh-CN" dirty="0"/>
          </a:p>
          <a:p>
            <a:endParaRPr lang="en" altLang="zh-CN" dirty="0"/>
          </a:p>
        </p:txBody>
      </p:sp>
      <p:sp>
        <p:nvSpPr>
          <p:cNvPr id="4" name="灯片编号占位符 3">
            <a:extLst>
              <a:ext uri="{FF2B5EF4-FFF2-40B4-BE49-F238E27FC236}">
                <a16:creationId xmlns:a16="http://schemas.microsoft.com/office/drawing/2014/main" id="{E021C6C9-3A3B-93F5-E3E5-D4B822B748E7}"/>
              </a:ext>
            </a:extLst>
          </p:cNvPr>
          <p:cNvSpPr>
            <a:spLocks noGrp="1"/>
          </p:cNvSpPr>
          <p:nvPr>
            <p:ph type="sldNum" sz="quarter" idx="5"/>
          </p:nvPr>
        </p:nvSpPr>
        <p:spPr/>
        <p:txBody>
          <a:bodyPr/>
          <a:lstStyle/>
          <a:p>
            <a:fld id="{50F5E923-51F7-42BD-962F-269CF7F55DA1}" type="slidenum">
              <a:rPr lang="zh-CN" altLang="en-US" smtClean="0"/>
              <a:t>8</a:t>
            </a:fld>
            <a:endParaRPr lang="zh-CN" altLang="en-US"/>
          </a:p>
        </p:txBody>
      </p:sp>
    </p:spTree>
    <p:extLst>
      <p:ext uri="{BB962C8B-B14F-4D97-AF65-F5344CB8AC3E}">
        <p14:creationId xmlns:p14="http://schemas.microsoft.com/office/powerpoint/2010/main" val="1702375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3AEE4-C02C-A4C1-8038-48BCD0B763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4BA300-C033-EF0B-583E-A82DB6EC5FD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3CF6523-57EB-A349-D9D5-994A1AE6661E}"/>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Dice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HD95 </a:t>
            </a:r>
            <a:r>
              <a:rPr lang="zh-CN" altLang="en-US" sz="1200" b="0" i="0" kern="1200" dirty="0">
                <a:solidFill>
                  <a:schemeClr val="tx1"/>
                </a:solidFill>
                <a:effectLst/>
                <a:latin typeface="+mn-lt"/>
                <a:ea typeface="+mn-ea"/>
                <a:cs typeface="+mn-cs"/>
              </a:rPr>
              <a:t>都比较理想，说明预测 </a:t>
            </a:r>
            <a:r>
              <a:rPr lang="en-US" altLang="zh-CN" sz="1200" b="0" i="0" kern="1200" dirty="0">
                <a:solidFill>
                  <a:schemeClr val="tx1"/>
                </a:solidFill>
                <a:effectLst/>
                <a:latin typeface="+mn-lt"/>
                <a:ea typeface="+mn-ea"/>
                <a:cs typeface="+mn-cs"/>
              </a:rPr>
              <a:t>mask </a:t>
            </a:r>
            <a:r>
              <a:rPr lang="zh-CN" altLang="en-US" sz="1200" b="0" i="0" kern="1200" dirty="0">
                <a:solidFill>
                  <a:schemeClr val="tx1"/>
                </a:solidFill>
                <a:effectLst/>
                <a:latin typeface="+mn-lt"/>
                <a:ea typeface="+mn-ea"/>
                <a:cs typeface="+mn-cs"/>
              </a:rPr>
              <a:t>与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对齐度高。这个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适合验证下游算法本身，而不是被上游噪声主导。”</a:t>
            </a:r>
            <a:br>
              <a:rPr lang="zh-CN" altLang="en-US" dirty="0"/>
            </a:br>
            <a:r>
              <a:rPr lang="zh-CN" altLang="en-US" sz="1200" b="0" i="0" kern="1200" dirty="0">
                <a:solidFill>
                  <a:schemeClr val="tx1"/>
                </a:solidFill>
                <a:effectLst/>
                <a:latin typeface="+mn-lt"/>
                <a:ea typeface="+mn-ea"/>
                <a:cs typeface="+mn-cs"/>
              </a:rPr>
              <a:t>过渡句：“再看困难样例，理解失败模式。”</a:t>
            </a:r>
            <a:endParaRPr lang="en" altLang="zh-CN" dirty="0"/>
          </a:p>
        </p:txBody>
      </p:sp>
      <p:sp>
        <p:nvSpPr>
          <p:cNvPr id="4" name="灯片编号占位符 3">
            <a:extLst>
              <a:ext uri="{FF2B5EF4-FFF2-40B4-BE49-F238E27FC236}">
                <a16:creationId xmlns:a16="http://schemas.microsoft.com/office/drawing/2014/main" id="{4159DEBC-398C-4C22-24CE-89BE668D1074}"/>
              </a:ext>
            </a:extLst>
          </p:cNvPr>
          <p:cNvSpPr>
            <a:spLocks noGrp="1"/>
          </p:cNvSpPr>
          <p:nvPr>
            <p:ph type="sldNum" sz="quarter" idx="5"/>
          </p:nvPr>
        </p:nvSpPr>
        <p:spPr/>
        <p:txBody>
          <a:bodyPr/>
          <a:lstStyle/>
          <a:p>
            <a:fld id="{50F5E923-51F7-42BD-962F-269CF7F55DA1}" type="slidenum">
              <a:rPr lang="zh-CN" altLang="en-US" smtClean="0"/>
              <a:t>9</a:t>
            </a:fld>
            <a:endParaRPr lang="zh-CN" altLang="en-US"/>
          </a:p>
        </p:txBody>
      </p:sp>
    </p:spTree>
    <p:extLst>
      <p:ext uri="{BB962C8B-B14F-4D97-AF65-F5344CB8AC3E}">
        <p14:creationId xmlns:p14="http://schemas.microsoft.com/office/powerpoint/2010/main" val="3483415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FFE24-5681-3A01-BE31-72E7BC8B91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A5C3FE-7C53-FC7B-80A8-BADB5DA6597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9407CFC-4F0C-F7F2-7CB7-7AEE11867261}"/>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HD95 </a:t>
            </a:r>
            <a:r>
              <a:rPr lang="zh-CN" altLang="en-US" sz="1200" b="0" i="0" kern="1200" dirty="0">
                <a:solidFill>
                  <a:schemeClr val="tx1"/>
                </a:solidFill>
                <a:effectLst/>
                <a:latin typeface="+mn-lt"/>
                <a:ea typeface="+mn-ea"/>
                <a:cs typeface="+mn-cs"/>
              </a:rPr>
              <a:t>明显偏大，说明局部边界有较大误差。这个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提醒我们：上游分割稳定性是全流程上限，不先解决 </a:t>
            </a:r>
            <a:r>
              <a:rPr lang="en-US" altLang="zh-CN" sz="1200" b="0" i="0" kern="1200" dirty="0">
                <a:solidFill>
                  <a:schemeClr val="tx1"/>
                </a:solidFill>
                <a:effectLst/>
                <a:latin typeface="+mn-lt"/>
                <a:ea typeface="+mn-ea"/>
                <a:cs typeface="+mn-cs"/>
              </a:rPr>
              <a:t>Step1</a:t>
            </a:r>
            <a:r>
              <a:rPr lang="zh-CN" altLang="en-US" sz="1200" b="0" i="0" kern="1200" dirty="0">
                <a:solidFill>
                  <a:schemeClr val="tx1"/>
                </a:solidFill>
                <a:effectLst/>
                <a:latin typeface="+mn-lt"/>
                <a:ea typeface="+mn-ea"/>
                <a:cs typeface="+mn-cs"/>
              </a:rPr>
              <a:t>，后面优化收益会打折。</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对于</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在实验了多个样例后，我主要发现的问题是，</a:t>
            </a:r>
            <a:endParaRPr lang="en-US" altLang="zh-CN" sz="1200" b="0" i="0" kern="1200" dirty="0">
              <a:solidFill>
                <a:schemeClr val="tx1"/>
              </a:solidFill>
              <a:effectLst/>
              <a:latin typeface="+mn-lt"/>
              <a:ea typeface="+mn-ea"/>
              <a:cs typeface="+mn-cs"/>
            </a:endParaRPr>
          </a:p>
          <a:p>
            <a:pPr marL="228600" indent="-228600">
              <a:buAutoNum type="arabicPeriod"/>
            </a:pPr>
            <a:r>
              <a:rPr lang="zh-CN" altLang="en-US" sz="1200" b="0" i="0" kern="1200" dirty="0">
                <a:solidFill>
                  <a:schemeClr val="tx1"/>
                </a:solidFill>
                <a:effectLst/>
                <a:latin typeface="+mn-lt"/>
                <a:ea typeface="+mn-ea"/>
                <a:cs typeface="+mn-cs"/>
              </a:rPr>
              <a:t>部分血管，</a:t>
            </a:r>
            <a:r>
              <a:rPr lang="en-US" altLang="zh-CN" sz="1200" b="0" i="0" kern="1200" dirty="0" err="1">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没有标注，但被分割出来了</a:t>
            </a:r>
            <a:endParaRPr lang="en-US" altLang="zh-CN" sz="1200" b="0" i="0" kern="1200" dirty="0">
              <a:solidFill>
                <a:schemeClr val="tx1"/>
              </a:solidFill>
              <a:effectLst/>
              <a:latin typeface="+mn-lt"/>
              <a:ea typeface="+mn-ea"/>
              <a:cs typeface="+mn-cs"/>
            </a:endParaRPr>
          </a:p>
          <a:p>
            <a:pPr marL="228600" indent="-228600">
              <a:buAutoNum type="arabicPeriod"/>
            </a:pPr>
            <a:r>
              <a:rPr lang="zh-CN" altLang="en-US" sz="1200" b="0" i="0" kern="1200" dirty="0">
                <a:solidFill>
                  <a:schemeClr val="tx1"/>
                </a:solidFill>
                <a:effectLst/>
                <a:latin typeface="+mn-lt"/>
                <a:ea typeface="+mn-ea"/>
                <a:cs typeface="+mn-cs"/>
              </a:rPr>
              <a:t>部分血管，</a:t>
            </a:r>
            <a:r>
              <a:rPr lang="en-US" altLang="zh-CN" sz="1200" b="0" i="0" kern="1200" dirty="0" err="1">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标注出来了，但没分割出来</a:t>
            </a:r>
            <a:endParaRPr lang="en-US" altLang="zh-CN" sz="1200" b="0" i="0" kern="1200" dirty="0">
              <a:solidFill>
                <a:schemeClr val="tx1"/>
              </a:solidFill>
              <a:effectLst/>
              <a:latin typeface="+mn-lt"/>
              <a:ea typeface="+mn-ea"/>
              <a:cs typeface="+mn-cs"/>
            </a:endParaRPr>
          </a:p>
          <a:p>
            <a:pPr marL="228600" indent="-228600">
              <a:buAutoNum type="arabicPeriod"/>
            </a:pP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之前我手搓了一个算法，但效果表现一般。目前这一版目前采用的分割方法是调用了</a:t>
            </a:r>
            <a:r>
              <a:rPr lang="en-US" altLang="zh-CN" sz="1200" b="0" i="0" kern="1200" dirty="0" err="1">
                <a:solidFill>
                  <a:schemeClr val="tx1"/>
                </a:solidFill>
                <a:effectLst/>
                <a:latin typeface="+mn-lt"/>
                <a:ea typeface="+mn-ea"/>
                <a:cs typeface="+mn-cs"/>
              </a:rPr>
              <a:t>Totalsegmentation</a:t>
            </a:r>
            <a:r>
              <a:rPr lang="zh-CN" altLang="en-US" sz="1200" b="0" i="0" kern="1200" dirty="0">
                <a:solidFill>
                  <a:schemeClr val="tx1"/>
                </a:solidFill>
                <a:effectLst/>
                <a:latin typeface="+mn-lt"/>
                <a:ea typeface="+mn-ea"/>
                <a:cs typeface="+mn-cs"/>
              </a:rPr>
              <a:t>的。后期需要视情况，决定是基于</a:t>
            </a:r>
            <a:r>
              <a:rPr lang="en-US" altLang="zh-CN" sz="1200" b="0" i="0" kern="1200" dirty="0">
                <a:solidFill>
                  <a:schemeClr val="tx1"/>
                </a:solidFill>
                <a:effectLst/>
                <a:latin typeface="+mn-lt"/>
                <a:ea typeface="+mn-ea"/>
                <a:cs typeface="+mn-cs"/>
              </a:rPr>
              <a:t>Total segmentation</a:t>
            </a:r>
            <a:r>
              <a:rPr lang="zh-CN" altLang="en-US" sz="1200" b="0" i="0" kern="1200" dirty="0">
                <a:solidFill>
                  <a:schemeClr val="tx1"/>
                </a:solidFill>
                <a:effectLst/>
                <a:latin typeface="+mn-lt"/>
                <a:ea typeface="+mn-ea"/>
                <a:cs typeface="+mn-cs"/>
              </a:rPr>
              <a:t>微调，还是直接写个新的。”</a:t>
            </a:r>
            <a:br>
              <a:rPr lang="zh-CN" altLang="en-US" dirty="0"/>
            </a:br>
            <a:r>
              <a:rPr lang="zh-CN" altLang="en-US" sz="1200" b="0" i="0" kern="1200" dirty="0">
                <a:solidFill>
                  <a:schemeClr val="tx1"/>
                </a:solidFill>
                <a:effectLst/>
                <a:latin typeface="+mn-lt"/>
                <a:ea typeface="+mn-ea"/>
                <a:cs typeface="+mn-cs"/>
              </a:rPr>
              <a:t>过渡句：“在这个背景下看 </a:t>
            </a:r>
            <a:r>
              <a:rPr lang="en-US" altLang="zh-CN" sz="1200" b="0" i="0" kern="1200" dirty="0">
                <a:solidFill>
                  <a:schemeClr val="tx1"/>
                </a:solidFill>
                <a:effectLst/>
                <a:latin typeface="+mn-lt"/>
                <a:ea typeface="+mn-ea"/>
                <a:cs typeface="+mn-cs"/>
              </a:rPr>
              <a:t>Step2/3 </a:t>
            </a:r>
            <a:r>
              <a:rPr lang="zh-CN" altLang="en-US" sz="1200" b="0" i="0" kern="1200" dirty="0">
                <a:solidFill>
                  <a:schemeClr val="tx1"/>
                </a:solidFill>
                <a:effectLst/>
                <a:latin typeface="+mn-lt"/>
                <a:ea typeface="+mn-ea"/>
                <a:cs typeface="+mn-cs"/>
              </a:rPr>
              <a:t>的中心线表现。”</a:t>
            </a:r>
            <a:endParaRPr lang="en" altLang="zh-CN" dirty="0"/>
          </a:p>
        </p:txBody>
      </p:sp>
      <p:sp>
        <p:nvSpPr>
          <p:cNvPr id="4" name="灯片编号占位符 3">
            <a:extLst>
              <a:ext uri="{FF2B5EF4-FFF2-40B4-BE49-F238E27FC236}">
                <a16:creationId xmlns:a16="http://schemas.microsoft.com/office/drawing/2014/main" id="{BF882034-73F5-F7D5-D4E4-3461A6EFA296}"/>
              </a:ext>
            </a:extLst>
          </p:cNvPr>
          <p:cNvSpPr>
            <a:spLocks noGrp="1"/>
          </p:cNvSpPr>
          <p:nvPr>
            <p:ph type="sldNum" sz="quarter" idx="5"/>
          </p:nvPr>
        </p:nvSpPr>
        <p:spPr/>
        <p:txBody>
          <a:bodyPr/>
          <a:lstStyle/>
          <a:p>
            <a:fld id="{50F5E923-51F7-42BD-962F-269CF7F55DA1}" type="slidenum">
              <a:rPr lang="zh-CN" altLang="en-US" smtClean="0"/>
              <a:t>10</a:t>
            </a:fld>
            <a:endParaRPr lang="zh-CN" altLang="en-US"/>
          </a:p>
        </p:txBody>
      </p:sp>
    </p:spTree>
    <p:extLst>
      <p:ext uri="{BB962C8B-B14F-4D97-AF65-F5344CB8AC3E}">
        <p14:creationId xmlns:p14="http://schemas.microsoft.com/office/powerpoint/2010/main" val="3779654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C28C5-2D37-96FC-0C02-98977E4DC9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37607-A9F7-F3BF-47EF-5FC77014A74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4BE4D27-2930-3FB0-09F6-B4B1ADBCC93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“这页对比了中心线修复后的空间表现。核心看两点：一是是否连续且符合血管走形，二是与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的偏差是否下降。当前结果说明 </a:t>
            </a:r>
            <a:r>
              <a:rPr lang="en-US" altLang="zh-CN" sz="1200" b="0" i="0" kern="1200" dirty="0">
                <a:solidFill>
                  <a:schemeClr val="tx1"/>
                </a:solidFill>
                <a:effectLst/>
                <a:latin typeface="+mn-lt"/>
                <a:ea typeface="+mn-ea"/>
                <a:cs typeface="+mn-cs"/>
              </a:rPr>
              <a:t>repair </a:t>
            </a:r>
            <a:r>
              <a:rPr lang="zh-CN" altLang="en-US" sz="1200" b="0" i="0" kern="1200" dirty="0">
                <a:solidFill>
                  <a:schemeClr val="tx1"/>
                </a:solidFill>
                <a:effectLst/>
                <a:latin typeface="+mn-lt"/>
                <a:ea typeface="+mn-ea"/>
                <a:cs typeface="+mn-cs"/>
              </a:rPr>
              <a:t>对尾部误差和局部断裂有改善。”</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过渡句：“这里有一个关键工程问题我专门修复过。”</a:t>
            </a:r>
          </a:p>
        </p:txBody>
      </p:sp>
      <p:sp>
        <p:nvSpPr>
          <p:cNvPr id="4" name="灯片编号占位符 3">
            <a:extLst>
              <a:ext uri="{FF2B5EF4-FFF2-40B4-BE49-F238E27FC236}">
                <a16:creationId xmlns:a16="http://schemas.microsoft.com/office/drawing/2014/main" id="{C8922E69-1500-30F1-7379-2EF52252A61D}"/>
              </a:ext>
            </a:extLst>
          </p:cNvPr>
          <p:cNvSpPr>
            <a:spLocks noGrp="1"/>
          </p:cNvSpPr>
          <p:nvPr>
            <p:ph type="sldNum" sz="quarter" idx="5"/>
          </p:nvPr>
        </p:nvSpPr>
        <p:spPr/>
        <p:txBody>
          <a:bodyPr/>
          <a:lstStyle/>
          <a:p>
            <a:fld id="{50F5E923-51F7-42BD-962F-269CF7F55DA1}" type="slidenum">
              <a:rPr lang="zh-CN" altLang="en-US" smtClean="0"/>
              <a:t>11</a:t>
            </a:fld>
            <a:endParaRPr lang="zh-CN" altLang="en-US"/>
          </a:p>
        </p:txBody>
      </p:sp>
    </p:spTree>
    <p:extLst>
      <p:ext uri="{BB962C8B-B14F-4D97-AF65-F5344CB8AC3E}">
        <p14:creationId xmlns:p14="http://schemas.microsoft.com/office/powerpoint/2010/main" val="2617760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2C4F-AB46-28E2-7C38-7EBB6ABB27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3C2447-C891-7999-094D-3335C82FD5D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AC8221A-B1E3-D436-79E3-681975C4F1D8}"/>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修复原理是基于血管的物理约束和走形。我调研了血管的物理约束（包括空间曲率的问题），以及血管走形来修复。至于为什么要用血管走形呢？我的想法是因为血管是管状结构，其中心线有很好的指向性，利用这一点，可以把断裂的中心线，按照血管物理约束进行连接。从而达到修复效果。</a:t>
            </a:r>
            <a:endParaRPr lang="en-US" altLang="zh-CN" sz="1200" b="0" i="0" kern="1200" dirty="0">
              <a:solidFill>
                <a:schemeClr val="tx1"/>
              </a:solidFill>
              <a:effectLst/>
              <a:latin typeface="+mn-lt"/>
              <a:ea typeface="+mn-ea"/>
              <a:cs typeface="+mn-cs"/>
            </a:endParaRPr>
          </a:p>
          <a:p>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“之前的 </a:t>
            </a:r>
            <a:r>
              <a:rPr lang="en-US" altLang="zh-CN" sz="1200" b="0" i="0" kern="1200" dirty="0">
                <a:solidFill>
                  <a:schemeClr val="tx1"/>
                </a:solidFill>
                <a:effectLst/>
                <a:latin typeface="+mn-lt"/>
                <a:ea typeface="+mn-ea"/>
                <a:cs typeface="+mn-cs"/>
              </a:rPr>
              <a:t>repaired </a:t>
            </a:r>
            <a:r>
              <a:rPr lang="zh-CN" altLang="en-US" sz="1200" b="0" i="0" kern="1200" dirty="0">
                <a:solidFill>
                  <a:schemeClr val="tx1"/>
                </a:solidFill>
                <a:effectLst/>
                <a:latin typeface="+mn-lt"/>
                <a:ea typeface="+mn-ea"/>
                <a:cs typeface="+mn-cs"/>
              </a:rPr>
              <a:t>线看起来连着，但拓扑上是碎的。根因是写 </a:t>
            </a:r>
            <a:r>
              <a:rPr lang="en-US" altLang="zh-CN" sz="1200" b="0" i="0" kern="1200" dirty="0">
                <a:solidFill>
                  <a:schemeClr val="tx1"/>
                </a:solidFill>
                <a:effectLst/>
                <a:latin typeface="+mn-lt"/>
                <a:ea typeface="+mn-ea"/>
                <a:cs typeface="+mn-cs"/>
              </a:rPr>
              <a:t>VTP </a:t>
            </a:r>
            <a:r>
              <a:rPr lang="zh-CN" altLang="en-US" sz="1200" b="0" i="0" kern="1200" dirty="0">
                <a:solidFill>
                  <a:schemeClr val="tx1"/>
                </a:solidFill>
                <a:effectLst/>
                <a:latin typeface="+mn-lt"/>
                <a:ea typeface="+mn-ea"/>
                <a:cs typeface="+mn-cs"/>
              </a:rPr>
              <a:t>时端点没有共享 </a:t>
            </a:r>
            <a:r>
              <a:rPr lang="en-US" altLang="zh-CN" sz="1200" b="0" i="0" kern="1200" dirty="0">
                <a:solidFill>
                  <a:schemeClr val="tx1"/>
                </a:solidFill>
                <a:effectLst/>
                <a:latin typeface="+mn-lt"/>
                <a:ea typeface="+mn-ea"/>
                <a:cs typeface="+mn-cs"/>
              </a:rPr>
              <a:t>point ID</a:t>
            </a:r>
            <a:r>
              <a:rPr lang="zh-CN" altLang="en-US" sz="1200" b="0" i="0" kern="1200" dirty="0">
                <a:solidFill>
                  <a:schemeClr val="tx1"/>
                </a:solidFill>
                <a:effectLst/>
                <a:latin typeface="+mn-lt"/>
                <a:ea typeface="+mn-ea"/>
                <a:cs typeface="+mn-cs"/>
              </a:rPr>
              <a:t>。修复后引入端点合并和拓扑监控，结果从大量离散组件收敛到符合解剖的连通结构。这说明我做的是‘结构层面修复’，不是只调参数。”</a:t>
            </a:r>
            <a:br>
              <a:rPr lang="zh-CN" altLang="en-US" dirty="0"/>
            </a:br>
            <a:r>
              <a:rPr lang="zh-CN" altLang="en-US" sz="1200" b="0" i="0" kern="1200" dirty="0">
                <a:solidFill>
                  <a:schemeClr val="tx1"/>
                </a:solidFill>
                <a:effectLst/>
                <a:latin typeface="+mn-lt"/>
                <a:ea typeface="+mn-ea"/>
                <a:cs typeface="+mn-cs"/>
              </a:rPr>
              <a:t>过渡句：“修好拓扑后，再看跨</a:t>
            </a:r>
            <a:r>
              <a:rPr lang="en-US" altLang="zh-CN" sz="1200" b="0" i="0" kern="1200" dirty="0">
                <a:solidFill>
                  <a:schemeClr val="tx1"/>
                </a:solidFill>
                <a:effectLst/>
                <a:latin typeface="+mn-lt"/>
                <a:ea typeface="+mn-ea"/>
                <a:cs typeface="+mn-cs"/>
              </a:rPr>
              <a:t>case</a:t>
            </a:r>
            <a:r>
              <a:rPr lang="zh-CN" altLang="en-US" sz="1200" b="0" i="0" kern="1200" dirty="0">
                <a:solidFill>
                  <a:schemeClr val="tx1"/>
                </a:solidFill>
                <a:effectLst/>
                <a:latin typeface="+mn-lt"/>
                <a:ea typeface="+mn-ea"/>
                <a:cs typeface="+mn-cs"/>
              </a:rPr>
              <a:t>层面的对比。”</a:t>
            </a:r>
            <a:endParaRPr lang="en" altLang="zh-CN" dirty="0"/>
          </a:p>
        </p:txBody>
      </p:sp>
      <p:sp>
        <p:nvSpPr>
          <p:cNvPr id="4" name="灯片编号占位符 3">
            <a:extLst>
              <a:ext uri="{FF2B5EF4-FFF2-40B4-BE49-F238E27FC236}">
                <a16:creationId xmlns:a16="http://schemas.microsoft.com/office/drawing/2014/main" id="{499484C6-ACD8-2773-82CB-A0DE9D7DDECD}"/>
              </a:ext>
            </a:extLst>
          </p:cNvPr>
          <p:cNvSpPr>
            <a:spLocks noGrp="1"/>
          </p:cNvSpPr>
          <p:nvPr>
            <p:ph type="sldNum" sz="quarter" idx="5"/>
          </p:nvPr>
        </p:nvSpPr>
        <p:spPr/>
        <p:txBody>
          <a:bodyPr/>
          <a:lstStyle/>
          <a:p>
            <a:fld id="{50F5E923-51F7-42BD-962F-269CF7F55DA1}" type="slidenum">
              <a:rPr lang="zh-CN" altLang="en-US" smtClean="0"/>
              <a:t>12</a:t>
            </a:fld>
            <a:endParaRPr lang="zh-CN" altLang="en-US"/>
          </a:p>
        </p:txBody>
      </p:sp>
    </p:spTree>
    <p:extLst>
      <p:ext uri="{BB962C8B-B14F-4D97-AF65-F5344CB8AC3E}">
        <p14:creationId xmlns:p14="http://schemas.microsoft.com/office/powerpoint/2010/main" val="449129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E275-312B-8CF5-CE13-44B3637500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C1F5ED-4ED2-399A-CF53-525CC376B70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791BFA5-D71C-29E8-37B8-B885D10BB8D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“这里是 </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的横向对比。</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Step3 p95 </a:t>
            </a:r>
            <a:r>
              <a:rPr lang="zh-CN" altLang="en-US" sz="1200" b="0" i="0" kern="1200" dirty="0">
                <a:solidFill>
                  <a:schemeClr val="tx1"/>
                </a:solidFill>
                <a:effectLst/>
                <a:latin typeface="+mn-lt"/>
                <a:ea typeface="+mn-ea"/>
                <a:cs typeface="+mn-cs"/>
              </a:rPr>
              <a:t>从 </a:t>
            </a:r>
            <a:r>
              <a:rPr lang="en-US" altLang="zh-CN" sz="1200" b="0" i="0" kern="1200" dirty="0">
                <a:solidFill>
                  <a:schemeClr val="tx1"/>
                </a:solidFill>
                <a:effectLst/>
                <a:latin typeface="+mn-lt"/>
                <a:ea typeface="+mn-ea"/>
                <a:cs typeface="+mn-cs"/>
              </a:rPr>
              <a:t>Step2 </a:t>
            </a:r>
            <a:r>
              <a:rPr lang="zh-CN" altLang="en-US" sz="1200" b="0" i="0" kern="1200" dirty="0">
                <a:solidFill>
                  <a:schemeClr val="tx1"/>
                </a:solidFill>
                <a:effectLst/>
                <a:latin typeface="+mn-lt"/>
                <a:ea typeface="+mn-ea"/>
                <a:cs typeface="+mn-cs"/>
              </a:rPr>
              <a:t>明显下降，说明修复有效；</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的主要瓶颈在 </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分割，导致后续受影响。这个表帮助我们决定优化优先级。”</a:t>
            </a:r>
            <a:endParaRPr lang="en" altLang="zh-CN" dirty="0"/>
          </a:p>
        </p:txBody>
      </p:sp>
      <p:sp>
        <p:nvSpPr>
          <p:cNvPr id="4" name="灯片编号占位符 3">
            <a:extLst>
              <a:ext uri="{FF2B5EF4-FFF2-40B4-BE49-F238E27FC236}">
                <a16:creationId xmlns:a16="http://schemas.microsoft.com/office/drawing/2014/main" id="{85051A8D-1727-1D85-724B-14817CAFF404}"/>
              </a:ext>
            </a:extLst>
          </p:cNvPr>
          <p:cNvSpPr>
            <a:spLocks noGrp="1"/>
          </p:cNvSpPr>
          <p:nvPr>
            <p:ph type="sldNum" sz="quarter" idx="5"/>
          </p:nvPr>
        </p:nvSpPr>
        <p:spPr/>
        <p:txBody>
          <a:bodyPr/>
          <a:lstStyle/>
          <a:p>
            <a:fld id="{50F5E923-51F7-42BD-962F-269CF7F55DA1}" type="slidenum">
              <a:rPr lang="zh-CN" altLang="en-US" smtClean="0"/>
              <a:t>13</a:t>
            </a:fld>
            <a:endParaRPr lang="zh-CN" altLang="en-US"/>
          </a:p>
        </p:txBody>
      </p:sp>
    </p:spTree>
    <p:extLst>
      <p:ext uri="{BB962C8B-B14F-4D97-AF65-F5344CB8AC3E}">
        <p14:creationId xmlns:p14="http://schemas.microsoft.com/office/powerpoint/2010/main" val="2012641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A9BD-7FF4-DE2C-9467-B9BDC024E5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A0869C-09E3-45EC-5200-3E1F18D8696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707ACE9-4077-753F-04C9-B0AB0DD79ED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“这页看分支级特征。</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的分支计数和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对齐较好；</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还有一段冗余分支，需要继续治理。整体上特征向量相似度已经较高，说明主干结构基本合理。”</a:t>
            </a:r>
            <a:br>
              <a:rPr lang="zh-CN" altLang="en-US" dirty="0"/>
            </a:br>
            <a:r>
              <a:rPr lang="zh-CN" altLang="en-US" sz="1200" b="0" i="0" kern="1200" dirty="0">
                <a:solidFill>
                  <a:schemeClr val="tx1"/>
                </a:solidFill>
                <a:effectLst/>
                <a:latin typeface="+mn-lt"/>
                <a:ea typeface="+mn-ea"/>
                <a:cs typeface="+mn-cs"/>
              </a:rPr>
              <a:t>过渡句：“最后给出风险和两周执行计划。”</a:t>
            </a:r>
            <a:endParaRPr lang="en" altLang="zh-CN" dirty="0"/>
          </a:p>
        </p:txBody>
      </p:sp>
      <p:sp>
        <p:nvSpPr>
          <p:cNvPr id="4" name="灯片编号占位符 3">
            <a:extLst>
              <a:ext uri="{FF2B5EF4-FFF2-40B4-BE49-F238E27FC236}">
                <a16:creationId xmlns:a16="http://schemas.microsoft.com/office/drawing/2014/main" id="{F6E6A9C2-3E1E-FBB6-7420-FE59BC1EF8F1}"/>
              </a:ext>
            </a:extLst>
          </p:cNvPr>
          <p:cNvSpPr>
            <a:spLocks noGrp="1"/>
          </p:cNvSpPr>
          <p:nvPr>
            <p:ph type="sldNum" sz="quarter" idx="5"/>
          </p:nvPr>
        </p:nvSpPr>
        <p:spPr/>
        <p:txBody>
          <a:bodyPr/>
          <a:lstStyle/>
          <a:p>
            <a:fld id="{50F5E923-51F7-42BD-962F-269CF7F55DA1}" type="slidenum">
              <a:rPr lang="zh-CN" altLang="en-US" smtClean="0"/>
              <a:t>14</a:t>
            </a:fld>
            <a:endParaRPr lang="zh-CN" altLang="en-US"/>
          </a:p>
        </p:txBody>
      </p:sp>
    </p:spTree>
    <p:extLst>
      <p:ext uri="{BB962C8B-B14F-4D97-AF65-F5344CB8AC3E}">
        <p14:creationId xmlns:p14="http://schemas.microsoft.com/office/powerpoint/2010/main" val="1178637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411B1-16E9-28D8-AE92-2A4880879D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352FC-6E95-4453-BC0F-B7441269F74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43CFE8E-ED25-CF3F-4A01-969BA393D775}"/>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“当前风险主要有三个：</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稳定性波动、</a:t>
            </a:r>
            <a:r>
              <a:rPr lang="en-US" altLang="zh-CN" sz="1200" b="0" i="0" kern="1200" dirty="0">
                <a:solidFill>
                  <a:schemeClr val="tx1"/>
                </a:solidFill>
                <a:effectLst/>
                <a:latin typeface="+mn-lt"/>
                <a:ea typeface="+mn-ea"/>
                <a:cs typeface="+mn-cs"/>
              </a:rPr>
              <a:t>Step3 </a:t>
            </a:r>
            <a:r>
              <a:rPr lang="zh-CN" altLang="en-US" sz="1200" b="0" i="0" kern="1200" dirty="0">
                <a:solidFill>
                  <a:schemeClr val="tx1"/>
                </a:solidFill>
                <a:effectLst/>
                <a:latin typeface="+mn-lt"/>
                <a:ea typeface="+mn-ea"/>
                <a:cs typeface="+mn-cs"/>
              </a:rPr>
              <a:t>补线能力还不够、</a:t>
            </a:r>
            <a:r>
              <a:rPr lang="en-US" altLang="zh-CN" sz="1200" b="0" i="0" kern="1200" dirty="0">
                <a:solidFill>
                  <a:schemeClr val="tx1"/>
                </a:solidFill>
                <a:effectLst/>
                <a:latin typeface="+mn-lt"/>
                <a:ea typeface="+mn-ea"/>
                <a:cs typeface="+mn-cs"/>
              </a:rPr>
              <a:t>Step4 </a:t>
            </a:r>
            <a:r>
              <a:rPr lang="zh-CN" altLang="en-US" sz="1200" b="0" i="0" kern="1200" dirty="0">
                <a:solidFill>
                  <a:schemeClr val="tx1"/>
                </a:solidFill>
                <a:effectLst/>
                <a:latin typeface="+mn-lt"/>
                <a:ea typeface="+mn-ea"/>
                <a:cs typeface="+mn-cs"/>
              </a:rPr>
              <a:t>冗余分支偶发。两周计划是：第一周做结构化补线与回归测试，第二周做分支治理和多例统计。”</a:t>
            </a:r>
            <a:br>
              <a:rPr lang="zh-CN" altLang="en-US" dirty="0"/>
            </a:br>
            <a:r>
              <a:rPr lang="zh-CN" altLang="en-US" sz="1200" b="0" i="0" kern="1200" dirty="0">
                <a:solidFill>
                  <a:schemeClr val="tx1"/>
                </a:solidFill>
                <a:effectLst/>
                <a:latin typeface="+mn-lt"/>
                <a:ea typeface="+mn-ea"/>
                <a:cs typeface="+mn-cs"/>
              </a:rPr>
              <a:t>过渡句：“接下来总结我这阶段的核心贡献。”</a:t>
            </a:r>
            <a:endParaRPr lang="en" altLang="zh-CN" dirty="0"/>
          </a:p>
        </p:txBody>
      </p:sp>
      <p:sp>
        <p:nvSpPr>
          <p:cNvPr id="4" name="灯片编号占位符 3">
            <a:extLst>
              <a:ext uri="{FF2B5EF4-FFF2-40B4-BE49-F238E27FC236}">
                <a16:creationId xmlns:a16="http://schemas.microsoft.com/office/drawing/2014/main" id="{773A9C36-96C7-97AC-49A2-64B0541549C4}"/>
              </a:ext>
            </a:extLst>
          </p:cNvPr>
          <p:cNvSpPr>
            <a:spLocks noGrp="1"/>
          </p:cNvSpPr>
          <p:nvPr>
            <p:ph type="sldNum" sz="quarter" idx="5"/>
          </p:nvPr>
        </p:nvSpPr>
        <p:spPr/>
        <p:txBody>
          <a:bodyPr/>
          <a:lstStyle/>
          <a:p>
            <a:fld id="{50F5E923-51F7-42BD-962F-269CF7F55DA1}" type="slidenum">
              <a:rPr lang="zh-CN" altLang="en-US" smtClean="0"/>
              <a:t>15</a:t>
            </a:fld>
            <a:endParaRPr lang="zh-CN" altLang="en-US"/>
          </a:p>
        </p:txBody>
      </p:sp>
    </p:spTree>
    <p:extLst>
      <p:ext uri="{BB962C8B-B14F-4D97-AF65-F5344CB8AC3E}">
        <p14:creationId xmlns:p14="http://schemas.microsoft.com/office/powerpoint/2010/main" val="3366203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AC805-58B5-F0C9-79EC-833C4BEE74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1D5787-3B6A-9312-8096-28D41BD0244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63B197-85C6-FEAD-9BEE-6DCB37708AC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“我把原先分散脚本整合成端到端可复现流程，并建立了统一指标口径。其次我定位并修复了拓扑层面的关键 </a:t>
            </a:r>
            <a:r>
              <a:rPr lang="en-US" altLang="zh-CN" sz="1200" b="0" i="0" kern="1200" dirty="0">
                <a:solidFill>
                  <a:schemeClr val="tx1"/>
                </a:solidFill>
                <a:effectLst/>
                <a:latin typeface="+mn-lt"/>
                <a:ea typeface="+mn-ea"/>
                <a:cs typeface="+mn-cs"/>
              </a:rPr>
              <a:t>bug</a:t>
            </a:r>
            <a:r>
              <a:rPr lang="zh-CN" altLang="en-US" sz="1200" b="0" i="0" kern="1200" dirty="0">
                <a:solidFill>
                  <a:schemeClr val="tx1"/>
                </a:solidFill>
                <a:effectLst/>
                <a:latin typeface="+mn-lt"/>
                <a:ea typeface="+mn-ea"/>
                <a:cs typeface="+mn-cs"/>
              </a:rPr>
              <a:t>。最后，我把失败案例转化成可回归的问题清单，形成持续迭代机制。”</a:t>
            </a:r>
            <a:endParaRPr lang="en-US" altLang="zh-CN" sz="1200" b="0" i="0" kern="1200" dirty="0">
              <a:solidFill>
                <a:schemeClr val="tx1"/>
              </a:solidFill>
              <a:effectLst/>
              <a:latin typeface="+mn-lt"/>
              <a:ea typeface="+mn-ea"/>
              <a:cs typeface="+mn-cs"/>
            </a:endParaRPr>
          </a:p>
          <a:p>
            <a:r>
              <a:rPr lang="zh-CN" altLang="en-US" dirty="0"/>
              <a:t>这部分还主要聚焦修复部分。之后可能需要聚焦多模态匹配以及血管变形部分。</a:t>
            </a:r>
            <a:br>
              <a:rPr lang="zh-CN" altLang="en-US" dirty="0"/>
            </a:br>
            <a:r>
              <a:rPr lang="zh-CN" altLang="en-US" sz="1200" b="0" i="0" kern="1200" dirty="0">
                <a:solidFill>
                  <a:schemeClr val="tx1"/>
                </a:solidFill>
                <a:effectLst/>
                <a:latin typeface="+mn-lt"/>
                <a:ea typeface="+mn-ea"/>
                <a:cs typeface="+mn-cs"/>
              </a:rPr>
              <a:t>过渡句：“最后我希望得到导师的方向性反馈。”</a:t>
            </a:r>
            <a:endParaRPr lang="en" altLang="zh-CN" dirty="0"/>
          </a:p>
        </p:txBody>
      </p:sp>
      <p:sp>
        <p:nvSpPr>
          <p:cNvPr id="4" name="灯片编号占位符 3">
            <a:extLst>
              <a:ext uri="{FF2B5EF4-FFF2-40B4-BE49-F238E27FC236}">
                <a16:creationId xmlns:a16="http://schemas.microsoft.com/office/drawing/2014/main" id="{8DD291B8-B033-F2D9-744B-0A4A6922FEB2}"/>
              </a:ext>
            </a:extLst>
          </p:cNvPr>
          <p:cNvSpPr>
            <a:spLocks noGrp="1"/>
          </p:cNvSpPr>
          <p:nvPr>
            <p:ph type="sldNum" sz="quarter" idx="5"/>
          </p:nvPr>
        </p:nvSpPr>
        <p:spPr/>
        <p:txBody>
          <a:bodyPr/>
          <a:lstStyle/>
          <a:p>
            <a:fld id="{50F5E923-51F7-42BD-962F-269CF7F55DA1}" type="slidenum">
              <a:rPr lang="zh-CN" altLang="en-US" smtClean="0"/>
              <a:t>16</a:t>
            </a:fld>
            <a:endParaRPr lang="zh-CN" altLang="en-US"/>
          </a:p>
        </p:txBody>
      </p:sp>
    </p:spTree>
    <p:extLst>
      <p:ext uri="{BB962C8B-B14F-4D97-AF65-F5344CB8AC3E}">
        <p14:creationId xmlns:p14="http://schemas.microsoft.com/office/powerpoint/2010/main" val="3718010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BF399D-EDE8-4580-B9E2-18D3F5DE03FB}"/>
              </a:ext>
            </a:extLst>
          </p:cNvPr>
          <p:cNvSpPr>
            <a:spLocks noGrp="1"/>
          </p:cNvSpPr>
          <p:nvPr>
            <p:ph type="dt" sz="half" idx="10"/>
          </p:nvPr>
        </p:nvSpPr>
        <p:spPr/>
        <p:txBody>
          <a:bodyPr/>
          <a:lstStyle/>
          <a:p>
            <a:fld id="{0B6F2864-E0EF-4E70-A7F4-2B86DC303F0F}" type="datetime1">
              <a:rPr lang="zh-CN" altLang="en-US" smtClean="0"/>
              <a:t>2026/2/10</a:t>
            </a:fld>
            <a:endParaRPr lang="zh-CN" altLang="en-US"/>
          </a:p>
        </p:txBody>
      </p:sp>
      <p:sp>
        <p:nvSpPr>
          <p:cNvPr id="3" name="页脚占位符 2">
            <a:extLst>
              <a:ext uri="{FF2B5EF4-FFF2-40B4-BE49-F238E27FC236}">
                <a16:creationId xmlns:a16="http://schemas.microsoft.com/office/drawing/2014/main" id="{05FF8A14-C1F6-4164-A22B-F1F06A860C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B723CDA-EC61-440A-9CD0-665175752534}"/>
              </a:ext>
            </a:extLst>
          </p:cNvPr>
          <p:cNvSpPr>
            <a:spLocks noGrp="1"/>
          </p:cNvSpPr>
          <p:nvPr>
            <p:ph type="sldNum" sz="quarter" idx="12"/>
          </p:nvPr>
        </p:nvSpPr>
        <p:spPr>
          <a:xfrm>
            <a:off x="9124950" y="6356350"/>
            <a:ext cx="2743200"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CCBA9D17-A0D3-409F-BFF9-E5BAE63FEE36}" type="slidenum">
              <a:rPr lang="zh-CN" altLang="en-US" smtClean="0"/>
              <a:pPr/>
              <a:t>‹#›</a:t>
            </a:fld>
            <a:endParaRPr lang="zh-CN" altLang="en-US" dirty="0"/>
          </a:p>
        </p:txBody>
      </p:sp>
    </p:spTree>
    <p:extLst>
      <p:ext uri="{BB962C8B-B14F-4D97-AF65-F5344CB8AC3E}">
        <p14:creationId xmlns:p14="http://schemas.microsoft.com/office/powerpoint/2010/main" val="37803958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596258-9B56-404A-B375-CB6FD51F1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1381EE-E5D1-4659-AFAB-3F77E9668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1F6FF-ED68-4607-885A-EB998B150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D2EE-5E42-4C74-BD66-3934CD038B3B}" type="datetime1">
              <a:rPr lang="zh-CN" altLang="en-US" smtClean="0"/>
              <a:t>2026/2/10</a:t>
            </a:fld>
            <a:endParaRPr lang="zh-CN" altLang="en-US"/>
          </a:p>
        </p:txBody>
      </p:sp>
      <p:sp>
        <p:nvSpPr>
          <p:cNvPr id="5" name="页脚占位符 4">
            <a:extLst>
              <a:ext uri="{FF2B5EF4-FFF2-40B4-BE49-F238E27FC236}">
                <a16:creationId xmlns:a16="http://schemas.microsoft.com/office/drawing/2014/main" id="{F0794CA5-8294-4EBF-A582-699649CC1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3C233C-1E37-4721-A368-7046C1CAC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A9D17-A0D3-409F-BFF9-E5BAE63FEE36}" type="slidenum">
              <a:rPr lang="zh-CN" altLang="en-US" smtClean="0"/>
              <a:t>‹#›</a:t>
            </a:fld>
            <a:endParaRPr lang="zh-CN" altLang="en-US"/>
          </a:p>
        </p:txBody>
      </p:sp>
    </p:spTree>
    <p:extLst>
      <p:ext uri="{BB962C8B-B14F-4D97-AF65-F5344CB8AC3E}">
        <p14:creationId xmlns:p14="http://schemas.microsoft.com/office/powerpoint/2010/main" val="203019184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mailto:chenyihao@stu.pk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89223" y="2179808"/>
            <a:ext cx="9611360" cy="1323439"/>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en"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Medical Imaging × AI for Interventional Guidance</a:t>
            </a:r>
          </a:p>
        </p:txBody>
      </p:sp>
      <p:sp>
        <p:nvSpPr>
          <p:cNvPr id="154" name="矩形 153">
            <a:extLst>
              <a:ext uri="{FF2B5EF4-FFF2-40B4-BE49-F238E27FC236}">
                <a16:creationId xmlns:a16="http://schemas.microsoft.com/office/drawing/2014/main" id="{463D1A49-0BF7-4F07-8315-36DBC4E57D47}"/>
              </a:ext>
            </a:extLst>
          </p:cNvPr>
          <p:cNvSpPr/>
          <p:nvPr/>
        </p:nvSpPr>
        <p:spPr>
          <a:xfrm>
            <a:off x="3384017" y="3681681"/>
            <a:ext cx="5421771" cy="369332"/>
          </a:xfrm>
          <a:prstGeom prst="rect">
            <a:avLst/>
          </a:prstGeom>
        </p:spPr>
        <p:txBody>
          <a:bodyPr wrap="square">
            <a:spAutoFit/>
          </a:bodyPr>
          <a:lstStyle/>
          <a:p>
            <a:pPr lvl="0" algn="dist">
              <a:defRPr/>
            </a:pPr>
            <a:r>
              <a:rPr lang="en" altLang="zh-CN" dirty="0"/>
              <a:t>Research &amp; Project Highlights (Medical Imaging)</a:t>
            </a:r>
          </a:p>
        </p:txBody>
      </p:sp>
      <p:pic>
        <p:nvPicPr>
          <p:cNvPr id="73" name="图片 72" descr="黑白色的标志&#10;&#10;中度可信度描述已自动生成">
            <a:extLst>
              <a:ext uri="{FF2B5EF4-FFF2-40B4-BE49-F238E27FC236}">
                <a16:creationId xmlns:a16="http://schemas.microsoft.com/office/drawing/2014/main" id="{0490B25A-67C6-44AA-8E81-58E643B77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798" y="810934"/>
            <a:ext cx="2876210" cy="810200"/>
          </a:xfrm>
          <a:prstGeom prst="rect">
            <a:avLst/>
          </a:prstGeom>
        </p:spPr>
      </p:pic>
      <p:sp>
        <p:nvSpPr>
          <p:cNvPr id="5" name="文本框 4">
            <a:extLst>
              <a:ext uri="{FF2B5EF4-FFF2-40B4-BE49-F238E27FC236}">
                <a16:creationId xmlns:a16="http://schemas.microsoft.com/office/drawing/2014/main" id="{67693220-0BA5-2580-B620-771A250BC89D}"/>
              </a:ext>
            </a:extLst>
          </p:cNvPr>
          <p:cNvSpPr txBox="1"/>
          <p:nvPr/>
        </p:nvSpPr>
        <p:spPr>
          <a:xfrm>
            <a:off x="4909000" y="4598780"/>
            <a:ext cx="2535694" cy="369332"/>
          </a:xfrm>
          <a:prstGeom prst="rect">
            <a:avLst/>
          </a:prstGeom>
          <a:noFill/>
        </p:spPr>
        <p:txBody>
          <a:bodyPr wrap="none" rtlCol="0">
            <a:spAutoFit/>
          </a:bodyPr>
          <a:lstStyle/>
          <a:p>
            <a:r>
              <a:rPr kumimoji="1" lang="en-US" altLang="zh-CN" dirty="0"/>
              <a:t>Yihao</a:t>
            </a:r>
            <a:r>
              <a:rPr kumimoji="1" lang="zh-CN" altLang="en-US" dirty="0"/>
              <a:t> </a:t>
            </a:r>
            <a:r>
              <a:rPr kumimoji="1" lang="en-US" altLang="zh-CN" dirty="0"/>
              <a:t>Chen</a:t>
            </a:r>
            <a:r>
              <a:rPr kumimoji="1" lang="zh-CN" altLang="en-US" dirty="0"/>
              <a:t>（陈奕好）</a:t>
            </a:r>
          </a:p>
        </p:txBody>
      </p:sp>
      <p:sp>
        <p:nvSpPr>
          <p:cNvPr id="7" name="文本框 6">
            <a:extLst>
              <a:ext uri="{FF2B5EF4-FFF2-40B4-BE49-F238E27FC236}">
                <a16:creationId xmlns:a16="http://schemas.microsoft.com/office/drawing/2014/main" id="{5BCCA511-615C-DAC9-FF8F-4A23ADA683B0}"/>
              </a:ext>
            </a:extLst>
          </p:cNvPr>
          <p:cNvSpPr txBox="1"/>
          <p:nvPr/>
        </p:nvSpPr>
        <p:spPr>
          <a:xfrm>
            <a:off x="3879128" y="5152779"/>
            <a:ext cx="4431550" cy="369332"/>
          </a:xfrm>
          <a:prstGeom prst="rect">
            <a:avLst/>
          </a:prstGeom>
          <a:noFill/>
        </p:spPr>
        <p:txBody>
          <a:bodyPr wrap="square">
            <a:spAutoFit/>
          </a:bodyPr>
          <a:lstStyle/>
          <a:p>
            <a:r>
              <a:rPr lang="en" altLang="zh-CN" dirty="0"/>
              <a:t>College of Engineering, Peking University</a:t>
            </a:r>
          </a:p>
        </p:txBody>
      </p:sp>
      <p:sp>
        <p:nvSpPr>
          <p:cNvPr id="8" name="文本框 7">
            <a:extLst>
              <a:ext uri="{FF2B5EF4-FFF2-40B4-BE49-F238E27FC236}">
                <a16:creationId xmlns:a16="http://schemas.microsoft.com/office/drawing/2014/main" id="{139ABADE-63B5-5F9C-43BD-EC4026D61713}"/>
              </a:ext>
            </a:extLst>
          </p:cNvPr>
          <p:cNvSpPr txBox="1"/>
          <p:nvPr/>
        </p:nvSpPr>
        <p:spPr>
          <a:xfrm>
            <a:off x="5451875" y="5723401"/>
            <a:ext cx="1159292" cy="369332"/>
          </a:xfrm>
          <a:prstGeom prst="rect">
            <a:avLst/>
          </a:prstGeom>
          <a:noFill/>
        </p:spPr>
        <p:txBody>
          <a:bodyPr wrap="none" rtlCol="0">
            <a:spAutoFit/>
          </a:bodyPr>
          <a:lstStyle/>
          <a:p>
            <a:r>
              <a:rPr lang="en-US" altLang="zh-CN" dirty="0"/>
              <a:t>Feb</a:t>
            </a:r>
            <a:r>
              <a:rPr lang="zh-CN" altLang="en-US" dirty="0"/>
              <a:t> </a:t>
            </a:r>
            <a:r>
              <a:rPr lang="en-US" altLang="zh-CN" dirty="0"/>
              <a:t>2026</a:t>
            </a:r>
            <a:endParaRPr kumimoji="1" lang="zh-CN" altLang="en-US" dirty="0"/>
          </a:p>
        </p:txBody>
      </p:sp>
      <p:sp>
        <p:nvSpPr>
          <p:cNvPr id="9" name="文本框 8">
            <a:extLst>
              <a:ext uri="{FF2B5EF4-FFF2-40B4-BE49-F238E27FC236}">
                <a16:creationId xmlns:a16="http://schemas.microsoft.com/office/drawing/2014/main" id="{25A601F2-DCB4-CBA6-297C-E882EB6A1EB9}"/>
              </a:ext>
            </a:extLst>
          </p:cNvPr>
          <p:cNvSpPr txBox="1"/>
          <p:nvPr/>
        </p:nvSpPr>
        <p:spPr>
          <a:xfrm>
            <a:off x="9727024" y="6240675"/>
            <a:ext cx="2347117" cy="523220"/>
          </a:xfrm>
          <a:prstGeom prst="rect">
            <a:avLst/>
          </a:prstGeom>
          <a:noFill/>
        </p:spPr>
        <p:txBody>
          <a:bodyPr wrap="none" rtlCol="0">
            <a:spAutoFit/>
          </a:bodyPr>
          <a:lstStyle/>
          <a:p>
            <a:pPr algn="r"/>
            <a:r>
              <a:rPr kumimoji="1" lang="en-US" altLang="zh-CN" sz="1400" dirty="0">
                <a:hlinkClick r:id="rId5"/>
              </a:rPr>
              <a:t>chenyihao@stu.pku.edu.cn</a:t>
            </a:r>
            <a:endParaRPr kumimoji="1" lang="en-US" altLang="zh-CN" sz="1400" dirty="0"/>
          </a:p>
          <a:p>
            <a:pPr algn="r"/>
            <a:r>
              <a:rPr kumimoji="1" lang="en-US" altLang="zh-CN" sz="1400" dirty="0" err="1"/>
              <a:t>github.com</a:t>
            </a:r>
            <a:r>
              <a:rPr kumimoji="1" lang="en-US" altLang="zh-CN" sz="1400" dirty="0"/>
              <a:t>/</a:t>
            </a:r>
            <a:r>
              <a:rPr kumimoji="1" lang="en-US" altLang="zh-CN" sz="1400" dirty="0" err="1"/>
              <a:t>ChenNeuro</a:t>
            </a:r>
            <a:endParaRPr kumimoji="1" lang="zh-CN" altLang="en-US" sz="1400" dirty="0"/>
          </a:p>
        </p:txBody>
      </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1325434" y="555760"/>
            <a:ext cx="264304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Agenda</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EDE5656F-E7F2-4BB5-8260-3F1B1062A952}"/>
              </a:ext>
            </a:extLst>
          </p:cNvPr>
          <p:cNvGrpSpPr/>
          <p:nvPr/>
        </p:nvGrpSpPr>
        <p:grpSpPr>
          <a:xfrm>
            <a:off x="1296445" y="1708944"/>
            <a:ext cx="10345387" cy="839888"/>
            <a:chOff x="1296445" y="1777506"/>
            <a:chExt cx="10345387" cy="839888"/>
          </a:xfrm>
        </p:grpSpPr>
        <p:sp>
          <p:nvSpPr>
            <p:cNvPr id="40" name="文本框 39">
              <a:extLst>
                <a:ext uri="{FF2B5EF4-FFF2-40B4-BE49-F238E27FC236}">
                  <a16:creationId xmlns:a16="http://schemas.microsoft.com/office/drawing/2014/main" id="{CC28C0EC-7349-4528-9D9B-77994BDA48DA}"/>
                </a:ext>
              </a:extLst>
            </p:cNvPr>
            <p:cNvSpPr txBox="1"/>
            <p:nvPr/>
          </p:nvSpPr>
          <p:spPr>
            <a:xfrm>
              <a:off x="1912863" y="2155729"/>
              <a:ext cx="9728969" cy="461665"/>
            </a:xfrm>
            <a:prstGeom prst="rect">
              <a:avLst/>
            </a:prstGeom>
            <a:noFill/>
          </p:spPr>
          <p:txBody>
            <a:bodyPr wrap="square" rtlCol="0">
              <a:spAutoFit/>
            </a:bodyPr>
            <a:lstStyle/>
            <a:p>
              <a:r>
                <a:rPr lang="en" altLang="zh-CN" sz="2400" dirty="0"/>
                <a:t>Quick intro &amp; strengths (skills + working style)</a:t>
              </a:r>
            </a:p>
          </p:txBody>
        </p:sp>
        <p:grpSp>
          <p:nvGrpSpPr>
            <p:cNvPr id="41" name="组合 40">
              <a:extLst>
                <a:ext uri="{FF2B5EF4-FFF2-40B4-BE49-F238E27FC236}">
                  <a16:creationId xmlns:a16="http://schemas.microsoft.com/office/drawing/2014/main" id="{9786FD86-9D1D-445F-BBA9-963D34E58544}"/>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BFD77076-092D-4EC2-879D-E900573D34D4}"/>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4A5F994-68CE-4016-B167-C1775E3994E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12147FF2-3F2C-4EA4-96F6-1368A521E62E}"/>
              </a:ext>
            </a:extLst>
          </p:cNvPr>
          <p:cNvGrpSpPr/>
          <p:nvPr/>
        </p:nvGrpSpPr>
        <p:grpSpPr>
          <a:xfrm>
            <a:off x="1296445" y="2823351"/>
            <a:ext cx="800100" cy="713161"/>
            <a:chOff x="6976951" y="1586703"/>
            <a:chExt cx="800100" cy="713161"/>
          </a:xfrm>
        </p:grpSpPr>
        <p:sp>
          <p:nvSpPr>
            <p:cNvPr id="52" name="文本框 51">
              <a:extLst>
                <a:ext uri="{FF2B5EF4-FFF2-40B4-BE49-F238E27FC236}">
                  <a16:creationId xmlns:a16="http://schemas.microsoft.com/office/drawing/2014/main" id="{5290D6EA-4373-4E3B-8637-81646F1A7B7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65BC728A-0A27-477D-9233-0A149548E323}"/>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9363B11F-148D-4857-9335-0D8BC165C35A}"/>
              </a:ext>
            </a:extLst>
          </p:cNvPr>
          <p:cNvGrpSpPr/>
          <p:nvPr/>
        </p:nvGrpSpPr>
        <p:grpSpPr>
          <a:xfrm>
            <a:off x="1296445" y="3940656"/>
            <a:ext cx="10072140" cy="799797"/>
            <a:chOff x="1296445" y="1777506"/>
            <a:chExt cx="10072140" cy="799797"/>
          </a:xfrm>
        </p:grpSpPr>
        <p:sp>
          <p:nvSpPr>
            <p:cNvPr id="55" name="文本框 54">
              <a:extLst>
                <a:ext uri="{FF2B5EF4-FFF2-40B4-BE49-F238E27FC236}">
                  <a16:creationId xmlns:a16="http://schemas.microsoft.com/office/drawing/2014/main" id="{4502F672-83C0-4117-BF9E-9961F1D92E3C}"/>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C8BCFD56-2E86-469C-8238-014884FF8E7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B285BD03-11C0-4CAA-94AC-C14495F4C37D}"/>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94423372-D8CA-4EA5-A40C-6E2DC355B017}"/>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C25F860F-1967-4D0C-A54D-9A5962D626C2}"/>
              </a:ext>
            </a:extLst>
          </p:cNvPr>
          <p:cNvGrpSpPr/>
          <p:nvPr/>
        </p:nvGrpSpPr>
        <p:grpSpPr>
          <a:xfrm>
            <a:off x="1325434" y="5276868"/>
            <a:ext cx="800100" cy="713161"/>
            <a:chOff x="6976951" y="1586703"/>
            <a:chExt cx="800100" cy="713161"/>
          </a:xfrm>
        </p:grpSpPr>
        <p:sp>
          <p:nvSpPr>
            <p:cNvPr id="62" name="文本框 61">
              <a:extLst>
                <a:ext uri="{FF2B5EF4-FFF2-40B4-BE49-F238E27FC236}">
                  <a16:creationId xmlns:a16="http://schemas.microsoft.com/office/drawing/2014/main" id="{EAD6E1CD-0284-4A52-890E-715E79BF4A3E}"/>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4</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63" name="直接连接符 62">
              <a:extLst>
                <a:ext uri="{FF2B5EF4-FFF2-40B4-BE49-F238E27FC236}">
                  <a16:creationId xmlns:a16="http://schemas.microsoft.com/office/drawing/2014/main" id="{9E2E41A3-97DB-49C9-88F0-51B44C0C1FD5}"/>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157F361D-395C-D4EE-6F64-2C41D5EF49AC}"/>
              </a:ext>
            </a:extLst>
          </p:cNvPr>
          <p:cNvSpPr txBox="1"/>
          <p:nvPr/>
        </p:nvSpPr>
        <p:spPr>
          <a:xfrm>
            <a:off x="1912861" y="3301317"/>
            <a:ext cx="9728969" cy="461665"/>
          </a:xfrm>
          <a:prstGeom prst="rect">
            <a:avLst/>
          </a:prstGeom>
          <a:noFill/>
        </p:spPr>
        <p:txBody>
          <a:bodyPr wrap="square" rtlCol="0">
            <a:spAutoFit/>
          </a:bodyPr>
          <a:lstStyle/>
          <a:p>
            <a:r>
              <a:rPr lang="en" altLang="zh-CN" sz="2400" dirty="0"/>
              <a:t>Background &amp; research interests (medical imaging)</a:t>
            </a:r>
          </a:p>
        </p:txBody>
      </p:sp>
      <p:sp>
        <p:nvSpPr>
          <p:cNvPr id="6" name="文本框 5">
            <a:extLst>
              <a:ext uri="{FF2B5EF4-FFF2-40B4-BE49-F238E27FC236}">
                <a16:creationId xmlns:a16="http://schemas.microsoft.com/office/drawing/2014/main" id="{86EE6C5F-836B-8FF7-6EC8-08AB6D5A6A22}"/>
              </a:ext>
            </a:extLst>
          </p:cNvPr>
          <p:cNvSpPr txBox="1"/>
          <p:nvPr/>
        </p:nvSpPr>
        <p:spPr>
          <a:xfrm>
            <a:off x="1912862" y="4445871"/>
            <a:ext cx="9728969" cy="830997"/>
          </a:xfrm>
          <a:prstGeom prst="rect">
            <a:avLst/>
          </a:prstGeom>
          <a:noFill/>
        </p:spPr>
        <p:txBody>
          <a:bodyPr wrap="square" rtlCol="0">
            <a:spAutoFit/>
          </a:bodyPr>
          <a:lstStyle/>
          <a:p>
            <a:r>
              <a:rPr lang="en" altLang="zh-CN" sz="2400" dirty="0"/>
              <a:t>Ongoing</a:t>
            </a:r>
            <a:r>
              <a:rPr lang="zh-CN" altLang="en-US" sz="2400" dirty="0"/>
              <a:t> </a:t>
            </a:r>
            <a:r>
              <a:rPr lang="en" altLang="zh-CN" sz="2400" dirty="0"/>
              <a:t>Projects: coronary reconstruction, CT–DSA 3D–2D registration, vessel topology modeling</a:t>
            </a:r>
          </a:p>
        </p:txBody>
      </p:sp>
      <p:sp>
        <p:nvSpPr>
          <p:cNvPr id="7" name="文本框 6">
            <a:extLst>
              <a:ext uri="{FF2B5EF4-FFF2-40B4-BE49-F238E27FC236}">
                <a16:creationId xmlns:a16="http://schemas.microsoft.com/office/drawing/2014/main" id="{7AC3019F-9F3A-BF3C-F432-CDDCFBCF8D1C}"/>
              </a:ext>
            </a:extLst>
          </p:cNvPr>
          <p:cNvSpPr txBox="1"/>
          <p:nvPr/>
        </p:nvSpPr>
        <p:spPr>
          <a:xfrm>
            <a:off x="1941851" y="5725782"/>
            <a:ext cx="9728969" cy="461665"/>
          </a:xfrm>
          <a:prstGeom prst="rect">
            <a:avLst/>
          </a:prstGeom>
          <a:noFill/>
        </p:spPr>
        <p:txBody>
          <a:bodyPr wrap="square" rtlCol="0">
            <a:spAutoFit/>
          </a:bodyPr>
          <a:lstStyle/>
          <a:p>
            <a:r>
              <a:rPr lang="en" altLang="zh-CN" sz="2400" dirty="0"/>
              <a:t>Discussion</a:t>
            </a:r>
          </a:p>
        </p:txBody>
      </p:sp>
    </p:spTree>
    <p:extLst>
      <p:ext uri="{BB962C8B-B14F-4D97-AF65-F5344CB8AC3E}">
        <p14:creationId xmlns:p14="http://schemas.microsoft.com/office/powerpoint/2010/main" val="25159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7FD-4720-ED88-5C92-03ECECEBE89A}"/>
            </a:ext>
          </a:extLst>
        </p:cNvPr>
        <p:cNvGrpSpPr/>
        <p:nvPr/>
      </p:nvGrpSpPr>
      <p:grpSpPr>
        <a:xfrm>
          <a:off x="0" y="0"/>
          <a:ext cx="0" cy="0"/>
          <a:chOff x="0" y="0"/>
          <a:chExt cx="0" cy="0"/>
        </a:xfrm>
      </p:grpSpPr>
      <p:cxnSp>
        <p:nvCxnSpPr>
          <p:cNvPr id="62" name="直接连接符 61">
            <a:extLst>
              <a:ext uri="{FF2B5EF4-FFF2-40B4-BE49-F238E27FC236}">
                <a16:creationId xmlns:a16="http://schemas.microsoft.com/office/drawing/2014/main" id="{79F14234-CCA4-9D7A-1198-781E5853AC7A}"/>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B07C39C-1F27-2E9C-01AE-1CD99DE5893E}"/>
              </a:ext>
            </a:extLst>
          </p:cNvPr>
          <p:cNvSpPr txBox="1"/>
          <p:nvPr/>
        </p:nvSpPr>
        <p:spPr>
          <a:xfrm>
            <a:off x="452512" y="300592"/>
            <a:ext cx="8377589" cy="461665"/>
          </a:xfrm>
          <a:prstGeom prst="rect">
            <a:avLst/>
          </a:prstGeom>
          <a:noFill/>
        </p:spPr>
        <p:txBody>
          <a:bodyPr wrap="square" rtlCol="0">
            <a:spAutoFit/>
          </a:bodyPr>
          <a:lstStyle/>
          <a:p>
            <a:r>
              <a:rPr lang="en" altLang="zh-CN" sz="2400" b="1" dirty="0">
                <a:solidFill>
                  <a:schemeClr val="accent1"/>
                </a:solidFill>
                <a:latin typeface="+mj-ea"/>
                <a:ea typeface="+mj-ea"/>
              </a:rPr>
              <a:t>Quick intro &amp; strengths</a:t>
            </a:r>
          </a:p>
        </p:txBody>
      </p:sp>
      <p:pic>
        <p:nvPicPr>
          <p:cNvPr id="65" name="图片 64" descr="黑白色的标志&#10;&#10;中度可信度描述已自动生成">
            <a:extLst>
              <a:ext uri="{FF2B5EF4-FFF2-40B4-BE49-F238E27FC236}">
                <a16:creationId xmlns:a16="http://schemas.microsoft.com/office/drawing/2014/main" id="{D000B97A-3E71-9649-525E-D555C75AF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grpSp>
        <p:nvGrpSpPr>
          <p:cNvPr id="4" name="组合 3">
            <a:extLst>
              <a:ext uri="{FF2B5EF4-FFF2-40B4-BE49-F238E27FC236}">
                <a16:creationId xmlns:a16="http://schemas.microsoft.com/office/drawing/2014/main" id="{BFAB3C14-99F8-AD4B-BCE7-027EA6B65685}"/>
              </a:ext>
            </a:extLst>
          </p:cNvPr>
          <p:cNvGrpSpPr/>
          <p:nvPr/>
        </p:nvGrpSpPr>
        <p:grpSpPr>
          <a:xfrm>
            <a:off x="1485082" y="1465262"/>
            <a:ext cx="9710179" cy="4524374"/>
            <a:chOff x="1476615" y="1465262"/>
            <a:chExt cx="9710179" cy="4524374"/>
          </a:xfrm>
        </p:grpSpPr>
        <p:sp>
          <p:nvSpPr>
            <p:cNvPr id="14" name="矩形 13">
              <a:extLst>
                <a:ext uri="{FF2B5EF4-FFF2-40B4-BE49-F238E27FC236}">
                  <a16:creationId xmlns:a16="http://schemas.microsoft.com/office/drawing/2014/main" id="{DCBE7EA4-2A7C-9B31-C57F-EB8B418B7D47}"/>
                </a:ext>
              </a:extLst>
            </p:cNvPr>
            <p:cNvSpPr/>
            <p:nvPr/>
          </p:nvSpPr>
          <p:spPr>
            <a:xfrm>
              <a:off x="1476615" y="1465262"/>
              <a:ext cx="9710179" cy="4524374"/>
            </a:xfrm>
            <a:prstGeom prst="rect">
              <a:avLst/>
            </a:prstGeom>
            <a:solidFill>
              <a:srgbClr val="FFFFFF"/>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背景图案&#10;&#10;描述已自动生成">
              <a:extLst>
                <a:ext uri="{FF2B5EF4-FFF2-40B4-BE49-F238E27FC236}">
                  <a16:creationId xmlns:a16="http://schemas.microsoft.com/office/drawing/2014/main" id="{AA80CA6D-D581-458E-5EC4-C7409600B9CF}"/>
                </a:ext>
              </a:extLst>
            </p:cNvPr>
            <p:cNvPicPr>
              <a:picLocks noChangeAspect="1"/>
            </p:cNvPicPr>
            <p:nvPr/>
          </p:nvPicPr>
          <p:blipFill>
            <a:blip r:embed="rId4">
              <a:alphaModFix amt="47000"/>
              <a:extLst>
                <a:ext uri="{28A0092B-C50C-407E-A947-70E740481C1C}">
                  <a14:useLocalDpi xmlns:a14="http://schemas.microsoft.com/office/drawing/2010/main" val="0"/>
                </a:ext>
              </a:extLst>
            </a:blip>
            <a:stretch>
              <a:fillRect/>
            </a:stretch>
          </p:blipFill>
          <p:spPr>
            <a:xfrm>
              <a:off x="8691879" y="3330220"/>
              <a:ext cx="2494915" cy="2659415"/>
            </a:xfrm>
            <a:prstGeom prst="rect">
              <a:avLst/>
            </a:prstGeom>
          </p:spPr>
        </p:pic>
      </p:grpSp>
      <p:sp>
        <p:nvSpPr>
          <p:cNvPr id="6" name="矩形 5">
            <a:extLst>
              <a:ext uri="{FF2B5EF4-FFF2-40B4-BE49-F238E27FC236}">
                <a16:creationId xmlns:a16="http://schemas.microsoft.com/office/drawing/2014/main" id="{97DAC6D1-996D-33BC-FDA7-FB92F78157E9}"/>
              </a:ext>
            </a:extLst>
          </p:cNvPr>
          <p:cNvSpPr/>
          <p:nvPr/>
        </p:nvSpPr>
        <p:spPr>
          <a:xfrm>
            <a:off x="5709338" y="2049692"/>
            <a:ext cx="5358968" cy="678647"/>
          </a:xfrm>
          <a:prstGeom prst="rect">
            <a:avLst/>
          </a:prstGeom>
        </p:spPr>
        <p:txBody>
          <a:bodyPr wrap="none">
            <a:spAutoFit/>
          </a:bodyPr>
          <a:lstStyle/>
          <a:p>
            <a:pPr indent="52927" defTabSz="181463"/>
            <a:r>
              <a:rPr lang="en-US" altLang="zh-CN" sz="3810" dirty="0">
                <a:latin typeface="Arial" panose="020B0604020202020204" pitchFamily="34" charset="0"/>
                <a:ea typeface="Microsoft YaHei" panose="020B0503020204020204" pitchFamily="34" charset="-122"/>
                <a:cs typeface="+mn-ea"/>
                <a:sym typeface="Arial" panose="020B0604020202020204" pitchFamily="34" charset="0"/>
              </a:rPr>
              <a:t>Yihao Chen</a:t>
            </a:r>
            <a:r>
              <a:rPr lang="zh-CN" altLang="en-US" sz="3810" dirty="0">
                <a:latin typeface="Arial" panose="020B0604020202020204" pitchFamily="34" charset="0"/>
                <a:ea typeface="Microsoft YaHei" panose="020B0503020204020204" pitchFamily="34" charset="-122"/>
                <a:cs typeface="+mn-ea"/>
                <a:sym typeface="Arial" panose="020B0604020202020204" pitchFamily="34" charset="0"/>
              </a:rPr>
              <a:t>（陈奕好）</a:t>
            </a:r>
            <a:endParaRPr lang="zh-CN" altLang="zh-CN" sz="3810" dirty="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7" name="任意多边形: 形状 6">
            <a:extLst>
              <a:ext uri="{FF2B5EF4-FFF2-40B4-BE49-F238E27FC236}">
                <a16:creationId xmlns:a16="http://schemas.microsoft.com/office/drawing/2014/main" id="{1D56269C-476F-E037-D339-DBF0C1A58977}"/>
              </a:ext>
            </a:extLst>
          </p:cNvPr>
          <p:cNvSpPr/>
          <p:nvPr/>
        </p:nvSpPr>
        <p:spPr>
          <a:xfrm>
            <a:off x="5829996" y="2847698"/>
            <a:ext cx="4306871" cy="107083"/>
          </a:xfrm>
          <a:custGeom>
            <a:avLst/>
            <a:gdLst>
              <a:gd name="connsiteX0" fmla="*/ 0 w 10668000"/>
              <a:gd name="connsiteY0" fmla="*/ 0 h 0"/>
              <a:gd name="connsiteX1" fmla="*/ 10668000 w 10668000"/>
              <a:gd name="connsiteY1" fmla="*/ 0 h 0"/>
            </a:gdLst>
            <a:ahLst/>
            <a:cxnLst>
              <a:cxn ang="0">
                <a:pos x="connsiteX0" y="connsiteY0"/>
              </a:cxn>
              <a:cxn ang="0">
                <a:pos x="connsiteX1" y="connsiteY1"/>
              </a:cxn>
            </a:cxnLst>
            <a:rect l="l" t="t" r="r" b="b"/>
            <a:pathLst>
              <a:path w="10668000">
                <a:moveTo>
                  <a:pt x="0" y="0"/>
                </a:moveTo>
                <a:lnTo>
                  <a:pt x="10668000" y="0"/>
                </a:lnTo>
              </a:path>
            </a:pathLst>
          </a:custGeom>
          <a:noFill/>
          <a:ln w="19050">
            <a:gradFill flip="none" rotWithShape="1">
              <a:gsLst>
                <a:gs pos="0">
                  <a:schemeClr val="accent1">
                    <a:alpha val="0"/>
                  </a:schemeClr>
                </a:gs>
                <a:gs pos="100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463"/>
            <a:endParaRPr lang="zh-CN" altLang="en-US" sz="714" dirty="0">
              <a:solidFill>
                <a:schemeClr val="tx1"/>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矩形 7">
            <a:extLst>
              <a:ext uri="{FF2B5EF4-FFF2-40B4-BE49-F238E27FC236}">
                <a16:creationId xmlns:a16="http://schemas.microsoft.com/office/drawing/2014/main" id="{6C4D3861-5233-29B0-EDA8-35D6AD435A39}"/>
              </a:ext>
            </a:extLst>
          </p:cNvPr>
          <p:cNvSpPr/>
          <p:nvPr/>
        </p:nvSpPr>
        <p:spPr>
          <a:xfrm>
            <a:off x="5829997" y="2992216"/>
            <a:ext cx="5490062" cy="584775"/>
          </a:xfrm>
          <a:prstGeom prst="rect">
            <a:avLst/>
          </a:prstGeom>
        </p:spPr>
        <p:txBody>
          <a:bodyPr wrap="square">
            <a:spAutoFit/>
          </a:bodyPr>
          <a:lstStyle/>
          <a:p>
            <a:r>
              <a:rPr lang="en" altLang="zh-CN" sz="1600" b="1" dirty="0"/>
              <a:t>Medical Imaging | 3D–2D Registration | Temporal Modeling</a:t>
            </a:r>
          </a:p>
        </p:txBody>
      </p:sp>
      <p:sp>
        <p:nvSpPr>
          <p:cNvPr id="9" name="矩形 8">
            <a:extLst>
              <a:ext uri="{FF2B5EF4-FFF2-40B4-BE49-F238E27FC236}">
                <a16:creationId xmlns:a16="http://schemas.microsoft.com/office/drawing/2014/main" id="{7D9C7068-65C5-76BA-4AA3-7A6876F5413E}"/>
              </a:ext>
            </a:extLst>
          </p:cNvPr>
          <p:cNvSpPr/>
          <p:nvPr/>
        </p:nvSpPr>
        <p:spPr>
          <a:xfrm>
            <a:off x="5829996" y="3657786"/>
            <a:ext cx="4784005" cy="2062103"/>
          </a:xfrm>
          <a:prstGeom prst="rect">
            <a:avLst/>
          </a:prstGeom>
        </p:spPr>
        <p:txBody>
          <a:bodyPr wrap="square">
            <a:spAutoFit/>
          </a:bodyPr>
          <a:lstStyle/>
          <a:p>
            <a:pPr marL="285750" indent="-285750">
              <a:spcAft>
                <a:spcPts val="0"/>
              </a:spcAft>
              <a:buFont typeface="Arial" panose="020B0604020202020204" pitchFamily="34" charset="0"/>
              <a:buChar char="•"/>
              <a:defRPr sz="1800"/>
            </a:pPr>
            <a:r>
              <a:rPr lang="en" altLang="zh-CN" sz="1600" dirty="0"/>
              <a:t>Build end-to-end imaging pipelines (data → preprocessing → model → evaluation)</a:t>
            </a:r>
          </a:p>
          <a:p>
            <a:pPr marL="285750" indent="-285750">
              <a:spcAft>
                <a:spcPts val="0"/>
              </a:spcAft>
              <a:buFont typeface="Arial" panose="020B0604020202020204" pitchFamily="34" charset="0"/>
              <a:buChar char="•"/>
              <a:defRPr sz="1800"/>
            </a:pPr>
            <a:r>
              <a:rPr lang="en" altLang="zh-CN" sz="1600" dirty="0"/>
              <a:t>Combine geometry constraints with learning (registration, centerline/topology priors)</a:t>
            </a:r>
          </a:p>
          <a:p>
            <a:pPr marL="285750" indent="-285750">
              <a:spcAft>
                <a:spcPts val="0"/>
              </a:spcAft>
              <a:buFont typeface="Arial" panose="020B0604020202020204" pitchFamily="34" charset="0"/>
              <a:buChar char="•"/>
              <a:defRPr sz="1800"/>
            </a:pPr>
            <a:r>
              <a:rPr lang="en" altLang="zh-CN" sz="1600" dirty="0"/>
              <a:t>Reproducible research habits: scripts, ablations, reports</a:t>
            </a:r>
          </a:p>
          <a:p>
            <a:pPr marL="285750" indent="-285750">
              <a:spcAft>
                <a:spcPts val="0"/>
              </a:spcAft>
              <a:buFont typeface="Arial" panose="020B0604020202020204" pitchFamily="34" charset="0"/>
              <a:buChar char="•"/>
              <a:defRPr sz="1800"/>
            </a:pPr>
            <a:r>
              <a:rPr lang="en" altLang="zh-CN" sz="1600" dirty="0"/>
              <a:t>Cross-domain engineering: sensing/robotics experience transfers to real-time systems</a:t>
            </a:r>
          </a:p>
        </p:txBody>
      </p:sp>
      <p:pic>
        <p:nvPicPr>
          <p:cNvPr id="3" name="图片 2">
            <a:extLst>
              <a:ext uri="{FF2B5EF4-FFF2-40B4-BE49-F238E27FC236}">
                <a16:creationId xmlns:a16="http://schemas.microsoft.com/office/drawing/2014/main" id="{C6BD7A53-E20A-8CA2-640C-6C26919696B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5400000">
            <a:off x="1044313" y="2030665"/>
            <a:ext cx="4524537" cy="3393402"/>
          </a:xfrm>
          <a:prstGeom prst="rect">
            <a:avLst/>
          </a:prstGeom>
        </p:spPr>
      </p:pic>
      <p:sp>
        <p:nvSpPr>
          <p:cNvPr id="2" name="灯片编号占位符 1">
            <a:extLst>
              <a:ext uri="{FF2B5EF4-FFF2-40B4-BE49-F238E27FC236}">
                <a16:creationId xmlns:a16="http://schemas.microsoft.com/office/drawing/2014/main" id="{E1E45143-5B27-E503-78F2-D8B6F8F1EDAE}"/>
              </a:ext>
            </a:extLst>
          </p:cNvPr>
          <p:cNvSpPr>
            <a:spLocks noGrp="1"/>
          </p:cNvSpPr>
          <p:nvPr>
            <p:ph type="sldNum" sz="quarter" idx="12"/>
          </p:nvPr>
        </p:nvSpPr>
        <p:spPr/>
        <p:txBody>
          <a:bodyPr/>
          <a:lstStyle/>
          <a:p>
            <a:fld id="{CCBA9D17-A0D3-409F-BFF9-E5BAE63FEE36}" type="slidenum">
              <a:rPr lang="zh-CN" altLang="en-US" smtClean="0"/>
              <a:pPr/>
              <a:t>3</a:t>
            </a:fld>
            <a:endParaRPr lang="zh-CN" altLang="en-US" dirty="0"/>
          </a:p>
        </p:txBody>
      </p:sp>
      <p:sp>
        <p:nvSpPr>
          <p:cNvPr id="10" name="文本框 9">
            <a:extLst>
              <a:ext uri="{FF2B5EF4-FFF2-40B4-BE49-F238E27FC236}">
                <a16:creationId xmlns:a16="http://schemas.microsoft.com/office/drawing/2014/main" id="{28A0FE9A-E286-6428-5B0A-AE2D29ADEE8F}"/>
              </a:ext>
            </a:extLst>
          </p:cNvPr>
          <p:cNvSpPr txBox="1"/>
          <p:nvPr/>
        </p:nvSpPr>
        <p:spPr>
          <a:xfrm>
            <a:off x="5829996" y="6053562"/>
            <a:ext cx="4626085" cy="738664"/>
          </a:xfrm>
          <a:prstGeom prst="rect">
            <a:avLst/>
          </a:prstGeom>
          <a:noFill/>
        </p:spPr>
        <p:txBody>
          <a:bodyPr wrap="square">
            <a:spAutoFit/>
          </a:bodyPr>
          <a:lstStyle/>
          <a:p>
            <a:pPr>
              <a:buNone/>
            </a:pPr>
            <a:r>
              <a:rPr lang="en" altLang="zh-CN" sz="1400" b="1" dirty="0">
                <a:solidFill>
                  <a:schemeClr val="tx1">
                    <a:lumMod val="50000"/>
                    <a:lumOff val="50000"/>
                  </a:schemeClr>
                </a:solidFill>
              </a:rPr>
              <a:t>Interests: multimodal medical foundation models · temporal modeling for cine/DSA · generative reconstruction</a:t>
            </a:r>
          </a:p>
        </p:txBody>
      </p:sp>
    </p:spTree>
    <p:extLst>
      <p:ext uri="{BB962C8B-B14F-4D97-AF65-F5344CB8AC3E}">
        <p14:creationId xmlns:p14="http://schemas.microsoft.com/office/powerpoint/2010/main" val="409089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C7BFE9B-1CD8-4E95-B819-7BF15FD90247}"/>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DFC742C7-25EC-42DE-BE25-70F1D2F3DB6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FF0A074-1447-4830-8230-9D2F0137344D}"/>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Experience map</a:t>
            </a:r>
            <a:endParaRPr lang="zh-CN" altLang="en-US" sz="2400" b="1" dirty="0">
              <a:solidFill>
                <a:schemeClr val="accent1"/>
              </a:solidFill>
              <a:latin typeface="+mj-ea"/>
              <a:ea typeface="+mj-ea"/>
            </a:endParaRPr>
          </a:p>
        </p:txBody>
      </p:sp>
      <p:pic>
        <p:nvPicPr>
          <p:cNvPr id="7" name="图片 6" descr="黑白色的标志&#10;&#10;中度可信度描述已自动生成">
            <a:extLst>
              <a:ext uri="{FF2B5EF4-FFF2-40B4-BE49-F238E27FC236}">
                <a16:creationId xmlns:a16="http://schemas.microsoft.com/office/drawing/2014/main" id="{89630CB9-A218-4E54-A6EF-D66AD72FD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cxnSp>
        <p:nvCxnSpPr>
          <p:cNvPr id="14" name="直接连接符 13">
            <a:extLst>
              <a:ext uri="{FF2B5EF4-FFF2-40B4-BE49-F238E27FC236}">
                <a16:creationId xmlns:a16="http://schemas.microsoft.com/office/drawing/2014/main" id="{9E44BCA0-583A-48AF-9334-68BB5C060C39}"/>
              </a:ext>
            </a:extLst>
          </p:cNvPr>
          <p:cNvCxnSpPr>
            <a:cxnSpLocks/>
          </p:cNvCxnSpPr>
          <p:nvPr/>
        </p:nvCxnSpPr>
        <p:spPr>
          <a:xfrm>
            <a:off x="1842540" y="3405108"/>
            <a:ext cx="7950827"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a:extLst>
              <a:ext uri="{FF2B5EF4-FFF2-40B4-BE49-F238E27FC236}">
                <a16:creationId xmlns:a16="http://schemas.microsoft.com/office/drawing/2014/main" id="{B255FC0C-766C-4649-9F5B-3AE2018D0452}"/>
              </a:ext>
            </a:extLst>
          </p:cNvPr>
          <p:cNvCxnSpPr>
            <a:cxnSpLocks/>
          </p:cNvCxnSpPr>
          <p:nvPr/>
        </p:nvCxnSpPr>
        <p:spPr>
          <a:xfrm>
            <a:off x="1842540" y="4375845"/>
            <a:ext cx="7950827" cy="0"/>
          </a:xfrm>
          <a:prstGeom prst="line">
            <a:avLst/>
          </a:prstGeom>
        </p:spPr>
        <p:style>
          <a:lnRef idx="1">
            <a:schemeClr val="accent3"/>
          </a:lnRef>
          <a:fillRef idx="0">
            <a:schemeClr val="accent3"/>
          </a:fillRef>
          <a:effectRef idx="0">
            <a:schemeClr val="accent3"/>
          </a:effectRef>
          <a:fontRef idx="minor">
            <a:schemeClr val="tx1"/>
          </a:fontRef>
        </p:style>
      </p:cxnSp>
      <p:sp>
        <p:nvSpPr>
          <p:cNvPr id="10" name="灯片编号占位符 9">
            <a:extLst>
              <a:ext uri="{FF2B5EF4-FFF2-40B4-BE49-F238E27FC236}">
                <a16:creationId xmlns:a16="http://schemas.microsoft.com/office/drawing/2014/main" id="{6A396BDF-E325-4D65-8CEE-C03489FA7CF0}"/>
              </a:ext>
            </a:extLst>
          </p:cNvPr>
          <p:cNvSpPr>
            <a:spLocks noGrp="1"/>
          </p:cNvSpPr>
          <p:nvPr>
            <p:ph type="sldNum" sz="quarter" idx="12"/>
          </p:nvPr>
        </p:nvSpPr>
        <p:spPr/>
        <p:txBody>
          <a:bodyPr/>
          <a:lstStyle/>
          <a:p>
            <a:fld id="{CCBA9D17-A0D3-409F-BFF9-E5BAE63FEE36}" type="slidenum">
              <a:rPr lang="zh-CN" altLang="en-US" smtClean="0"/>
              <a:pPr/>
              <a:t>4</a:t>
            </a:fld>
            <a:endParaRPr lang="zh-CN" altLang="en-US" dirty="0"/>
          </a:p>
        </p:txBody>
      </p:sp>
      <p:pic>
        <p:nvPicPr>
          <p:cNvPr id="12" name="图片 11">
            <a:extLst>
              <a:ext uri="{FF2B5EF4-FFF2-40B4-BE49-F238E27FC236}">
                <a16:creationId xmlns:a16="http://schemas.microsoft.com/office/drawing/2014/main" id="{003410F2-AF37-DD1B-83A1-03AC26C9C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67" y="1376407"/>
            <a:ext cx="10526308" cy="4674181"/>
          </a:xfrm>
          <a:prstGeom prst="rect">
            <a:avLst/>
          </a:prstGeom>
        </p:spPr>
      </p:pic>
    </p:spTree>
    <p:extLst>
      <p:ext uri="{BB962C8B-B14F-4D97-AF65-F5344CB8AC3E}">
        <p14:creationId xmlns:p14="http://schemas.microsoft.com/office/powerpoint/2010/main" val="17785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C632-95C9-B396-CF85-562A30223720}"/>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12496C48-D062-D456-3968-AB6511DD6228}"/>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06BF2E6-ACA1-5C28-BF30-8FDDEF05A572}"/>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Arduino + STM32</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for acquisition/control</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Multi-sensor integration via I2C</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and related interfaces</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02202D3D-2508-B0C6-6654-F5E956CCAC6C}"/>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F48AF33-2B37-90DD-0159-CD468A6B9543}"/>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0F683DB-F708-C885-6687-AFEC5964D725}"/>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20174A96-5345-1775-B3B4-92E07A4D92F5}"/>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Iterative testing under realistic motion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Prioritized repeatability over one-off demos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Logged issues/failure cases to drive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388C2FCE-F7F7-EC15-45DB-8D16D5571511}"/>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D9B45B4-B26A-359E-2F4A-3E16D8369066}"/>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B23B566-5795-BFD4-67BC-F85DFF093E26}"/>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A4992659-0E6D-F4CE-7B2A-30B53670AD2E}"/>
              </a:ext>
            </a:extLst>
          </p:cNvPr>
          <p:cNvSpPr txBox="1"/>
          <p:nvPr/>
        </p:nvSpPr>
        <p:spPr>
          <a:xfrm flipH="1">
            <a:off x="452511" y="2419288"/>
            <a:ext cx="3560055" cy="1019253"/>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Wearable sensing for motion/load monitoring under realistic movement, emphasizing stable data acquisition.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D50BF15-0E82-2651-7FEA-229CCE0272A4}"/>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748B1C3-1974-77D8-202B-64287258C1A8}"/>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AD9B8DFD-869B-5363-9E4C-6FA69810F6D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FDEEF483-119D-CE24-6FB0-EB847A78A379}"/>
              </a:ext>
            </a:extLst>
          </p:cNvPr>
          <p:cNvSpPr txBox="1"/>
          <p:nvPr/>
        </p:nvSpPr>
        <p:spPr>
          <a:xfrm flipH="1">
            <a:off x="314324" y="4936902"/>
            <a:ext cx="3683550"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planning &amp; system architecture</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PCB/circuit design; component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Integration and bring-up across HW/FW/comm</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483F4DA3-7677-506B-04B7-5A26EAC2A54E}"/>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C08F736-BC47-8A57-FDED-C7833AFB225C}"/>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8279C9E-E472-1955-B695-CE49315743CF}"/>
              </a:ext>
            </a:extLst>
          </p:cNvPr>
          <p:cNvPicPr>
            <a:picLocks noChangeAspect="1"/>
          </p:cNvPicPr>
          <p:nvPr/>
        </p:nvPicPr>
        <p:blipFill>
          <a:blip r:embed="rId3">
            <a:extLst>
              <a:ext uri="{28A0092B-C50C-407E-A947-70E740481C1C}">
                <a14:useLocalDpi xmlns:a14="http://schemas.microsoft.com/office/drawing/2010/main" val="0"/>
              </a:ext>
            </a:extLst>
          </a:blip>
          <a:srcRect l="9954" r="9954"/>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EF681545-1FF7-BE13-AAA3-C5AC6549917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61293AA-B411-41A5-1C84-5629CB5FF608}"/>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1: Wearable leg-guard sensing system</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CB0CC31E-4953-67C9-E44A-659A18CC2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80C13F10-1798-086F-52D7-5C975CE04BA1}"/>
              </a:ext>
            </a:extLst>
          </p:cNvPr>
          <p:cNvSpPr>
            <a:spLocks noGrp="1"/>
          </p:cNvSpPr>
          <p:nvPr>
            <p:ph type="sldNum" sz="quarter" idx="12"/>
          </p:nvPr>
        </p:nvSpPr>
        <p:spPr/>
        <p:txBody>
          <a:bodyPr/>
          <a:lstStyle/>
          <a:p>
            <a:fld id="{CCBA9D17-A0D3-409F-BFF9-E5BAE63FEE36}" type="slidenum">
              <a:rPr lang="zh-CN" altLang="en-US" smtClean="0"/>
              <a:pPr/>
              <a:t>5</a:t>
            </a:fld>
            <a:endParaRPr lang="zh-CN" altLang="en-US" dirty="0"/>
          </a:p>
        </p:txBody>
      </p:sp>
    </p:spTree>
    <p:extLst>
      <p:ext uri="{BB962C8B-B14F-4D97-AF65-F5344CB8AC3E}">
        <p14:creationId xmlns:p14="http://schemas.microsoft.com/office/powerpoint/2010/main" val="12443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0D21-8499-2EFB-58AE-8D20F5536B94}"/>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D9E56090-DD5E-E027-522E-E7ABB2258EAD}"/>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5E8E9F8-90C7-CBC6-0459-D6852850E0B9}"/>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Mechanism + detailed part design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Manufacturing/assembly constraints considered early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14B0BA6C-317E-C52C-A30D-88931559D3C5}"/>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B2C624-3635-B406-88D5-119CC97D6268}"/>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7061482-0822-AE01-BB9D-443E4C05FB70}"/>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FFCD784C-2C9E-A10C-0B5D-9F197B619707}"/>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Prototype feedback: tolerances, interference, robustness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Iterated geometry and interfaces accordingly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FB40112D-F869-2DD9-C127-7AAA045499D3}"/>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8B70C3B-C7B1-0943-C43C-D0B9C32B7BCD}"/>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31E2E1B-A4C9-9AC2-07A3-EE8C039EFB5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226E12BC-52E4-F1F5-431A-01447A35435C}"/>
              </a:ext>
            </a:extLst>
          </p:cNvPr>
          <p:cNvSpPr txBox="1"/>
          <p:nvPr/>
        </p:nvSpPr>
        <p:spPr>
          <a:xfrm flipH="1">
            <a:off x="452511" y="2419288"/>
            <a:ext cx="3560055" cy="699166"/>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End-to-end mechanical design and prototyping of a Delta parallel robot.</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BE2889F-845C-6565-7616-58D6106B6ED1}"/>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B0B832-7AF1-ABF3-0632-430CFB1585AD}"/>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02EA957E-C623-0744-5D2B-8D396FAD2767}"/>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8D2F1C3F-F065-951C-9C0D-4E5AA7CD1031}"/>
              </a:ext>
            </a:extLst>
          </p:cNvPr>
          <p:cNvSpPr txBox="1"/>
          <p:nvPr/>
        </p:nvSpPr>
        <p:spPr>
          <a:xfrm flipH="1">
            <a:off x="314324" y="4936902"/>
            <a:ext cx="3683550" cy="1659429"/>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 owned requirements, timeline, and integration decisions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SolidWorks modeling</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Planning and parts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3D printing and assembly;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A7A36CE2-51E7-C4D9-7CE6-09463D55B264}"/>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C0A2D47-DDE2-2F17-5E8F-5800BCF90AB5}"/>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3F083B1-4590-4271-7044-A0CE7D12A541}"/>
              </a:ext>
            </a:extLst>
          </p:cNvPr>
          <p:cNvPicPr>
            <a:picLocks noChangeAspect="1"/>
          </p:cNvPicPr>
          <p:nvPr/>
        </p:nvPicPr>
        <p:blipFill>
          <a:blip r:embed="rId3">
            <a:extLst>
              <a:ext uri="{28A0092B-C50C-407E-A947-70E740481C1C}">
                <a14:useLocalDpi xmlns:a14="http://schemas.microsoft.com/office/drawing/2010/main" val="0"/>
              </a:ext>
            </a:extLst>
          </a:blip>
          <a:srcRect l="3517" r="3517"/>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2067CD13-A3DC-90C6-4DC9-EE0053EFD4B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B401585-DE1E-D4AC-3873-CC7ADB0429B1}"/>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2: 3-DOF Delta robot (mechanical capstone)</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3E3F20EB-C479-73A4-F44A-7D6AF14D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DA8DF10C-7D89-6048-E12E-B8399AA2CF02}"/>
              </a:ext>
            </a:extLst>
          </p:cNvPr>
          <p:cNvSpPr>
            <a:spLocks noGrp="1"/>
          </p:cNvSpPr>
          <p:nvPr>
            <p:ph type="sldNum" sz="quarter" idx="12"/>
          </p:nvPr>
        </p:nvSpPr>
        <p:spPr/>
        <p:txBody>
          <a:bodyPr/>
          <a:lstStyle/>
          <a:p>
            <a:fld id="{CCBA9D17-A0D3-409F-BFF9-E5BAE63FEE36}" type="slidenum">
              <a:rPr lang="zh-CN" altLang="en-US" smtClean="0"/>
              <a:pPr/>
              <a:t>6</a:t>
            </a:fld>
            <a:endParaRPr lang="zh-CN" altLang="en-US" dirty="0"/>
          </a:p>
        </p:txBody>
      </p:sp>
    </p:spTree>
    <p:extLst>
      <p:ext uri="{BB962C8B-B14F-4D97-AF65-F5344CB8AC3E}">
        <p14:creationId xmlns:p14="http://schemas.microsoft.com/office/powerpoint/2010/main" val="409156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F45-C54A-DA98-362A-9580207EA73A}"/>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3BFA182E-F3D1-0072-03B4-D7AF11DF3441}"/>
              </a:ext>
            </a:extLst>
          </p:cNvPr>
          <p:cNvSpPr txBox="1"/>
          <p:nvPr/>
        </p:nvSpPr>
        <p:spPr>
          <a:xfrm>
            <a:off x="8139511" y="1970462"/>
            <a:ext cx="2804714"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Current progress</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34C008C4-49DA-24C4-7C99-F8E0759D95D3}"/>
              </a:ext>
            </a:extLst>
          </p:cNvPr>
          <p:cNvSpPr txBox="1"/>
          <p:nvPr/>
        </p:nvSpPr>
        <p:spPr>
          <a:xfrm>
            <a:off x="8139508" y="2419288"/>
            <a:ext cx="3890567" cy="1963614"/>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Surveyed workflows + established a first working pipeline</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Segmentation → centerline extraction → centerline-driven representation/rendering</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Defined output schema (tree/branch structure) for consistent experiments</a:t>
            </a:r>
          </a:p>
        </p:txBody>
      </p:sp>
      <p:cxnSp>
        <p:nvCxnSpPr>
          <p:cNvPr id="26" name="直接连接符 25">
            <a:extLst>
              <a:ext uri="{FF2B5EF4-FFF2-40B4-BE49-F238E27FC236}">
                <a16:creationId xmlns:a16="http://schemas.microsoft.com/office/drawing/2014/main" id="{C1D269BB-E790-8587-FCC8-CBA53925E14E}"/>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9ABBD6F-F6AC-D949-E7DB-95CE70D4EF9B}"/>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824CBDC-5731-C1E5-FD85-A2F6ED754121}"/>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Next phase</a:t>
            </a:r>
          </a:p>
        </p:txBody>
      </p:sp>
      <p:sp>
        <p:nvSpPr>
          <p:cNvPr id="43" name="文本框 42">
            <a:extLst>
              <a:ext uri="{FF2B5EF4-FFF2-40B4-BE49-F238E27FC236}">
                <a16:creationId xmlns:a16="http://schemas.microsoft.com/office/drawing/2014/main" id="{E767FC74-4AA6-AC98-1E71-332E621EF58C}"/>
              </a:ext>
            </a:extLst>
          </p:cNvPr>
          <p:cNvSpPr txBox="1"/>
          <p:nvPr/>
        </p:nvSpPr>
        <p:spPr>
          <a:xfrm>
            <a:off x="7449857" y="4944965"/>
            <a:ext cx="4683703" cy="1979516"/>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Incorporate hospital data constraints and clinical feedback loops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Anatomically consistent labeling (segment-level) for standardization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Evaluation aligned with navigation/decision support (robustness + usability)</a:t>
            </a:r>
          </a:p>
        </p:txBody>
      </p:sp>
      <p:cxnSp>
        <p:nvCxnSpPr>
          <p:cNvPr id="44" name="直接连接符 43">
            <a:extLst>
              <a:ext uri="{FF2B5EF4-FFF2-40B4-BE49-F238E27FC236}">
                <a16:creationId xmlns:a16="http://schemas.microsoft.com/office/drawing/2014/main" id="{488513A3-A621-C328-40A5-2A2071D1B604}"/>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0D6625-59F3-5B75-3939-E1BF955EEF82}"/>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5BA89668-1F97-D627-D12A-0E8E41AFBA6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8A82FFE1-8FEA-D38E-0F9F-1626566AD404}"/>
              </a:ext>
            </a:extLst>
          </p:cNvPr>
          <p:cNvSpPr txBox="1"/>
          <p:nvPr/>
        </p:nvSpPr>
        <p:spPr>
          <a:xfrm flipH="1">
            <a:off x="452511" y="2419288"/>
            <a:ext cx="3560055" cy="1339341"/>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Build a reconstruction/modeling pipeline with long-term relevance to clinically grounded workflows and evaluation.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269AEABB-612B-BD0A-748A-962AC0CAB99B}"/>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244E2C-E8C7-DC5B-7971-EBC2D0E09641}"/>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27E42079-D28D-BA12-51DB-AADA5EFCD3E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995322D0-6160-5E6F-9FCA-8E44C3138D6C}"/>
              </a:ext>
            </a:extLst>
          </p:cNvPr>
          <p:cNvSpPr txBox="1"/>
          <p:nvPr/>
        </p:nvSpPr>
        <p:spPr>
          <a:xfrm flipH="1">
            <a:off x="-1" y="4936902"/>
            <a:ext cx="4639983"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&amp; upstream workflow owner (problem framing, milestones, interface definitions)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Built the pipeline end-to-end and standardized outputs for evaluation and downstream use</a:t>
            </a:r>
          </a:p>
        </p:txBody>
      </p:sp>
      <p:cxnSp>
        <p:nvCxnSpPr>
          <p:cNvPr id="66" name="直接连接符 65">
            <a:extLst>
              <a:ext uri="{FF2B5EF4-FFF2-40B4-BE49-F238E27FC236}">
                <a16:creationId xmlns:a16="http://schemas.microsoft.com/office/drawing/2014/main" id="{54E15825-712B-BB5C-F626-45384AF5E8F8}"/>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8B1239-E28D-7937-185B-BA59AABC3568}"/>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318D0A37-4FC1-9EC2-46FC-AD23EB006CD7}"/>
              </a:ext>
            </a:extLst>
          </p:cNvPr>
          <p:cNvPicPr>
            <a:picLocks noChangeAspect="1"/>
          </p:cNvPicPr>
          <p:nvPr/>
        </p:nvPicPr>
        <p:blipFill>
          <a:blip r:embed="rId3">
            <a:extLst>
              <a:ext uri="{28A0092B-C50C-407E-A947-70E740481C1C}">
                <a14:useLocalDpi xmlns:a14="http://schemas.microsoft.com/office/drawing/2010/main" val="0"/>
              </a:ext>
            </a:extLst>
          </a:blip>
          <a:srcRect l="5556" r="5556"/>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6D270B45-AD77-6E66-29FE-133E40F796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0AABAB3-FEF5-CF6D-410D-A6E3FF760A75}"/>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Ongoing research: coronary reconstruction pipeline</a:t>
            </a:r>
          </a:p>
        </p:txBody>
      </p:sp>
      <p:pic>
        <p:nvPicPr>
          <p:cNvPr id="32" name="图片 31" descr="黑白色的标志&#10;&#10;中度可信度描述已自动生成">
            <a:extLst>
              <a:ext uri="{FF2B5EF4-FFF2-40B4-BE49-F238E27FC236}">
                <a16:creationId xmlns:a16="http://schemas.microsoft.com/office/drawing/2014/main" id="{3825185A-C443-9957-327F-0A38631DD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C3FD90BE-E38E-A6C1-5901-2FA4EF3EAB76}"/>
              </a:ext>
            </a:extLst>
          </p:cNvPr>
          <p:cNvSpPr>
            <a:spLocks noGrp="1"/>
          </p:cNvSpPr>
          <p:nvPr>
            <p:ph type="sldNum" sz="quarter" idx="12"/>
          </p:nvPr>
        </p:nvSpPr>
        <p:spPr/>
        <p:txBody>
          <a:bodyPr/>
          <a:lstStyle/>
          <a:p>
            <a:fld id="{CCBA9D17-A0D3-409F-BFF9-E5BAE63FEE36}" type="slidenum">
              <a:rPr lang="zh-CN" altLang="en-US" smtClean="0"/>
              <a:pPr/>
              <a:t>7</a:t>
            </a:fld>
            <a:endParaRPr lang="zh-CN" altLang="en-US" dirty="0"/>
          </a:p>
        </p:txBody>
      </p:sp>
    </p:spTree>
    <p:extLst>
      <p:ext uri="{BB962C8B-B14F-4D97-AF65-F5344CB8AC3E}">
        <p14:creationId xmlns:p14="http://schemas.microsoft.com/office/powerpoint/2010/main" val="2481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C31B-CC64-1517-43D2-3E4687F240D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D21B0E16-42DD-9078-3EAF-E2DC7ED825C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0A28BEE6-6766-8F84-515F-3AED55B0C66B}"/>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Vessel_seg:</a:t>
            </a:r>
            <a:r>
              <a:rPr lang="zh-CN" altLang="en-US" sz="2400" b="1" dirty="0">
                <a:solidFill>
                  <a:schemeClr val="accent1"/>
                </a:solidFill>
                <a:latin typeface="+mj-ea"/>
                <a:ea typeface="+mj-ea"/>
              </a:rPr>
              <a:t> </a:t>
            </a:r>
            <a:r>
              <a:rPr lang="en-US" altLang="zh-CN" sz="2400" b="1" dirty="0">
                <a:solidFill>
                  <a:schemeClr val="accent1"/>
                </a:solidFill>
                <a:latin typeface="+mj-ea"/>
                <a:ea typeface="+mj-ea"/>
              </a:rPr>
              <a:t>Research Progress</a:t>
            </a:r>
          </a:p>
        </p:txBody>
      </p:sp>
      <p:pic>
        <p:nvPicPr>
          <p:cNvPr id="32" name="图片 31" descr="黑白色的标志&#10;&#10;中度可信度描述已自动生成">
            <a:extLst>
              <a:ext uri="{FF2B5EF4-FFF2-40B4-BE49-F238E27FC236}">
                <a16:creationId xmlns:a16="http://schemas.microsoft.com/office/drawing/2014/main" id="{7F84F326-6EA2-616F-9B1D-601F4089B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03131F1E-458F-E62E-758D-8FF607AF0B48}"/>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6" name="Picture 2" descr="image.png">
            <a:extLst>
              <a:ext uri="{FF2B5EF4-FFF2-40B4-BE49-F238E27FC236}">
                <a16:creationId xmlns:a16="http://schemas.microsoft.com/office/drawing/2014/main" id="{2F885141-12A3-E9DD-93C6-D99BE2869628}"/>
              </a:ext>
            </a:extLst>
          </p:cNvPr>
          <p:cNvPicPr>
            <a:picLocks noChangeAspect="1"/>
          </p:cNvPicPr>
          <p:nvPr/>
        </p:nvPicPr>
        <p:blipFill>
          <a:blip r:embed="rId4"/>
          <a:stretch>
            <a:fillRect/>
          </a:stretch>
        </p:blipFill>
        <p:spPr>
          <a:xfrm>
            <a:off x="576775" y="1623316"/>
            <a:ext cx="11038449" cy="4366693"/>
          </a:xfrm>
          <a:prstGeom prst="rect">
            <a:avLst/>
          </a:prstGeom>
        </p:spPr>
      </p:pic>
    </p:spTree>
    <p:extLst>
      <p:ext uri="{BB962C8B-B14F-4D97-AF65-F5344CB8AC3E}">
        <p14:creationId xmlns:p14="http://schemas.microsoft.com/office/powerpoint/2010/main" val="264406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6472-23D8-279C-CF80-2C286E2E3627}"/>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3BBA105F-30D7-564C-95F8-6E3E48E9E6EB}"/>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4004811-2535-DEDB-D876-37A76E4C0F6D}"/>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Step1 Segmentation: Normal_1</a:t>
            </a:r>
          </a:p>
        </p:txBody>
      </p:sp>
      <p:pic>
        <p:nvPicPr>
          <p:cNvPr id="32" name="图片 31" descr="黑白色的标志&#10;&#10;中度可信度描述已自动生成">
            <a:extLst>
              <a:ext uri="{FF2B5EF4-FFF2-40B4-BE49-F238E27FC236}">
                <a16:creationId xmlns:a16="http://schemas.microsoft.com/office/drawing/2014/main" id="{895463AD-2713-9BDE-4880-3661F55A4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B86EA908-EA4E-17F8-C831-995B7E7F09F2}"/>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3" name="Picture 4" descr="image.png">
            <a:extLst>
              <a:ext uri="{FF2B5EF4-FFF2-40B4-BE49-F238E27FC236}">
                <a16:creationId xmlns:a16="http://schemas.microsoft.com/office/drawing/2014/main" id="{0F285532-E91C-9731-0467-28E91D9FA13E}"/>
              </a:ext>
            </a:extLst>
          </p:cNvPr>
          <p:cNvPicPr>
            <a:picLocks noChangeAspect="1"/>
          </p:cNvPicPr>
          <p:nvPr/>
        </p:nvPicPr>
        <p:blipFill>
          <a:blip r:embed="rId4"/>
          <a:stretch>
            <a:fillRect/>
          </a:stretch>
        </p:blipFill>
        <p:spPr>
          <a:xfrm>
            <a:off x="-447339" y="2250041"/>
            <a:ext cx="11569578" cy="3490830"/>
          </a:xfrm>
          <a:prstGeom prst="rect">
            <a:avLst/>
          </a:prstGeom>
        </p:spPr>
      </p:pic>
      <p:sp>
        <p:nvSpPr>
          <p:cNvPr id="2" name="TextBox 3">
            <a:extLst>
              <a:ext uri="{FF2B5EF4-FFF2-40B4-BE49-F238E27FC236}">
                <a16:creationId xmlns:a16="http://schemas.microsoft.com/office/drawing/2014/main" id="{4B1995F7-0FA9-F32B-FFE2-8BA9048C3F0B}"/>
              </a:ext>
            </a:extLst>
          </p:cNvPr>
          <p:cNvSpPr txBox="1"/>
          <p:nvPr/>
        </p:nvSpPr>
        <p:spPr>
          <a:xfrm>
            <a:off x="9009698" y="1117130"/>
            <a:ext cx="3383280" cy="3474720"/>
          </a:xfrm>
          <a:prstGeom prst="rect">
            <a:avLst/>
          </a:prstGeom>
          <a:noFill/>
        </p:spPr>
        <p:txBody>
          <a:bodyPr wrap="square">
            <a:spAutoFit/>
          </a:bodyPr>
          <a:lstStyle/>
          <a:p>
            <a:pPr>
              <a:spcAft>
                <a:spcPts val="1200"/>
              </a:spcAft>
              <a:defRPr sz="1700">
                <a:latin typeface="Calibri"/>
              </a:defRPr>
            </a:pPr>
            <a:r>
              <a:rPr dirty="0"/>
              <a:t>Dice = 0.8450</a:t>
            </a:r>
          </a:p>
          <a:p>
            <a:pPr>
              <a:spcAft>
                <a:spcPts val="1200"/>
              </a:spcAft>
              <a:defRPr sz="1700">
                <a:latin typeface="Calibri"/>
              </a:defRPr>
            </a:pPr>
            <a:r>
              <a:rPr dirty="0"/>
              <a:t>HD95 = 0.625 mm</a:t>
            </a:r>
          </a:p>
          <a:p>
            <a:pPr>
              <a:spcAft>
                <a:spcPts val="1200"/>
              </a:spcAft>
              <a:defRPr sz="1700">
                <a:latin typeface="Calibri"/>
              </a:defRPr>
            </a:pPr>
            <a:r>
              <a:rPr dirty="0"/>
              <a:t>Interpretation: strong upstream quality for downstream steps</a:t>
            </a:r>
          </a:p>
        </p:txBody>
      </p:sp>
    </p:spTree>
    <p:extLst>
      <p:ext uri="{BB962C8B-B14F-4D97-AF65-F5344CB8AC3E}">
        <p14:creationId xmlns:p14="http://schemas.microsoft.com/office/powerpoint/2010/main" val="6891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E554-D915-A807-BCBB-BC58A0BDDAD4}"/>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B0DDCAA4-2C06-F976-8D85-776DF36F2278}"/>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FC82BF47-36B5-3CEA-EE10-C6C1F2F435A3}"/>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Step1 Segmentation: Normal_2</a:t>
            </a:r>
          </a:p>
        </p:txBody>
      </p:sp>
      <p:pic>
        <p:nvPicPr>
          <p:cNvPr id="32" name="图片 31" descr="黑白色的标志&#10;&#10;中度可信度描述已自动生成">
            <a:extLst>
              <a:ext uri="{FF2B5EF4-FFF2-40B4-BE49-F238E27FC236}">
                <a16:creationId xmlns:a16="http://schemas.microsoft.com/office/drawing/2014/main" id="{1E327170-AB21-EBE1-DF30-83E26C797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15F32847-AC75-0857-7C1B-372394EB4010}"/>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6" name="Picture 4" descr="image.png">
            <a:extLst>
              <a:ext uri="{FF2B5EF4-FFF2-40B4-BE49-F238E27FC236}">
                <a16:creationId xmlns:a16="http://schemas.microsoft.com/office/drawing/2014/main" id="{2A8E3655-36E8-8D79-D269-2EB8877B8C44}"/>
              </a:ext>
            </a:extLst>
          </p:cNvPr>
          <p:cNvPicPr>
            <a:picLocks noChangeAspect="1"/>
          </p:cNvPicPr>
          <p:nvPr/>
        </p:nvPicPr>
        <p:blipFill>
          <a:blip r:embed="rId4"/>
          <a:stretch>
            <a:fillRect/>
          </a:stretch>
        </p:blipFill>
        <p:spPr>
          <a:xfrm>
            <a:off x="-260615" y="2420723"/>
            <a:ext cx="12452615" cy="3754046"/>
          </a:xfrm>
          <a:prstGeom prst="rect">
            <a:avLst/>
          </a:prstGeom>
        </p:spPr>
      </p:pic>
      <p:sp>
        <p:nvSpPr>
          <p:cNvPr id="5" name="TextBox 3">
            <a:extLst>
              <a:ext uri="{FF2B5EF4-FFF2-40B4-BE49-F238E27FC236}">
                <a16:creationId xmlns:a16="http://schemas.microsoft.com/office/drawing/2014/main" id="{EACBFBBD-B8E5-18DB-6778-9E669A722300}"/>
              </a:ext>
            </a:extLst>
          </p:cNvPr>
          <p:cNvSpPr txBox="1"/>
          <p:nvPr/>
        </p:nvSpPr>
        <p:spPr>
          <a:xfrm>
            <a:off x="9164288" y="816136"/>
            <a:ext cx="3383280" cy="3474720"/>
          </a:xfrm>
          <a:prstGeom prst="rect">
            <a:avLst/>
          </a:prstGeom>
          <a:noFill/>
        </p:spPr>
        <p:txBody>
          <a:bodyPr wrap="square">
            <a:spAutoFit/>
          </a:bodyPr>
          <a:lstStyle/>
          <a:p>
            <a:pPr>
              <a:spcAft>
                <a:spcPts val="1200"/>
              </a:spcAft>
              <a:defRPr sz="1700">
                <a:latin typeface="Calibri"/>
              </a:defRPr>
            </a:pPr>
            <a:r>
              <a:rPr dirty="0"/>
              <a:t>Dice = 0.7274</a:t>
            </a:r>
          </a:p>
          <a:p>
            <a:pPr>
              <a:spcAft>
                <a:spcPts val="1200"/>
              </a:spcAft>
              <a:defRPr sz="1700">
                <a:latin typeface="Calibri"/>
              </a:defRPr>
            </a:pPr>
            <a:r>
              <a:rPr dirty="0"/>
              <a:t>HD95 = 10.2556 mm</a:t>
            </a:r>
          </a:p>
          <a:p>
            <a:pPr>
              <a:spcAft>
                <a:spcPts val="1200"/>
              </a:spcAft>
              <a:defRPr sz="1700">
                <a:latin typeface="Calibri"/>
              </a:defRPr>
            </a:pPr>
            <a:r>
              <a:rPr dirty="0"/>
              <a:t>Main bottleneck: segmentation quality variance</a:t>
            </a:r>
          </a:p>
        </p:txBody>
      </p:sp>
    </p:spTree>
    <p:extLst>
      <p:ext uri="{BB962C8B-B14F-4D97-AF65-F5344CB8AC3E}">
        <p14:creationId xmlns:p14="http://schemas.microsoft.com/office/powerpoint/2010/main" val="3409689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EE23-5F1C-C734-1C4F-2F08D05CD19C}"/>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C4E54DAE-A34E-FA16-90A6-0D09F70B7CF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3A03E8D-8F11-E7C1-BFBB-249FB97D6037}"/>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Step3 Centerline Comparison</a:t>
            </a:r>
          </a:p>
        </p:txBody>
      </p:sp>
      <p:pic>
        <p:nvPicPr>
          <p:cNvPr id="32" name="图片 31" descr="黑白色的标志&#10;&#10;中度可信度描述已自动生成">
            <a:extLst>
              <a:ext uri="{FF2B5EF4-FFF2-40B4-BE49-F238E27FC236}">
                <a16:creationId xmlns:a16="http://schemas.microsoft.com/office/drawing/2014/main" id="{050C8A91-7CBE-F7A1-8439-24FE8021AA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96EDF34E-FA31-D96E-28A1-F98B1C288F99}"/>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2" name="Picture 2" descr="image.png">
            <a:extLst>
              <a:ext uri="{FF2B5EF4-FFF2-40B4-BE49-F238E27FC236}">
                <a16:creationId xmlns:a16="http://schemas.microsoft.com/office/drawing/2014/main" id="{50A99140-5831-F7F2-CC0D-21C9141C91BF}"/>
              </a:ext>
            </a:extLst>
          </p:cNvPr>
          <p:cNvPicPr>
            <a:picLocks noChangeAspect="1"/>
          </p:cNvPicPr>
          <p:nvPr/>
        </p:nvPicPr>
        <p:blipFill>
          <a:blip r:embed="rId4"/>
          <a:stretch>
            <a:fillRect/>
          </a:stretch>
        </p:blipFill>
        <p:spPr>
          <a:xfrm>
            <a:off x="426720" y="1366269"/>
            <a:ext cx="5669280" cy="4536183"/>
          </a:xfrm>
          <a:prstGeom prst="rect">
            <a:avLst/>
          </a:prstGeom>
        </p:spPr>
      </p:pic>
      <p:pic>
        <p:nvPicPr>
          <p:cNvPr id="3" name="Picture 3" descr="image.png">
            <a:extLst>
              <a:ext uri="{FF2B5EF4-FFF2-40B4-BE49-F238E27FC236}">
                <a16:creationId xmlns:a16="http://schemas.microsoft.com/office/drawing/2014/main" id="{34872408-38BD-933A-4E8C-955D8AC79D11}"/>
              </a:ext>
            </a:extLst>
          </p:cNvPr>
          <p:cNvPicPr>
            <a:picLocks noChangeAspect="1"/>
          </p:cNvPicPr>
          <p:nvPr/>
        </p:nvPicPr>
        <p:blipFill>
          <a:blip r:embed="rId5"/>
          <a:stretch>
            <a:fillRect/>
          </a:stretch>
        </p:blipFill>
        <p:spPr>
          <a:xfrm>
            <a:off x="6215605" y="1366268"/>
            <a:ext cx="5486400" cy="4536183"/>
          </a:xfrm>
          <a:prstGeom prst="rect">
            <a:avLst/>
          </a:prstGeom>
        </p:spPr>
      </p:pic>
    </p:spTree>
    <p:extLst>
      <p:ext uri="{BB962C8B-B14F-4D97-AF65-F5344CB8AC3E}">
        <p14:creationId xmlns:p14="http://schemas.microsoft.com/office/powerpoint/2010/main" val="132336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A240-0AFE-5026-164C-EDA6544D69F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3293A82D-3BC8-B6E7-A581-60958181F752}"/>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F09BB4C5-BC8E-C4F0-C9EA-F47E3027A949}"/>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Key Engineering Fix: Repair Topology</a:t>
            </a:r>
          </a:p>
        </p:txBody>
      </p:sp>
      <p:pic>
        <p:nvPicPr>
          <p:cNvPr id="32" name="图片 31" descr="黑白色的标志&#10;&#10;中度可信度描述已自动生成">
            <a:extLst>
              <a:ext uri="{FF2B5EF4-FFF2-40B4-BE49-F238E27FC236}">
                <a16:creationId xmlns:a16="http://schemas.microsoft.com/office/drawing/2014/main" id="{82C19BAE-B417-873A-3B0A-9CEF2C19D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B104962F-19F0-20B8-2BAC-5D963544CEB7}"/>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5" name="Picture 4" descr="image.png">
            <a:extLst>
              <a:ext uri="{FF2B5EF4-FFF2-40B4-BE49-F238E27FC236}">
                <a16:creationId xmlns:a16="http://schemas.microsoft.com/office/drawing/2014/main" id="{0A4A4887-8F21-CA6F-8E1A-F5B8D19F3184}"/>
              </a:ext>
            </a:extLst>
          </p:cNvPr>
          <p:cNvPicPr>
            <a:picLocks noChangeAspect="1"/>
          </p:cNvPicPr>
          <p:nvPr/>
        </p:nvPicPr>
        <p:blipFill>
          <a:blip r:embed="rId4"/>
          <a:stretch>
            <a:fillRect/>
          </a:stretch>
        </p:blipFill>
        <p:spPr>
          <a:xfrm>
            <a:off x="452511" y="1795169"/>
            <a:ext cx="9022080" cy="4630845"/>
          </a:xfrm>
          <a:prstGeom prst="rect">
            <a:avLst/>
          </a:prstGeom>
        </p:spPr>
      </p:pic>
      <p:sp>
        <p:nvSpPr>
          <p:cNvPr id="6" name="TextBox 3">
            <a:extLst>
              <a:ext uri="{FF2B5EF4-FFF2-40B4-BE49-F238E27FC236}">
                <a16:creationId xmlns:a16="http://schemas.microsoft.com/office/drawing/2014/main" id="{8CFFC302-1096-07FE-608C-9400B44E4285}"/>
              </a:ext>
            </a:extLst>
          </p:cNvPr>
          <p:cNvSpPr txBox="1"/>
          <p:nvPr/>
        </p:nvSpPr>
        <p:spPr>
          <a:xfrm>
            <a:off x="8189531" y="1218116"/>
            <a:ext cx="3749039" cy="4297680"/>
          </a:xfrm>
          <a:prstGeom prst="rect">
            <a:avLst/>
          </a:prstGeom>
          <a:noFill/>
        </p:spPr>
        <p:txBody>
          <a:bodyPr wrap="square">
            <a:spAutoFit/>
          </a:bodyPr>
          <a:lstStyle/>
          <a:p>
            <a:pPr>
              <a:spcAft>
                <a:spcPts val="1200"/>
              </a:spcAft>
              <a:defRPr sz="1600">
                <a:latin typeface="Calibri"/>
              </a:defRPr>
            </a:pPr>
            <a:r>
              <a:rPr dirty="0"/>
              <a:t>Root cause: duplicated endpoint points in VTP writer</a:t>
            </a:r>
          </a:p>
          <a:p>
            <a:pPr>
              <a:spcAft>
                <a:spcPts val="1200"/>
              </a:spcAft>
              <a:defRPr sz="1600">
                <a:latin typeface="Calibri"/>
              </a:defRPr>
            </a:pPr>
            <a:r>
              <a:rPr dirty="0"/>
              <a:t>Fix: merge coincident endpoints to shared point IDs</a:t>
            </a:r>
          </a:p>
          <a:p>
            <a:pPr>
              <a:spcAft>
                <a:spcPts val="1200"/>
              </a:spcAft>
              <a:defRPr sz="1600">
                <a:latin typeface="Calibri"/>
              </a:defRPr>
            </a:pPr>
            <a:r>
              <a:rPr dirty="0"/>
              <a:t>Outcome: disconnected fragments -&gt; anatomically coherent components</a:t>
            </a:r>
          </a:p>
        </p:txBody>
      </p:sp>
    </p:spTree>
    <p:extLst>
      <p:ext uri="{BB962C8B-B14F-4D97-AF65-F5344CB8AC3E}">
        <p14:creationId xmlns:p14="http://schemas.microsoft.com/office/powerpoint/2010/main" val="3058062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6B933-80E0-72AF-8B5A-075F4B01F65A}"/>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27EDD8AA-689D-3C2C-975A-3235D5443FAC}"/>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059E900C-50D4-3138-592E-F896E5F495DF}"/>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Cross-case Quantitative Summary</a:t>
            </a:r>
          </a:p>
        </p:txBody>
      </p:sp>
      <p:pic>
        <p:nvPicPr>
          <p:cNvPr id="32" name="图片 31" descr="黑白色的标志&#10;&#10;中度可信度描述已自动生成">
            <a:extLst>
              <a:ext uri="{FF2B5EF4-FFF2-40B4-BE49-F238E27FC236}">
                <a16:creationId xmlns:a16="http://schemas.microsoft.com/office/drawing/2014/main" id="{6FAA974D-FDDA-975F-B50F-C5C159D2F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E6438CB8-2DB6-540A-2619-D54062CDB52A}"/>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2" name="Picture 2" descr="image.png">
            <a:extLst>
              <a:ext uri="{FF2B5EF4-FFF2-40B4-BE49-F238E27FC236}">
                <a16:creationId xmlns:a16="http://schemas.microsoft.com/office/drawing/2014/main" id="{0F91898A-9EC9-97B0-3FA9-A60EBEE12609}"/>
              </a:ext>
            </a:extLst>
          </p:cNvPr>
          <p:cNvPicPr>
            <a:picLocks noChangeAspect="1"/>
          </p:cNvPicPr>
          <p:nvPr/>
        </p:nvPicPr>
        <p:blipFill>
          <a:blip r:embed="rId4"/>
          <a:stretch>
            <a:fillRect/>
          </a:stretch>
        </p:blipFill>
        <p:spPr>
          <a:xfrm>
            <a:off x="823562" y="1472004"/>
            <a:ext cx="10332720" cy="4716874"/>
          </a:xfrm>
          <a:prstGeom prst="rect">
            <a:avLst/>
          </a:prstGeom>
        </p:spPr>
      </p:pic>
    </p:spTree>
    <p:extLst>
      <p:ext uri="{BB962C8B-B14F-4D97-AF65-F5344CB8AC3E}">
        <p14:creationId xmlns:p14="http://schemas.microsoft.com/office/powerpoint/2010/main" val="60584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76D1-BD11-C0DC-ACFA-3C51BFF3AC4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D1C9A77F-CF16-15E0-A09F-7D7B58616915}"/>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57823086-0F99-F91B-569D-11610240CB83}"/>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Step4 Feature Extraction</a:t>
            </a:r>
          </a:p>
        </p:txBody>
      </p:sp>
      <p:pic>
        <p:nvPicPr>
          <p:cNvPr id="32" name="图片 31" descr="黑白色的标志&#10;&#10;中度可信度描述已自动生成">
            <a:extLst>
              <a:ext uri="{FF2B5EF4-FFF2-40B4-BE49-F238E27FC236}">
                <a16:creationId xmlns:a16="http://schemas.microsoft.com/office/drawing/2014/main" id="{7A872F29-618D-AFA8-E994-54693B522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A68243B1-11EA-0DF6-098A-774BE9713A5E}"/>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3" name="Picture 2" descr="image.png">
            <a:extLst>
              <a:ext uri="{FF2B5EF4-FFF2-40B4-BE49-F238E27FC236}">
                <a16:creationId xmlns:a16="http://schemas.microsoft.com/office/drawing/2014/main" id="{568E85D0-DD2B-D7E5-DF7C-DE9B447EB0DF}"/>
              </a:ext>
            </a:extLst>
          </p:cNvPr>
          <p:cNvPicPr>
            <a:picLocks noChangeAspect="1"/>
          </p:cNvPicPr>
          <p:nvPr/>
        </p:nvPicPr>
        <p:blipFill>
          <a:blip r:embed="rId4"/>
          <a:stretch>
            <a:fillRect/>
          </a:stretch>
        </p:blipFill>
        <p:spPr>
          <a:xfrm>
            <a:off x="528706" y="1828800"/>
            <a:ext cx="5669280" cy="3307080"/>
          </a:xfrm>
          <a:prstGeom prst="rect">
            <a:avLst/>
          </a:prstGeom>
        </p:spPr>
      </p:pic>
      <p:pic>
        <p:nvPicPr>
          <p:cNvPr id="5" name="Picture 3" descr="image.png">
            <a:extLst>
              <a:ext uri="{FF2B5EF4-FFF2-40B4-BE49-F238E27FC236}">
                <a16:creationId xmlns:a16="http://schemas.microsoft.com/office/drawing/2014/main" id="{48DE9368-8DB3-958B-8070-07955D74F49D}"/>
              </a:ext>
            </a:extLst>
          </p:cNvPr>
          <p:cNvPicPr>
            <a:picLocks noChangeAspect="1"/>
          </p:cNvPicPr>
          <p:nvPr/>
        </p:nvPicPr>
        <p:blipFill>
          <a:blip r:embed="rId5"/>
          <a:stretch>
            <a:fillRect/>
          </a:stretch>
        </p:blipFill>
        <p:spPr>
          <a:xfrm>
            <a:off x="6291894" y="1935480"/>
            <a:ext cx="5486400" cy="3200400"/>
          </a:xfrm>
          <a:prstGeom prst="rect">
            <a:avLst/>
          </a:prstGeom>
        </p:spPr>
      </p:pic>
    </p:spTree>
    <p:extLst>
      <p:ext uri="{BB962C8B-B14F-4D97-AF65-F5344CB8AC3E}">
        <p14:creationId xmlns:p14="http://schemas.microsoft.com/office/powerpoint/2010/main" val="2547037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1EC8-5FB0-1C3D-F4F8-66D0ABE7876E}"/>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80C41070-CD1A-D29B-D5C9-8F92FEF9950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EFCC708-FDD1-C8AE-99A9-5A34A6ADB926}"/>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Current Risks and Following Weeks</a:t>
            </a:r>
          </a:p>
        </p:txBody>
      </p:sp>
      <p:pic>
        <p:nvPicPr>
          <p:cNvPr id="32" name="图片 31" descr="黑白色的标志&#10;&#10;中度可信度描述已自动生成">
            <a:extLst>
              <a:ext uri="{FF2B5EF4-FFF2-40B4-BE49-F238E27FC236}">
                <a16:creationId xmlns:a16="http://schemas.microsoft.com/office/drawing/2014/main" id="{C8B17454-F159-6EBE-8698-279252D988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4813AE6F-3768-EFC7-AAD6-7ADEDE5C4F6B}"/>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sp>
        <p:nvSpPr>
          <p:cNvPr id="2" name="TextBox 2">
            <a:extLst>
              <a:ext uri="{FF2B5EF4-FFF2-40B4-BE49-F238E27FC236}">
                <a16:creationId xmlns:a16="http://schemas.microsoft.com/office/drawing/2014/main" id="{CB010EE2-86BF-F0C5-08CB-6FAFA2E4B2AE}"/>
              </a:ext>
            </a:extLst>
          </p:cNvPr>
          <p:cNvSpPr txBox="1"/>
          <p:nvPr/>
        </p:nvSpPr>
        <p:spPr>
          <a:xfrm>
            <a:off x="659600" y="2185313"/>
            <a:ext cx="5303520" cy="457200"/>
          </a:xfrm>
          <a:prstGeom prst="rect">
            <a:avLst/>
          </a:prstGeom>
          <a:noFill/>
        </p:spPr>
        <p:txBody>
          <a:bodyPr wrap="none">
            <a:spAutoFit/>
          </a:bodyPr>
          <a:lstStyle/>
          <a:p>
            <a:pPr>
              <a:defRPr sz="2000" b="1"/>
            </a:pPr>
            <a:r>
              <a:rPr dirty="0"/>
              <a:t>Open Risks</a:t>
            </a:r>
          </a:p>
        </p:txBody>
      </p:sp>
      <p:sp>
        <p:nvSpPr>
          <p:cNvPr id="6" name="TextBox 4">
            <a:extLst>
              <a:ext uri="{FF2B5EF4-FFF2-40B4-BE49-F238E27FC236}">
                <a16:creationId xmlns:a16="http://schemas.microsoft.com/office/drawing/2014/main" id="{C8CEAC62-3F7C-5991-59BA-75AA570B143B}"/>
              </a:ext>
            </a:extLst>
          </p:cNvPr>
          <p:cNvSpPr txBox="1"/>
          <p:nvPr/>
        </p:nvSpPr>
        <p:spPr>
          <a:xfrm>
            <a:off x="659600" y="2642513"/>
            <a:ext cx="5303520" cy="4389120"/>
          </a:xfrm>
          <a:prstGeom prst="rect">
            <a:avLst/>
          </a:prstGeom>
          <a:noFill/>
        </p:spPr>
        <p:txBody>
          <a:bodyPr wrap="square">
            <a:spAutoFit/>
          </a:bodyPr>
          <a:lstStyle/>
          <a:p>
            <a:pPr>
              <a:spcAft>
                <a:spcPts val="1200"/>
              </a:spcAft>
              <a:defRPr sz="1700">
                <a:latin typeface="Calibri"/>
              </a:defRPr>
            </a:pPr>
            <a:r>
              <a:rPr dirty="0"/>
              <a:t>Step4 still has branch count mismatch on some cases</a:t>
            </a:r>
          </a:p>
          <a:p>
            <a:pPr>
              <a:spcAft>
                <a:spcPts val="1200"/>
              </a:spcAft>
              <a:defRPr sz="1700">
                <a:latin typeface="Calibri"/>
              </a:defRPr>
            </a:pPr>
            <a:r>
              <a:rPr dirty="0"/>
              <a:t>Case-to-case variability remains high</a:t>
            </a:r>
          </a:p>
          <a:p>
            <a:pPr>
              <a:spcAft>
                <a:spcPts val="1200"/>
              </a:spcAft>
              <a:defRPr sz="1700">
                <a:latin typeface="Calibri"/>
              </a:defRPr>
            </a:pPr>
            <a:r>
              <a:rPr dirty="0"/>
              <a:t>Need stronger failure-case regression set</a:t>
            </a:r>
          </a:p>
        </p:txBody>
      </p:sp>
      <p:sp>
        <p:nvSpPr>
          <p:cNvPr id="7" name="TextBox 3">
            <a:extLst>
              <a:ext uri="{FF2B5EF4-FFF2-40B4-BE49-F238E27FC236}">
                <a16:creationId xmlns:a16="http://schemas.microsoft.com/office/drawing/2014/main" id="{0B62F8BD-F0B7-4102-358E-12284199D898}"/>
              </a:ext>
            </a:extLst>
          </p:cNvPr>
          <p:cNvSpPr txBox="1"/>
          <p:nvPr/>
        </p:nvSpPr>
        <p:spPr>
          <a:xfrm>
            <a:off x="6235125" y="2185313"/>
            <a:ext cx="5303520" cy="457200"/>
          </a:xfrm>
          <a:prstGeom prst="rect">
            <a:avLst/>
          </a:prstGeom>
          <a:noFill/>
        </p:spPr>
        <p:txBody>
          <a:bodyPr wrap="none">
            <a:spAutoFit/>
          </a:bodyPr>
          <a:lstStyle/>
          <a:p>
            <a:pPr>
              <a:defRPr sz="2000" b="1"/>
            </a:pPr>
            <a:r>
              <a:rPr dirty="0"/>
              <a:t>Execution Plan</a:t>
            </a:r>
          </a:p>
        </p:txBody>
      </p:sp>
      <p:sp>
        <p:nvSpPr>
          <p:cNvPr id="8" name="TextBox 5">
            <a:extLst>
              <a:ext uri="{FF2B5EF4-FFF2-40B4-BE49-F238E27FC236}">
                <a16:creationId xmlns:a16="http://schemas.microsoft.com/office/drawing/2014/main" id="{51433ECB-76A8-D5C2-2956-7D3CAA363FBF}"/>
              </a:ext>
            </a:extLst>
          </p:cNvPr>
          <p:cNvSpPr txBox="1"/>
          <p:nvPr/>
        </p:nvSpPr>
        <p:spPr>
          <a:xfrm>
            <a:off x="6228880" y="2642513"/>
            <a:ext cx="5303520" cy="4389120"/>
          </a:xfrm>
          <a:prstGeom prst="rect">
            <a:avLst/>
          </a:prstGeom>
          <a:noFill/>
        </p:spPr>
        <p:txBody>
          <a:bodyPr wrap="square">
            <a:spAutoFit/>
          </a:bodyPr>
          <a:lstStyle/>
          <a:p>
            <a:pPr>
              <a:spcAft>
                <a:spcPts val="1200"/>
              </a:spcAft>
              <a:defRPr sz="1700">
                <a:latin typeface="Calibri"/>
              </a:defRPr>
            </a:pPr>
            <a:r>
              <a:rPr dirty="0"/>
              <a:t>Week 1: repair trigger + topology constraints</a:t>
            </a:r>
          </a:p>
          <a:p>
            <a:pPr>
              <a:spcAft>
                <a:spcPts val="1200"/>
              </a:spcAft>
              <a:defRPr sz="1700">
                <a:latin typeface="Calibri"/>
              </a:defRPr>
            </a:pPr>
            <a:r>
              <a:rPr dirty="0"/>
              <a:t>Week 2: branch governance + batch evaluation (10-20 cases)</a:t>
            </a:r>
          </a:p>
          <a:p>
            <a:pPr>
              <a:spcAft>
                <a:spcPts val="1200"/>
              </a:spcAft>
              <a:defRPr sz="1700">
                <a:latin typeface="Calibri"/>
              </a:defRPr>
            </a:pPr>
            <a:r>
              <a:rPr dirty="0"/>
              <a:t>Deliver reproducible report-ready figures/tables</a:t>
            </a:r>
          </a:p>
        </p:txBody>
      </p:sp>
    </p:spTree>
    <p:extLst>
      <p:ext uri="{BB962C8B-B14F-4D97-AF65-F5344CB8AC3E}">
        <p14:creationId xmlns:p14="http://schemas.microsoft.com/office/powerpoint/2010/main" val="3800516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1FD8-2BEC-C26F-9167-FD33450FE6FA}"/>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093D7205-B36D-4D95-52C1-0FE678DA51BF}"/>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317CA85E-CCFF-787A-894A-417AEAFD2701}"/>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My Core Contributions</a:t>
            </a:r>
          </a:p>
        </p:txBody>
      </p:sp>
      <p:pic>
        <p:nvPicPr>
          <p:cNvPr id="32" name="图片 31" descr="黑白色的标志&#10;&#10;中度可信度描述已自动生成">
            <a:extLst>
              <a:ext uri="{FF2B5EF4-FFF2-40B4-BE49-F238E27FC236}">
                <a16:creationId xmlns:a16="http://schemas.microsoft.com/office/drawing/2014/main" id="{9E824939-6DD6-F711-B7A3-28605FF6F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4B09DBBE-AAB1-E83F-2387-A9AF40AE9C7C}"/>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sp>
        <p:nvSpPr>
          <p:cNvPr id="10" name="文本框 9">
            <a:extLst>
              <a:ext uri="{FF2B5EF4-FFF2-40B4-BE49-F238E27FC236}">
                <a16:creationId xmlns:a16="http://schemas.microsoft.com/office/drawing/2014/main" id="{93D3DF0A-67B5-D158-66E3-1CD36914E623}"/>
              </a:ext>
            </a:extLst>
          </p:cNvPr>
          <p:cNvSpPr txBox="1"/>
          <p:nvPr/>
        </p:nvSpPr>
        <p:spPr>
          <a:xfrm>
            <a:off x="2123754" y="2447624"/>
            <a:ext cx="7944492" cy="2585323"/>
          </a:xfrm>
          <a:prstGeom prst="rect">
            <a:avLst/>
          </a:prstGeom>
          <a:noFill/>
        </p:spPr>
        <p:txBody>
          <a:bodyPr wrap="square">
            <a:spAutoFit/>
          </a:bodyPr>
          <a:lstStyle/>
          <a:p>
            <a:pPr>
              <a:spcAft>
                <a:spcPts val="1200"/>
              </a:spcAft>
              <a:defRPr sz="2200">
                <a:latin typeface="Calibri"/>
              </a:defRPr>
            </a:pPr>
            <a:r>
              <a:rPr lang="en-US" altLang="zh-CN" dirty="0"/>
              <a:t>Built an end-to-end quantitative pipeline (not isolated scripts)</a:t>
            </a:r>
          </a:p>
          <a:p>
            <a:pPr>
              <a:spcAft>
                <a:spcPts val="1200"/>
              </a:spcAft>
              <a:defRPr sz="2200">
                <a:latin typeface="Calibri"/>
              </a:defRPr>
            </a:pPr>
            <a:r>
              <a:rPr lang="en-US" altLang="zh-CN" dirty="0"/>
              <a:t>Defined step-wise metrics to make progress measurable and auditable</a:t>
            </a:r>
          </a:p>
          <a:p>
            <a:pPr>
              <a:spcAft>
                <a:spcPts val="1200"/>
              </a:spcAft>
              <a:defRPr sz="2200">
                <a:latin typeface="Calibri"/>
              </a:defRPr>
            </a:pPr>
            <a:r>
              <a:rPr lang="en-US" altLang="zh-CN" dirty="0"/>
              <a:t>Diagnosed and fixed topology-level bug with reproducible evidence</a:t>
            </a:r>
          </a:p>
          <a:p>
            <a:pPr>
              <a:spcAft>
                <a:spcPts val="1200"/>
              </a:spcAft>
              <a:defRPr sz="2200">
                <a:latin typeface="Calibri"/>
              </a:defRPr>
            </a:pPr>
            <a:r>
              <a:rPr lang="en-US" altLang="zh-CN" dirty="0"/>
              <a:t>Converted blockers into actionable engineering tasks and benchmarks</a:t>
            </a:r>
          </a:p>
        </p:txBody>
      </p:sp>
    </p:spTree>
    <p:extLst>
      <p:ext uri="{BB962C8B-B14F-4D97-AF65-F5344CB8AC3E}">
        <p14:creationId xmlns:p14="http://schemas.microsoft.com/office/powerpoint/2010/main" val="1434405237"/>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Step4 Feature Extraction</a:t>
            </a:r>
          </a:p>
        </p:txBody>
      </p:sp>
      <p:pic>
        <p:nvPicPr>
          <p:cNvPr id="3" name="Picture 2" descr="image.png"/>
          <p:cNvPicPr>
            <a:picLocks noChangeAspect="1"/>
          </p:cNvPicPr>
          <p:nvPr/>
        </p:nvPicPr>
        <p:blipFill>
          <a:blip r:embed="rId2"/>
          <a:stretch>
            <a:fillRect/>
          </a:stretch>
        </p:blipFill>
        <p:spPr>
          <a:xfrm>
            <a:off x="548640" y="1143000"/>
            <a:ext cx="5669280" cy="3307080"/>
          </a:xfrm>
          <a:prstGeom prst="rect">
            <a:avLst/>
          </a:prstGeom>
        </p:spPr>
      </p:pic>
      <p:pic>
        <p:nvPicPr>
          <p:cNvPr id="4" name="Picture 3" descr="image.png"/>
          <p:cNvPicPr>
            <a:picLocks noChangeAspect="1"/>
          </p:cNvPicPr>
          <p:nvPr/>
        </p:nvPicPr>
        <p:blipFill>
          <a:blip r:embed="rId3"/>
          <a:stretch>
            <a:fillRect/>
          </a:stretch>
        </p:blipFill>
        <p:spPr>
          <a:xfrm>
            <a:off x="6309360" y="1143000"/>
            <a:ext cx="5486400" cy="3200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Current Risks and Next 2 Weeks</a:t>
            </a:r>
          </a:p>
        </p:txBody>
      </p:sp>
      <p:sp>
        <p:nvSpPr>
          <p:cNvPr id="3" name="TextBox 2"/>
          <p:cNvSpPr txBox="1"/>
          <p:nvPr/>
        </p:nvSpPr>
        <p:spPr>
          <a:xfrm>
            <a:off x="731520" y="1188720"/>
            <a:ext cx="5303520" cy="457200"/>
          </a:xfrm>
          <a:prstGeom prst="rect">
            <a:avLst/>
          </a:prstGeom>
          <a:noFill/>
        </p:spPr>
        <p:txBody>
          <a:bodyPr wrap="none">
            <a:spAutoFit/>
          </a:bodyPr>
          <a:lstStyle/>
          <a:p>
            <a:pPr>
              <a:defRPr sz="2000" b="1"/>
            </a:pPr>
            <a:r>
              <a:t>Open Risks</a:t>
            </a:r>
          </a:p>
        </p:txBody>
      </p:sp>
      <p:sp>
        <p:nvSpPr>
          <p:cNvPr id="4" name="TextBox 3"/>
          <p:cNvSpPr txBox="1"/>
          <p:nvPr/>
        </p:nvSpPr>
        <p:spPr>
          <a:xfrm>
            <a:off x="6309360" y="1188720"/>
            <a:ext cx="5303520" cy="457200"/>
          </a:xfrm>
          <a:prstGeom prst="rect">
            <a:avLst/>
          </a:prstGeom>
          <a:noFill/>
        </p:spPr>
        <p:txBody>
          <a:bodyPr wrap="none">
            <a:spAutoFit/>
          </a:bodyPr>
          <a:lstStyle/>
          <a:p>
            <a:pPr>
              <a:defRPr sz="2000" b="1"/>
            </a:pPr>
            <a:r>
              <a:t>Execution Plan</a:t>
            </a:r>
          </a:p>
        </p:txBody>
      </p:sp>
      <p:sp>
        <p:nvSpPr>
          <p:cNvPr id="5" name="TextBox 4"/>
          <p:cNvSpPr txBox="1"/>
          <p:nvPr/>
        </p:nvSpPr>
        <p:spPr>
          <a:xfrm>
            <a:off x="731520" y="1645920"/>
            <a:ext cx="5303520" cy="4389120"/>
          </a:xfrm>
          <a:prstGeom prst="rect">
            <a:avLst/>
          </a:prstGeom>
          <a:noFill/>
        </p:spPr>
        <p:txBody>
          <a:bodyPr wrap="square">
            <a:spAutoFit/>
          </a:bodyPr>
          <a:lstStyle/>
          <a:p>
            <a:pPr>
              <a:spcAft>
                <a:spcPts val="1200"/>
              </a:spcAft>
              <a:defRPr sz="1700">
                <a:latin typeface="Calibri"/>
              </a:defRPr>
            </a:pPr>
            <a:r>
              <a:t>Step4 still has branch count mismatch on some cases</a:t>
            </a:r>
          </a:p>
          <a:p>
            <a:pPr>
              <a:spcAft>
                <a:spcPts val="1200"/>
              </a:spcAft>
              <a:defRPr sz="1700">
                <a:latin typeface="Calibri"/>
              </a:defRPr>
            </a:pPr>
            <a:r>
              <a:t>Case-to-case variability remains high</a:t>
            </a:r>
          </a:p>
          <a:p>
            <a:pPr>
              <a:spcAft>
                <a:spcPts val="1200"/>
              </a:spcAft>
              <a:defRPr sz="1700">
                <a:latin typeface="Calibri"/>
              </a:defRPr>
            </a:pPr>
            <a:r>
              <a:t>Need stronger failure-case regression set</a:t>
            </a:r>
          </a:p>
        </p:txBody>
      </p:sp>
      <p:sp>
        <p:nvSpPr>
          <p:cNvPr id="6" name="TextBox 5"/>
          <p:cNvSpPr txBox="1"/>
          <p:nvPr/>
        </p:nvSpPr>
        <p:spPr>
          <a:xfrm>
            <a:off x="6309360" y="1645920"/>
            <a:ext cx="5303520" cy="4389120"/>
          </a:xfrm>
          <a:prstGeom prst="rect">
            <a:avLst/>
          </a:prstGeom>
          <a:noFill/>
        </p:spPr>
        <p:txBody>
          <a:bodyPr wrap="square">
            <a:spAutoFit/>
          </a:bodyPr>
          <a:lstStyle/>
          <a:p>
            <a:pPr>
              <a:spcAft>
                <a:spcPts val="1200"/>
              </a:spcAft>
              <a:defRPr sz="1700">
                <a:latin typeface="Calibri"/>
              </a:defRPr>
            </a:pPr>
            <a:r>
              <a:t>Week 1: repair trigger + topology constraints</a:t>
            </a:r>
          </a:p>
          <a:p>
            <a:pPr>
              <a:spcAft>
                <a:spcPts val="1200"/>
              </a:spcAft>
              <a:defRPr sz="1700">
                <a:latin typeface="Calibri"/>
              </a:defRPr>
            </a:pPr>
            <a:r>
              <a:t>Week 2: branch governance + batch evaluation (10-20 cases)</a:t>
            </a:r>
          </a:p>
          <a:p>
            <a:pPr>
              <a:spcAft>
                <a:spcPts val="1200"/>
              </a:spcAft>
              <a:defRPr sz="1700">
                <a:latin typeface="Calibri"/>
              </a:defRPr>
            </a:pPr>
            <a:r>
              <a:t>Deliver reproducible report-ready figures/tables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My Core Contributions</a:t>
            </a:r>
          </a:p>
        </p:txBody>
      </p:sp>
      <p:sp>
        <p:nvSpPr>
          <p:cNvPr id="3" name="TextBox 2"/>
          <p:cNvSpPr txBox="1"/>
          <p:nvPr/>
        </p:nvSpPr>
        <p:spPr>
          <a:xfrm>
            <a:off x="731520" y="1463040"/>
            <a:ext cx="10789920" cy="4389120"/>
          </a:xfrm>
          <a:prstGeom prst="rect">
            <a:avLst/>
          </a:prstGeom>
          <a:noFill/>
        </p:spPr>
        <p:txBody>
          <a:bodyPr wrap="square">
            <a:spAutoFit/>
          </a:bodyPr>
          <a:lstStyle/>
          <a:p>
            <a:pPr>
              <a:spcAft>
                <a:spcPts val="1200"/>
              </a:spcAft>
              <a:defRPr sz="2200">
                <a:latin typeface="Calibri"/>
              </a:defRPr>
            </a:pPr>
            <a:r>
              <a:t>Built an end-to-end quantitative pipeline (not isolated scripts)</a:t>
            </a:r>
          </a:p>
          <a:p>
            <a:pPr>
              <a:spcAft>
                <a:spcPts val="1200"/>
              </a:spcAft>
              <a:defRPr sz="2200">
                <a:latin typeface="Calibri"/>
              </a:defRPr>
            </a:pPr>
            <a:r>
              <a:t>Defined step-wise metrics to make progress measurable and auditable</a:t>
            </a:r>
          </a:p>
          <a:p>
            <a:pPr>
              <a:spcAft>
                <a:spcPts val="1200"/>
              </a:spcAft>
              <a:defRPr sz="2200">
                <a:latin typeface="Calibri"/>
              </a:defRPr>
            </a:pPr>
            <a:r>
              <a:t>Diagnosed and fixed topology-level bug with reproducible evidence</a:t>
            </a:r>
          </a:p>
          <a:p>
            <a:pPr>
              <a:spcAft>
                <a:spcPts val="1200"/>
              </a:spcAft>
              <a:defRPr sz="2200">
                <a:latin typeface="Calibri"/>
              </a:defRPr>
            </a:pPr>
            <a:r>
              <a:t>Converted blockers into actionable engineering tasks and benchmarks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Discussion / Feedback Needed</a:t>
            </a:r>
          </a:p>
        </p:txBody>
      </p:sp>
      <p:sp>
        <p:nvSpPr>
          <p:cNvPr id="3" name="TextBox 2"/>
          <p:cNvSpPr txBox="1"/>
          <p:nvPr/>
        </p:nvSpPr>
        <p:spPr>
          <a:xfrm>
            <a:off x="731520" y="1645920"/>
            <a:ext cx="10789920" cy="4206240"/>
          </a:xfrm>
          <a:prstGeom prst="rect">
            <a:avLst/>
          </a:prstGeom>
          <a:noFill/>
        </p:spPr>
        <p:txBody>
          <a:bodyPr wrap="square">
            <a:spAutoFit/>
          </a:bodyPr>
          <a:lstStyle/>
          <a:p>
            <a:pPr>
              <a:spcAft>
                <a:spcPts val="1200"/>
              </a:spcAft>
              <a:defRPr sz="2400">
                <a:latin typeface="Calibri"/>
              </a:defRPr>
            </a:pPr>
            <a:r>
              <a:t>Do you agree with metric priority (Step1 stability first)?</a:t>
            </a:r>
          </a:p>
          <a:p>
            <a:pPr>
              <a:spcAft>
                <a:spcPts val="1200"/>
              </a:spcAft>
              <a:defRPr sz="2400">
                <a:latin typeface="Calibri"/>
              </a:defRPr>
            </a:pPr>
            <a:r>
              <a:t>Should we prioritize method novelty or robust clinical engineering pipeline first?</a:t>
            </a:r>
          </a:p>
          <a:p>
            <a:pPr>
              <a:spcAft>
                <a:spcPts val="1200"/>
              </a:spcAft>
              <a:defRPr sz="2400">
                <a:latin typeface="Calibri"/>
              </a:defRPr>
            </a:pPr>
            <a:r>
              <a:t>Is this progression acceptable: small-case closure -&gt; larger batch validation?</a:t>
            </a:r>
          </a:p>
        </p:txBody>
      </p:sp>
    </p:spTree>
  </p:cSld>
  <p:clrMapOvr>
    <a:masterClrMapping/>
  </p:clrMapOvr>
</p:sld>
</file>

<file path=ppt/theme/theme1.xml><?xml version="1.0" encoding="utf-8"?>
<a:theme xmlns:a="http://schemas.openxmlformats.org/drawingml/2006/main" name="Office 主题​​">
  <a:themeElements>
    <a:clrScheme name="北京大学-红色主题">
      <a:dk1>
        <a:sysClr val="windowText" lastClr="000000"/>
      </a:dk1>
      <a:lt1>
        <a:sysClr val="window" lastClr="FFFFFF"/>
      </a:lt1>
      <a:dk2>
        <a:srgbClr val="44546A"/>
      </a:dk2>
      <a:lt2>
        <a:srgbClr val="E7E6E6"/>
      </a:lt2>
      <a:accent1>
        <a:srgbClr val="94070A"/>
      </a:accent1>
      <a:accent2>
        <a:srgbClr val="D7C8B5"/>
      </a:accent2>
      <a:accent3>
        <a:srgbClr val="A5A5A5"/>
      </a:accent3>
      <a:accent4>
        <a:srgbClr val="0B4065"/>
      </a:accent4>
      <a:accent5>
        <a:srgbClr val="5B9BD5"/>
      </a:accent5>
      <a:accent6>
        <a:srgbClr val="70AD47"/>
      </a:accent6>
      <a:hlink>
        <a:srgbClr val="94070A"/>
      </a:hlink>
      <a:folHlink>
        <a:srgbClr val="954F72"/>
      </a:folHlink>
    </a:clrScheme>
    <a:fontScheme name="loawae3m">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4340</TotalTime>
  <Words>3819</Words>
  <Application>Microsoft Office PowerPoint</Application>
  <PresentationFormat>宽屏</PresentationFormat>
  <Paragraphs>260</Paragraphs>
  <Slides>20</Slides>
  <Notes>20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等线</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Fish</dc:creator>
  <cp:lastModifiedBy>奕好 陈</cp:lastModifiedBy>
  <cp:revision>470</cp:revision>
  <cp:lastPrinted>2026-01-18T16:14:02Z</cp:lastPrinted>
  <dcterms:created xsi:type="dcterms:W3CDTF">2021-05-06T04:51:34Z</dcterms:created>
  <dcterms:modified xsi:type="dcterms:W3CDTF">2026-02-09T20:52:04Z</dcterms:modified>
</cp:coreProperties>
</file>