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184" r:id="rId2"/>
    <p:sldId id="344" r:id="rId3"/>
    <p:sldId id="3284" r:id="rId4"/>
    <p:sldId id="3247" r:id="rId5"/>
    <p:sldId id="3285" r:id="rId6"/>
    <p:sldId id="3286" r:id="rId7"/>
    <p:sldId id="3287" r:id="rId8"/>
    <p:sldId id="3291" r:id="rId9"/>
    <p:sldId id="3293" r:id="rId10"/>
    <p:sldId id="3294" r:id="rId11"/>
    <p:sldId id="3295" r:id="rId12"/>
    <p:sldId id="3296" r:id="rId13"/>
    <p:sldId id="3292" r:id="rId14"/>
    <p:sldId id="3297" r:id="rId15"/>
    <p:sldId id="3299" r:id="rId16"/>
    <p:sldId id="3298" r:id="rId17"/>
    <p:sldId id="3300" r:id="rId21"/>
    <p:sldId id="3301" r:id="rId20"/>
    <p:sldId id="3302" r:id="rId19"/>
    <p:sldId id="330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0261D061-56C3-4466-98F3-98E7BB90A6DD}">
          <p14:sldIdLst>
            <p14:sldId id="3184"/>
          </p14:sldIdLst>
        </p14:section>
        <p14:section name="目录" id="{9E80D4BD-46BA-485C-A69E-3FF95A4966CF}">
          <p14:sldIdLst>
            <p14:sldId id="344"/>
            <p14:sldId id="3284"/>
          </p14:sldIdLst>
        </p14:section>
        <p14:section name="内容页" id="{3ACFC61A-BEE8-495C-B5EB-7BDC91533FAD}">
          <p14:sldIdLst>
            <p14:sldId id="3247"/>
            <p14:sldId id="3285"/>
            <p14:sldId id="3286"/>
            <p14:sldId id="3287"/>
            <p14:sldId id="3291"/>
            <p14:sldId id="3293"/>
            <p14:sldId id="3294"/>
            <p14:sldId id="3295"/>
            <p14:sldId id="3296"/>
            <p14:sldId id="3292"/>
            <p14:sldId id="3297"/>
            <p14:sldId id="3299"/>
            <p14:sldId id="3298"/>
          </p14:sldIdLst>
        </p14:section>
        <p14:section name="内容页2" id="{A1EE3B0F-FF5D-4527-8D5C-2F7AEF2BC699}">
          <p14:sldIdLst>
            <p14:sldId id="277"/>
            <p14:sldId id="3288"/>
            <p14:sldId id="3289"/>
            <p14:sldId id="3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CAB69D"/>
    <a:srgbClr val="E9E2D7"/>
    <a:srgbClr val="B2676A"/>
    <a:srgbClr val="C68587"/>
    <a:srgbClr val="94070A"/>
    <a:srgbClr val="D7C8B5"/>
    <a:srgbClr val="F0F0F0"/>
    <a:srgbClr val="B99E7D"/>
    <a:srgbClr val="BE08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2" autoAdjust="0"/>
    <p:restoredTop sz="62202" autoAdjust="0"/>
  </p:normalViewPr>
  <p:slideViewPr>
    <p:cSldViewPr snapToGrid="0" showGuides="1">
      <p:cViewPr>
        <p:scale>
          <a:sx n="62" d="100"/>
          <a:sy n="62" d="100"/>
        </p:scale>
        <p:origin x="56" y="180"/>
      </p:cViewPr>
      <p:guideLst>
        <p:guide orient="horz" pos="2160"/>
        <p:guide pos="3840"/>
      </p:guideLst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100" d="100"/>
        <a:sy n="100" d="100"/>
      </p:scale>
      <p:origin x="0" y="-5690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20.xml"/><Relationship Id="rId19" Type="http://schemas.openxmlformats.org/officeDocument/2006/relationships/slide" Target="slides/slide19.xml"/><Relationship Id="rId20" Type="http://schemas.openxmlformats.org/officeDocument/2006/relationships/slide" Target="slides/slide18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23AEBE-9D7F-4A51-A728-35C231377196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5E923-51F7-42BD-962F-269CF7F55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549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开场（20-30秒）</a:t>
            </a:r>
          </a:p>
          <a:p>
            <a:r>
              <a:t>大家好，我是陈奕好。这次汇报聚焦于医疗影像与AI在介入导航中的应用，我会重点展示我近期在冠脉分析pipeline上的工程化推进和量化结果。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23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议程（20秒）</a:t>
            </a:r>
          </a:p>
          <a:p>
            <a:r>
              <a:t>先简要介绍我的背景和能力，再进入当前核心项目 vessel_seg，最后给出风险、下一步计划，以及希望老师给我的反馈点。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427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个人能力（35-45秒）</a:t>
            </a:r>
          </a:p>
          <a:p>
            <a:r>
              <a:t>我的强项是把问题从算法点推进到可复现的系统流程：</a:t>
            </a:r>
          </a:p>
          <a:p>
            <a:r>
              <a:t>1) 能完整搭建 data -&gt; preprocessing -&gt; model -&gt; evaluation。</a:t>
            </a:r>
          </a:p>
          <a:p>
            <a:r>
              <a:t>2) 能结合几何约束与学习方法处理医疗影像问题。</a:t>
            </a:r>
          </a:p>
          <a:p>
            <a:r>
              <a:t>3) 在工程上注重可复现和可审计，便于快速迭代。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926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经历地图（30-40秒）</a:t>
            </a:r>
          </a:p>
          <a:p>
            <a:r>
              <a:t>这页展示我的项目积累路径：从硬件/系统实现，到医学影像建模与评估。核心不是做很多零散demo，而是逐步形成面向真实研究问题的稳定推进能力。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268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实现经验1（30-40秒）</a:t>
            </a:r>
          </a:p>
          <a:p>
            <a:r>
              <a:t>在硬件与系统控制项目中，我负责采集与控制链路实现，重点是多传感器协同和可重复验证。这个阶段训练了我做复杂系统调试和故障定位的能力。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869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193A0-9AC8-FBEF-5A5B-7D7BBC1F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A66E65-2DDD-8AD3-5267-9A351D0FC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847AAA-1E79-8C85-1674-2BBF620FB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实现经验2（30-40秒）</a:t>
            </a:r>
          </a:p>
          <a:p>
            <a:r>
              <a:t>这里强调机械与结构层面的迭代思路：先考虑制造约束，再做几何细化和原型反馈闭环。这套方法后来直接迁移到我在医学影像pipeline上的工程迭代里。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F3CB03-82F5-6509-9726-09CBB1FAC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57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A8A57-E86F-D416-0C01-2DA103053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8323BD-1855-3F98-FBE2-8649D6242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093AA0-C147-9157-354B-15C95CBEA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过渡页（35-45秒）</a:t>
            </a:r>
          </a:p>
          <a:p>
            <a:r>
              <a:t>目前我已经把冠脉相关流程打通为可运行原型，并统一了输出结构。下一阶段会更强调两点：真实临床场景约束，以及分段标注/量化评估的一致性。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490100-1D0E-6088-2D60-9A71AAB4D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344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F1E2D-8F99-5F86-8058-77138DD22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804BD2-CBB5-12F5-453A-D6C7D349D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D6CECE-9D19-040E-CF29-A74F61103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项目总览（40-50秒）</a:t>
            </a:r>
          </a:p>
          <a:p>
            <a:r>
              <a:t>这是 vessel_seg 的5步流程：分割、中心线提取、修复、特征提取、重建对比。我把每一步都定义了量化指标，目标是把问题从“看起来不错”变成“可测量、可比较、可回归”。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21C6C9-3A3B-93F5-E3E5-D4B822B74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375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3AEE4-C02C-A4C1-8038-48BCD0B7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4BA300-C033-EF0B-583E-A82DB6EC5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CF6523-57EB-A349-D9D5-994A1AE66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Step1 正例（40秒）</a:t>
            </a:r>
          </a:p>
          <a:p>
            <a:r>
              <a:t>Normal_1 的 Dice 和 HD95 都比较好，说明分割质量稳定。这个case证明当前上游质量足以支撑后续中心线和特征分析。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59DEBC-398C-4C22-24CE-89BE668D1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415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FFE24-5681-3A01-BE31-72E7BC8B9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A5C3FE-7C53-FC7B-80A8-BADB5DA65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407CFC-4F0C-F7F2-7CB7-7AEE11867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Step1 难例（45秒）</a:t>
            </a:r>
          </a:p>
          <a:p>
            <a:r>
              <a:t>Normal_2 的 HD95 偏高，提示存在明显边界误差。这说明 Step1 稳定性是全流程上限，若上游波动大，下游再优化也会受限。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882034-73F5-F7D5-D4E4-3461A6EFA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654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C28C5-2D37-96FC-0C02-98977E4DC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337607-A9F7-F3BF-47EF-5FC77014A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BE4D27-2930-3FB0-09F6-B4B1ADBCC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Step3 对比（45-60秒）</a:t>
            </a:r>
          </a:p>
          <a:p>
            <a:r>
              <a:t>这里看中心线在修复前后的几何质量和对GT贴合度。关注点是：误差尾部是否下降、连通性是否更符合血管解剖结构。这一步是后续特征和重建可靠性的关键。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922E69-1500-30F1-7379-2EF52252A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760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2C4F-AB46-28E2-7C38-7EBB6ABB2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3C2447-C891-7999-094D-3335C82FD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C8221A-B1E3-D436-79E3-681975C4F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关键修复（60秒）</a:t>
            </a:r>
          </a:p>
          <a:p>
            <a:r>
              <a:t>我定位到一个拓扑层面的根因：端点在写VTP时重复建点，导致视觉像连着、拓扑却是碎的。修复后改为共享端点ID，并加入拓扑监控字段，把问题从临时patch变成可验证、可回归的工程修复。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9484C6-ACD8-2773-82CB-A0DE9D7DD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129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CE275-312B-8CF5-CE13-44B36375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C1F5ED-4ED2-399A-CF53-525CC376B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91BFA5-D71C-29E8-37B8-B885D10BB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跨case总结（50-60秒）</a:t>
            </a:r>
          </a:p>
          <a:p>
            <a:r>
              <a:t>这一页是关键决策页：横向比较不同case，判断瓶颈到底在Step1、Step3还是Step4。目前结论是：Step1稳定性和Step4分支治理是优先优化方向。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051A8D-1727-1D85-724B-14817CAFF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641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9A9BD-7FF4-DE2C-9467-B9BDC024E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A0869C-09E3-45EC-5200-3E1F18D86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07ACE9-4077-753F-04C9-B0AB0DD79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Step4（旧版页，可作为备份，30-40秒）</a:t>
            </a:r>
          </a:p>
          <a:p>
            <a:r>
              <a:t>这一页展示分支级特征提取与GT对比。若时间有限可以快讲，重点只说两句：分支数量一致性和描述子相似度。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E6A9C2-3E1E-FBB6-7420-FE59BC1EF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637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11B1-16E9-28D8-AE92-2A4880879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F352FC-6E95-4453-BC0F-B7441269F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3CFE8E-ED25-CF3F-4A01-969BA393D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风险与计划（旧版页，可作为备份，30-40秒）</a:t>
            </a:r>
          </a:p>
          <a:p>
            <a:r>
              <a:t>如果保留此页，强调三点风险：分支计数偏差、case波动、回归集不足；并说明你已有对应两周执行计划。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3A9C36-96C7-97AC-49A2-64B054154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203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AC805-58B5-F0C9-79EC-833C4BEE7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1D5787-3B6A-9312-8096-28D41BD02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63B197-85C6-FEAD-9BEE-6DCB37708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贡献总结（旧版页，可作为备份，25-35秒）</a:t>
            </a:r>
          </a:p>
          <a:p>
            <a:r>
              <a:t>若讲到此页，聚焦工程价值：端到端可复现、统一量化口径、关键bug闭环修复。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D291B8-B033-F2D9-744B-0A4A6922F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5E923-51F7-42BD-962F-269CF7F55DA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0105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Step4（新版主讲页，50秒）</a:t>
            </a:r>
          </a:p>
          <a:p>
            <a:r>
              <a:t>这里重点讲“分支层面的可解释比较”：branch count diff反映拓扑是否对齐，descriptor cosine反映形态特征是否接近GT。当前结果说明整体方向正确，但仍需压缩冗余分支。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风险与两周计划（60秒）</a:t>
            </a:r>
          </a:p>
          <a:p>
            <a:r>
              <a:t>风险：Step4偶发分支偏差、跨case波动、失败样本覆盖不足。</a:t>
            </a:r>
          </a:p>
          <a:p>
            <a:r>
              <a:t>计划：Week1 做 repair 触发与拓扑约束强化；Week2 做分支治理+10-20例批评估；输出可复现图表和对比报告，直接支撑导师讨论与后续投稿路线。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核心贡献（45-55秒）</a:t>
            </a:r>
          </a:p>
          <a:p>
            <a:r>
              <a:t>我这阶段最核心的价值不是单个模型指标，而是把研究问题工程化：统一流程、统一指标、统一回归机制。这让每次改动都能被量化验证，能稳定推进而不是反复试错。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收尾提问（45秒）</a:t>
            </a:r>
          </a:p>
          <a:p>
            <a:r>
              <a:t>我希望老师给三个方向性反馈：</a:t>
            </a:r>
          </a:p>
          <a:p>
            <a:r>
              <a:t>1) 指标优先级是否以Step1稳定性为先；</a:t>
            </a:r>
          </a:p>
          <a:p>
            <a:r>
              <a:t>2) 论文叙事更偏方法创新还是工程闭环；</a:t>
            </a:r>
          </a:p>
          <a:p>
            <a:r>
              <a:t>3) 小样本闭环到批量验证的节奏是否合理。</a:t>
            </a:r>
          </a:p>
          <a:p>
            <a:r>
              <a:t>谢谢老师，欢迎直接指出优先级调整建议。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BF399D-EDE8-4580-B9E2-18D3F5DE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2864-E0EF-4E70-A7F4-2B86DC303F0F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FF8A14-C1F6-4164-A22B-F1F06A860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23CDA-EC61-440A-9CD0-66517575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CBA9D17-A0D3-409F-BFF9-E5BAE63FEE3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03958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596258-9B56-404A-B375-CB6FD51F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1381EE-E5D1-4659-AFAB-3F77E9668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41F6FF-ED68-4607-885A-EB998B150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0D2EE-5E42-4C74-BD66-3934CD038B3B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794CA5-8294-4EBF-A582-699649CC1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3C233C-1E37-4721-A368-7046C1CAC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A9D17-A0D3-409F-BFF9-E5BAE63FEE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19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mailto:chenyihao@stu.pku.edu.cn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图片 64">
            <a:extLst>
              <a:ext uri="{FF2B5EF4-FFF2-40B4-BE49-F238E27FC236}">
                <a16:creationId xmlns:a16="http://schemas.microsoft.com/office/drawing/2014/main" id="{4D18365F-4A48-4CE4-9AA6-6F0337A2F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15653C9-8294-4422-939A-19987AE380D1}"/>
              </a:ext>
            </a:extLst>
          </p:cNvPr>
          <p:cNvSpPr/>
          <p:nvPr/>
        </p:nvSpPr>
        <p:spPr>
          <a:xfrm flipV="1">
            <a:off x="0" y="6802310"/>
            <a:ext cx="12192000" cy="622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9B2B4BE-7386-4C70-9386-6FB1093811F4}"/>
              </a:ext>
            </a:extLst>
          </p:cNvPr>
          <p:cNvSpPr/>
          <p:nvPr/>
        </p:nvSpPr>
        <p:spPr>
          <a:xfrm>
            <a:off x="5788650" y="4351315"/>
            <a:ext cx="665278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4E8B448-9F20-49E7-92A9-4158C9CAFB88}"/>
              </a:ext>
            </a:extLst>
          </p:cNvPr>
          <p:cNvSpPr/>
          <p:nvPr/>
        </p:nvSpPr>
        <p:spPr>
          <a:xfrm>
            <a:off x="1289223" y="2179808"/>
            <a:ext cx="9611360" cy="132343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" altLang="zh-CN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Medical Imaging × AI for Interventional Guidance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463D1A49-0BF7-4F07-8315-36DBC4E57D47}"/>
              </a:ext>
            </a:extLst>
          </p:cNvPr>
          <p:cNvSpPr/>
          <p:nvPr/>
        </p:nvSpPr>
        <p:spPr>
          <a:xfrm>
            <a:off x="3384017" y="3681681"/>
            <a:ext cx="54217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defRPr/>
            </a:pPr>
            <a:r>
              <a:rPr lang="en" altLang="zh-CN" dirty="0"/>
              <a:t>Research &amp; Project Highlights (Medical Imaging)</a:t>
            </a:r>
          </a:p>
        </p:txBody>
      </p:sp>
      <p:pic>
        <p:nvPicPr>
          <p:cNvPr id="73" name="图片 72" descr="黑白色的标志&#10;&#10;中度可信度描述已自动生成">
            <a:extLst>
              <a:ext uri="{FF2B5EF4-FFF2-40B4-BE49-F238E27FC236}">
                <a16:creationId xmlns:a16="http://schemas.microsoft.com/office/drawing/2014/main" id="{0490B25A-67C6-44AA-8E81-58E643B77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798" y="810934"/>
            <a:ext cx="2876210" cy="8102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7693220-0BA5-2580-B620-771A250BC89D}"/>
              </a:ext>
            </a:extLst>
          </p:cNvPr>
          <p:cNvSpPr txBox="1"/>
          <p:nvPr/>
        </p:nvSpPr>
        <p:spPr>
          <a:xfrm>
            <a:off x="4909000" y="4598780"/>
            <a:ext cx="2535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Yihao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Chen</a:t>
            </a:r>
            <a:r>
              <a:rPr kumimoji="1" lang="zh-CN" altLang="en-US" dirty="0"/>
              <a:t>（陈奕好）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CCA511-615C-DAC9-FF8F-4A23ADA683B0}"/>
              </a:ext>
            </a:extLst>
          </p:cNvPr>
          <p:cNvSpPr txBox="1"/>
          <p:nvPr/>
        </p:nvSpPr>
        <p:spPr>
          <a:xfrm>
            <a:off x="3879128" y="5152779"/>
            <a:ext cx="443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College of Engineering, Peking University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9ABADE-63B5-5F9C-43BD-EC4026D61713}"/>
              </a:ext>
            </a:extLst>
          </p:cNvPr>
          <p:cNvSpPr txBox="1"/>
          <p:nvPr/>
        </p:nvSpPr>
        <p:spPr>
          <a:xfrm>
            <a:off x="5451875" y="5723401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Feb</a:t>
            </a:r>
            <a:r>
              <a:rPr lang="zh-CN" altLang="en-US" dirty="0"/>
              <a:t> </a:t>
            </a:r>
            <a:r>
              <a:rPr lang="en-US" altLang="zh-CN" dirty="0"/>
              <a:t>2026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A601F2-DCB4-CBA6-297C-E882EB6A1EB9}"/>
              </a:ext>
            </a:extLst>
          </p:cNvPr>
          <p:cNvSpPr txBox="1"/>
          <p:nvPr/>
        </p:nvSpPr>
        <p:spPr>
          <a:xfrm>
            <a:off x="9727024" y="6240675"/>
            <a:ext cx="23471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400" dirty="0">
                <a:hlinkClick r:id="rId5"/>
              </a:rPr>
              <a:t>chenyihao@stu.pku.edu.cn</a:t>
            </a:r>
            <a:endParaRPr kumimoji="1" lang="en-US" altLang="zh-CN" sz="1400" dirty="0"/>
          </a:p>
          <a:p>
            <a:pPr algn="r"/>
            <a:r>
              <a:rPr kumimoji="1" lang="en-US" altLang="zh-CN" sz="1400" dirty="0" err="1"/>
              <a:t>github.com</a:t>
            </a:r>
            <a:r>
              <a:rPr kumimoji="1" lang="en-US" altLang="zh-CN" sz="1400" dirty="0"/>
              <a:t>/</a:t>
            </a:r>
            <a:r>
              <a:rPr kumimoji="1" lang="en-US" altLang="zh-CN" sz="1400" dirty="0" err="1"/>
              <a:t>ChenNeuro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61202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B15C2478-5AB4-4541-8008-6447EAA4B2AA}"/>
              </a:ext>
            </a:extLst>
          </p:cNvPr>
          <p:cNvSpPr txBox="1"/>
          <p:nvPr/>
        </p:nvSpPr>
        <p:spPr>
          <a:xfrm>
            <a:off x="1325434" y="555760"/>
            <a:ext cx="2643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4000" b="1" i="0" u="none" strike="noStrike" kern="1200" cap="none" spc="3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Agenda</a:t>
            </a:r>
            <a:endParaRPr kumimoji="0" lang="zh-CN" altLang="en-US" sz="4000" b="1" i="0" u="none" strike="noStrike" kern="1200" cap="none" spc="30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DE5656F-E7F2-4BB5-8260-3F1B1062A952}"/>
              </a:ext>
            </a:extLst>
          </p:cNvPr>
          <p:cNvGrpSpPr/>
          <p:nvPr/>
        </p:nvGrpSpPr>
        <p:grpSpPr>
          <a:xfrm>
            <a:off x="1296445" y="1708944"/>
            <a:ext cx="10345387" cy="839888"/>
            <a:chOff x="1296445" y="1777506"/>
            <a:chExt cx="10345387" cy="839888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CC28C0EC-7349-4528-9D9B-77994BDA48DA}"/>
                </a:ext>
              </a:extLst>
            </p:cNvPr>
            <p:cNvSpPr txBox="1"/>
            <p:nvPr/>
          </p:nvSpPr>
          <p:spPr>
            <a:xfrm>
              <a:off x="1912863" y="2155729"/>
              <a:ext cx="97289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2400" dirty="0"/>
                <a:t>Quick intro &amp; strengths (skills + working style)</a:t>
              </a: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786FD86-9D1D-445F-BBA9-963D34E58544}"/>
                </a:ext>
              </a:extLst>
            </p:cNvPr>
            <p:cNvGrpSpPr/>
            <p:nvPr/>
          </p:nvGrpSpPr>
          <p:grpSpPr>
            <a:xfrm>
              <a:off x="1296445" y="1777506"/>
              <a:ext cx="800100" cy="713161"/>
              <a:chOff x="6976951" y="1586703"/>
              <a:chExt cx="800100" cy="713161"/>
            </a:xfrm>
          </p:grpSpPr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BFD77076-092D-4EC2-879D-E900573D34D4}"/>
                  </a:ext>
                </a:extLst>
              </p:cNvPr>
              <p:cNvCxnSpPr/>
              <p:nvPr/>
            </p:nvCxnSpPr>
            <p:spPr>
              <a:xfrm flipH="1">
                <a:off x="7160632" y="1829707"/>
                <a:ext cx="432738" cy="470157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4A5F994-68CE-4016-B167-C1775E3994E9}"/>
                  </a:ext>
                </a:extLst>
              </p:cNvPr>
              <p:cNvSpPr txBox="1"/>
              <p:nvPr/>
            </p:nvSpPr>
            <p:spPr>
              <a:xfrm>
                <a:off x="6976951" y="1586703"/>
                <a:ext cx="8001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icrosoft YaHei" panose="020B0503020204020204" pitchFamily="34" charset="-122"/>
                    <a:cs typeface="+mn-ea"/>
                    <a:sym typeface="Arial" panose="020B0604020202020204" pitchFamily="34" charset="0"/>
                  </a:rPr>
                  <a:t>1</a:t>
                </a:r>
                <a:endParaRPr kumimoji="0" lang="zh-CN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2147FF2-3F2C-4EA4-96F6-1368A521E62E}"/>
              </a:ext>
            </a:extLst>
          </p:cNvPr>
          <p:cNvGrpSpPr/>
          <p:nvPr/>
        </p:nvGrpSpPr>
        <p:grpSpPr>
          <a:xfrm>
            <a:off x="1296445" y="2823351"/>
            <a:ext cx="800100" cy="713161"/>
            <a:chOff x="6976951" y="1586703"/>
            <a:chExt cx="800100" cy="713161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290D6EA-4373-4E3B-8637-81646F1A7B79}"/>
                </a:ext>
              </a:extLst>
            </p:cNvPr>
            <p:cNvSpPr txBox="1"/>
            <p:nvPr/>
          </p:nvSpPr>
          <p:spPr>
            <a:xfrm>
              <a:off x="6976951" y="1586703"/>
              <a:ext cx="800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rPr>
                <a:t>2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5BC728A-0A27-477D-9233-0A149548E323}"/>
                </a:ext>
              </a:extLst>
            </p:cNvPr>
            <p:cNvCxnSpPr/>
            <p:nvPr/>
          </p:nvCxnSpPr>
          <p:spPr>
            <a:xfrm flipH="1">
              <a:off x="7160632" y="1829707"/>
              <a:ext cx="432738" cy="470157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363B11F-148D-4857-9335-0D8BC165C35A}"/>
              </a:ext>
            </a:extLst>
          </p:cNvPr>
          <p:cNvGrpSpPr/>
          <p:nvPr/>
        </p:nvGrpSpPr>
        <p:grpSpPr>
          <a:xfrm>
            <a:off x="1296445" y="3940656"/>
            <a:ext cx="10072140" cy="799797"/>
            <a:chOff x="1296445" y="1777506"/>
            <a:chExt cx="10072140" cy="799797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4502F672-83C0-4117-BF9E-9961F1D92E3C}"/>
                </a:ext>
              </a:extLst>
            </p:cNvPr>
            <p:cNvSpPr txBox="1"/>
            <p:nvPr/>
          </p:nvSpPr>
          <p:spPr>
            <a:xfrm>
              <a:off x="1830685" y="2115638"/>
              <a:ext cx="9537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endParaRPr kumimoji="0" lang="zh-CN" altLang="en-US" sz="2400" b="0" i="0" u="none" strike="noStrike" kern="1200" cap="none" spc="4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8BCFD56-2E86-469C-8238-014884FF8E74}"/>
                </a:ext>
              </a:extLst>
            </p:cNvPr>
            <p:cNvGrpSpPr/>
            <p:nvPr/>
          </p:nvGrpSpPr>
          <p:grpSpPr>
            <a:xfrm>
              <a:off x="1296445" y="1777506"/>
              <a:ext cx="800100" cy="713161"/>
              <a:chOff x="6976951" y="1586703"/>
              <a:chExt cx="800100" cy="713161"/>
            </a:xfrm>
          </p:grpSpPr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B285BD03-11C0-4CAA-94AC-C14495F4C37D}"/>
                  </a:ext>
                </a:extLst>
              </p:cNvPr>
              <p:cNvSpPr txBox="1"/>
              <p:nvPr/>
            </p:nvSpPr>
            <p:spPr>
              <a:xfrm>
                <a:off x="6976951" y="1586703"/>
                <a:ext cx="8001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Microsoft YaHei" panose="020B0503020204020204" pitchFamily="34" charset="-122"/>
                    <a:cs typeface="+mn-ea"/>
                    <a:sym typeface="Arial" panose="020B0604020202020204" pitchFamily="34" charset="0"/>
                  </a:rPr>
                  <a:t>3</a:t>
                </a:r>
                <a:endParaRPr kumimoji="0" lang="zh-CN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94423372-D8CA-4EA5-A40C-6E2DC355B017}"/>
                  </a:ext>
                </a:extLst>
              </p:cNvPr>
              <p:cNvCxnSpPr/>
              <p:nvPr/>
            </p:nvCxnSpPr>
            <p:spPr>
              <a:xfrm flipH="1">
                <a:off x="7160632" y="1829707"/>
                <a:ext cx="432738" cy="47015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C25F860F-1967-4D0C-A54D-9A5962D626C2}"/>
              </a:ext>
            </a:extLst>
          </p:cNvPr>
          <p:cNvGrpSpPr/>
          <p:nvPr/>
        </p:nvGrpSpPr>
        <p:grpSpPr>
          <a:xfrm>
            <a:off x="1325434" y="5276868"/>
            <a:ext cx="800100" cy="713161"/>
            <a:chOff x="6976951" y="1586703"/>
            <a:chExt cx="800100" cy="713161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EAD6E1CD-0284-4A52-890E-715E79BF4A3E}"/>
                </a:ext>
              </a:extLst>
            </p:cNvPr>
            <p:cNvSpPr txBox="1"/>
            <p:nvPr/>
          </p:nvSpPr>
          <p:spPr>
            <a:xfrm>
              <a:off x="6976951" y="1586703"/>
              <a:ext cx="800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rPr>
                <a:t>4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9E2E41A3-97DB-49C9-88F0-51B44C0C1FD5}"/>
                </a:ext>
              </a:extLst>
            </p:cNvPr>
            <p:cNvCxnSpPr/>
            <p:nvPr/>
          </p:nvCxnSpPr>
          <p:spPr>
            <a:xfrm flipH="1">
              <a:off x="7160632" y="1829707"/>
              <a:ext cx="432738" cy="470157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157F361D-395C-D4EE-6F64-2C41D5EF49AC}"/>
              </a:ext>
            </a:extLst>
          </p:cNvPr>
          <p:cNvSpPr txBox="1"/>
          <p:nvPr/>
        </p:nvSpPr>
        <p:spPr>
          <a:xfrm>
            <a:off x="1912861" y="3301317"/>
            <a:ext cx="9728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400" dirty="0"/>
              <a:t>Background &amp; research interests (medical imaging)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EE6C5F-836B-8FF7-6EC8-08AB6D5A6A22}"/>
              </a:ext>
            </a:extLst>
          </p:cNvPr>
          <p:cNvSpPr txBox="1"/>
          <p:nvPr/>
        </p:nvSpPr>
        <p:spPr>
          <a:xfrm>
            <a:off x="1912862" y="4445871"/>
            <a:ext cx="9728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400" dirty="0"/>
              <a:t>Ongoing</a:t>
            </a:r>
            <a:r>
              <a:rPr lang="zh-CN" altLang="en-US" sz="2400" dirty="0"/>
              <a:t> </a:t>
            </a:r>
            <a:r>
              <a:rPr lang="en" altLang="zh-CN" sz="2400" dirty="0"/>
              <a:t>Projects: coronary reconstruction, CT–DSA 3D–2D registration, vessel topology modeling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C3019F-9F3A-BF3C-F432-CDDCFBCF8D1C}"/>
              </a:ext>
            </a:extLst>
          </p:cNvPr>
          <p:cNvSpPr txBox="1"/>
          <p:nvPr/>
        </p:nvSpPr>
        <p:spPr>
          <a:xfrm>
            <a:off x="1941851" y="5725782"/>
            <a:ext cx="9728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400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251593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657FD-4720-ED88-5C92-03ECECEBE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79F14234-CCA4-9D7A-1198-781E5853AC7A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DB07C39C-1F27-2E9C-01AE-1CD99DE5893E}"/>
              </a:ext>
            </a:extLst>
          </p:cNvPr>
          <p:cNvSpPr txBox="1"/>
          <p:nvPr/>
        </p:nvSpPr>
        <p:spPr>
          <a:xfrm>
            <a:off x="452512" y="300592"/>
            <a:ext cx="8377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Quick intro &amp; strengths</a:t>
            </a:r>
          </a:p>
        </p:txBody>
      </p:sp>
      <p:pic>
        <p:nvPicPr>
          <p:cNvPr id="65" name="图片 64" descr="黑白色的标志&#10;&#10;中度可信度描述已自动生成">
            <a:extLst>
              <a:ext uri="{FF2B5EF4-FFF2-40B4-BE49-F238E27FC236}">
                <a16:creationId xmlns:a16="http://schemas.microsoft.com/office/drawing/2014/main" id="{D000B97A-3E71-9649-525E-D555C75AF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BFAB3C14-99F8-AD4B-BCE7-027EA6B65685}"/>
              </a:ext>
            </a:extLst>
          </p:cNvPr>
          <p:cNvGrpSpPr/>
          <p:nvPr/>
        </p:nvGrpSpPr>
        <p:grpSpPr>
          <a:xfrm>
            <a:off x="1485082" y="1465262"/>
            <a:ext cx="9710179" cy="4524374"/>
            <a:chOff x="1476615" y="1465262"/>
            <a:chExt cx="9710179" cy="452437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CBE7EA4-2A7C-9B31-C57F-EB8B418B7D47}"/>
                </a:ext>
              </a:extLst>
            </p:cNvPr>
            <p:cNvSpPr/>
            <p:nvPr/>
          </p:nvSpPr>
          <p:spPr>
            <a:xfrm>
              <a:off x="1476615" y="1465262"/>
              <a:ext cx="9710179" cy="45243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54000" sx="102000" sy="102000" algn="ctr" rotWithShape="0">
                <a:schemeClr val="tx1">
                  <a:alpha val="1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 descr="背景图案&#10;&#10;描述已自动生成">
              <a:extLst>
                <a:ext uri="{FF2B5EF4-FFF2-40B4-BE49-F238E27FC236}">
                  <a16:creationId xmlns:a16="http://schemas.microsoft.com/office/drawing/2014/main" id="{AA80CA6D-D581-458E-5EC4-C7409600B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4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1879" y="3330220"/>
              <a:ext cx="2494915" cy="2659415"/>
            </a:xfrm>
            <a:prstGeom prst="rect">
              <a:avLst/>
            </a:prstGeom>
          </p:spPr>
        </p:pic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97DAC6D1-996D-33BC-FDA7-FB92F78157E9}"/>
              </a:ext>
            </a:extLst>
          </p:cNvPr>
          <p:cNvSpPr/>
          <p:nvPr/>
        </p:nvSpPr>
        <p:spPr>
          <a:xfrm>
            <a:off x="5709338" y="2049692"/>
            <a:ext cx="5358968" cy="678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52927" defTabSz="181463"/>
            <a:r>
              <a:rPr lang="en-US" altLang="zh-CN" sz="3810" dirty="0"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Yihao Chen</a:t>
            </a:r>
            <a:r>
              <a:rPr lang="zh-CN" altLang="en-US" sz="3810" dirty="0"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（陈奕好）</a:t>
            </a:r>
            <a:endParaRPr lang="zh-CN" altLang="zh-CN" sz="3810" dirty="0"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1D56269C-476F-E037-D339-DBF0C1A58977}"/>
              </a:ext>
            </a:extLst>
          </p:cNvPr>
          <p:cNvSpPr/>
          <p:nvPr/>
        </p:nvSpPr>
        <p:spPr>
          <a:xfrm>
            <a:off x="5829996" y="2847698"/>
            <a:ext cx="4306871" cy="107083"/>
          </a:xfrm>
          <a:custGeom>
            <a:avLst/>
            <a:gdLst>
              <a:gd name="connsiteX0" fmla="*/ 0 w 10668000"/>
              <a:gd name="connsiteY0" fmla="*/ 0 h 0"/>
              <a:gd name="connsiteX1" fmla="*/ 10668000 w 10668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1463"/>
            <a:endParaRPr lang="zh-CN" altLang="en-US" sz="714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4D3861-5233-29B0-EDA8-35D6AD435A39}"/>
              </a:ext>
            </a:extLst>
          </p:cNvPr>
          <p:cNvSpPr/>
          <p:nvPr/>
        </p:nvSpPr>
        <p:spPr>
          <a:xfrm>
            <a:off x="5829997" y="2992216"/>
            <a:ext cx="54900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600" b="1" dirty="0"/>
              <a:t>Medical Imaging | 3D–2D Registration | Temporal Modeling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9C7068-65C5-76BA-4AA3-7A6876F5413E}"/>
              </a:ext>
            </a:extLst>
          </p:cNvPr>
          <p:cNvSpPr/>
          <p:nvPr/>
        </p:nvSpPr>
        <p:spPr>
          <a:xfrm>
            <a:off x="5829996" y="3657786"/>
            <a:ext cx="478400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800"/>
            </a:pPr>
            <a:r>
              <a:rPr lang="en" altLang="zh-CN" sz="1600" dirty="0"/>
              <a:t>Build end-to-end imaging pipelines (data → preprocessing → model → evaluation)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800"/>
            </a:pPr>
            <a:r>
              <a:rPr lang="en" altLang="zh-CN" sz="1600" dirty="0"/>
              <a:t>Combine geometry constraints with learning (registration, centerline/topology priors)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800"/>
            </a:pPr>
            <a:r>
              <a:rPr lang="en" altLang="zh-CN" sz="1600" dirty="0"/>
              <a:t>Reproducible research habits: scripts, ablations, reports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800"/>
            </a:pPr>
            <a:r>
              <a:rPr lang="en" altLang="zh-CN" sz="1600" dirty="0"/>
              <a:t>Cross-domain engineering: sensing/robotics experience transfers to real-time systems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BD7A53-E20A-8CA2-640C-6C26919696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044313" y="2030665"/>
            <a:ext cx="4524537" cy="3393402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1E45143-5B27-E503-78F2-D8B6F8F1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A9D17-A0D3-409F-BFF9-E5BAE63FEE36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A0FE9A-E286-6428-5B0A-AE2D29ADEE8F}"/>
              </a:ext>
            </a:extLst>
          </p:cNvPr>
          <p:cNvSpPr txBox="1"/>
          <p:nvPr/>
        </p:nvSpPr>
        <p:spPr>
          <a:xfrm>
            <a:off x="5829996" y="6053562"/>
            <a:ext cx="46260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Interests: multimodal medical foundation models · temporal modeling for cine/DSA · generative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4090895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C7BFE9B-1CD8-4E95-B819-7BF15FD90247}"/>
              </a:ext>
            </a:extLst>
          </p:cNvPr>
          <p:cNvCxnSpPr>
            <a:cxnSpLocks/>
          </p:cNvCxnSpPr>
          <p:nvPr/>
        </p:nvCxnSpPr>
        <p:spPr>
          <a:xfrm>
            <a:off x="745067" y="868363"/>
            <a:ext cx="1100878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FC742C7-25EC-42DE-BE25-70F1D2F3DB69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FF0A074-1447-4830-8230-9D2F0137344D}"/>
              </a:ext>
            </a:extLst>
          </p:cNvPr>
          <p:cNvSpPr txBox="1"/>
          <p:nvPr/>
        </p:nvSpPr>
        <p:spPr>
          <a:xfrm>
            <a:off x="452512" y="300592"/>
            <a:ext cx="4606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Experience map</a:t>
            </a:r>
            <a:endParaRPr lang="zh-CN" altLang="en-US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7" name="图片 6" descr="黑白色的标志&#10;&#10;中度可信度描述已自动生成">
            <a:extLst>
              <a:ext uri="{FF2B5EF4-FFF2-40B4-BE49-F238E27FC236}">
                <a16:creationId xmlns:a16="http://schemas.microsoft.com/office/drawing/2014/main" id="{89630CB9-A218-4E54-A6EF-D66AD72FD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E44BCA0-583A-48AF-9334-68BB5C060C39}"/>
              </a:ext>
            </a:extLst>
          </p:cNvPr>
          <p:cNvCxnSpPr>
            <a:cxnSpLocks/>
          </p:cNvCxnSpPr>
          <p:nvPr/>
        </p:nvCxnSpPr>
        <p:spPr>
          <a:xfrm>
            <a:off x="1842540" y="3405108"/>
            <a:ext cx="795082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255FC0C-766C-4649-9F5B-3AE2018D0452}"/>
              </a:ext>
            </a:extLst>
          </p:cNvPr>
          <p:cNvCxnSpPr>
            <a:cxnSpLocks/>
          </p:cNvCxnSpPr>
          <p:nvPr/>
        </p:nvCxnSpPr>
        <p:spPr>
          <a:xfrm>
            <a:off x="1842540" y="4375845"/>
            <a:ext cx="795082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6A396BDF-E325-4D65-8CEE-C03489FA7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A9D17-A0D3-409F-BFF9-E5BAE63FEE36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03410F2-AF37-DD1B-83A1-03AC26C9CD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67" y="1376407"/>
            <a:ext cx="10526308" cy="467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6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7C632-95C9-B396-CF85-562A3022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12496C48-D062-D456-3968-AB6511DD6228}"/>
              </a:ext>
            </a:extLst>
          </p:cNvPr>
          <p:cNvSpPr txBox="1"/>
          <p:nvPr/>
        </p:nvSpPr>
        <p:spPr>
          <a:xfrm>
            <a:off x="8139511" y="1970462"/>
            <a:ext cx="194368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" altLang="zh-CN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Implementation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06BF2E6-ACA1-5C28-BF30-8FDDEF05A572}"/>
              </a:ext>
            </a:extLst>
          </p:cNvPr>
          <p:cNvSpPr txBox="1"/>
          <p:nvPr/>
        </p:nvSpPr>
        <p:spPr>
          <a:xfrm>
            <a:off x="8139508" y="2419288"/>
            <a:ext cx="3890567" cy="101925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Arduino + STM32</a:t>
            </a:r>
            <a:r>
              <a:rPr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for acquisition/control</a:t>
            </a:r>
          </a:p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Multi-sensor integration via I2C</a:t>
            </a:r>
            <a:r>
              <a:rPr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and related interfaces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2202D3D-2508-B0C6-6654-F5E956CCAC6C}"/>
              </a:ext>
            </a:extLst>
          </p:cNvPr>
          <p:cNvCxnSpPr>
            <a:cxnSpLocks/>
          </p:cNvCxnSpPr>
          <p:nvPr/>
        </p:nvCxnSpPr>
        <p:spPr>
          <a:xfrm>
            <a:off x="7719063" y="2379541"/>
            <a:ext cx="20205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F48AF33-2B37-90DD-0159-CD468A6B9543}"/>
              </a:ext>
            </a:extLst>
          </p:cNvPr>
          <p:cNvCxnSpPr>
            <a:cxnSpLocks/>
          </p:cNvCxnSpPr>
          <p:nvPr/>
        </p:nvCxnSpPr>
        <p:spPr>
          <a:xfrm flipV="1">
            <a:off x="7346372" y="2379541"/>
            <a:ext cx="372691" cy="21717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10F683DB-F708-C885-6687-AFEC5964D725}"/>
              </a:ext>
            </a:extLst>
          </p:cNvPr>
          <p:cNvSpPr txBox="1"/>
          <p:nvPr/>
        </p:nvSpPr>
        <p:spPr>
          <a:xfrm>
            <a:off x="8036026" y="4488076"/>
            <a:ext cx="194368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" altLang="zh-CN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Validation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0174A96-5345-1775-B3B4-92E07A4D92F5}"/>
              </a:ext>
            </a:extLst>
          </p:cNvPr>
          <p:cNvSpPr txBox="1"/>
          <p:nvPr/>
        </p:nvSpPr>
        <p:spPr>
          <a:xfrm>
            <a:off x="8036024" y="4936902"/>
            <a:ext cx="3994051" cy="13393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Iterative testing under realistic motion</a:t>
            </a:r>
          </a:p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Prioritized repeatability over one-off demos</a:t>
            </a:r>
          </a:p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Logged issues/failure cases to drive iteration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88C2FCE-F7F7-EC15-45DB-8D16D5571511}"/>
              </a:ext>
            </a:extLst>
          </p:cNvPr>
          <p:cNvCxnSpPr>
            <a:cxnSpLocks/>
          </p:cNvCxnSpPr>
          <p:nvPr/>
        </p:nvCxnSpPr>
        <p:spPr>
          <a:xfrm>
            <a:off x="7615578" y="4897155"/>
            <a:ext cx="20205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6D9B45B4-B26A-359E-2F4A-3E16D8369066}"/>
              </a:ext>
            </a:extLst>
          </p:cNvPr>
          <p:cNvCxnSpPr>
            <a:cxnSpLocks/>
          </p:cNvCxnSpPr>
          <p:nvPr/>
        </p:nvCxnSpPr>
        <p:spPr>
          <a:xfrm>
            <a:off x="7449857" y="4624037"/>
            <a:ext cx="165721" cy="27311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FB23B566-5795-BFD4-67BC-F85DFF093E26}"/>
              </a:ext>
            </a:extLst>
          </p:cNvPr>
          <p:cNvSpPr txBox="1"/>
          <p:nvPr/>
        </p:nvSpPr>
        <p:spPr>
          <a:xfrm flipH="1">
            <a:off x="2068884" y="1970462"/>
            <a:ext cx="1943681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" altLang="zh-CN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Objective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4992659-0E6D-F4CE-7B2A-30B53670AD2E}"/>
              </a:ext>
            </a:extLst>
          </p:cNvPr>
          <p:cNvSpPr txBox="1"/>
          <p:nvPr/>
        </p:nvSpPr>
        <p:spPr>
          <a:xfrm flipH="1">
            <a:off x="452511" y="2419288"/>
            <a:ext cx="3560055" cy="101925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Wearable sensing for motion/load monitoring under realistic movement, emphasizing stable data acquisition.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ED50BF15-0E82-2651-7FEA-229CCE0272A4}"/>
              </a:ext>
            </a:extLst>
          </p:cNvPr>
          <p:cNvCxnSpPr>
            <a:cxnSpLocks/>
          </p:cNvCxnSpPr>
          <p:nvPr/>
        </p:nvCxnSpPr>
        <p:spPr>
          <a:xfrm flipH="1">
            <a:off x="2412443" y="2379541"/>
            <a:ext cx="20205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F748B1C3-1974-77D8-202B-64287258C1A8}"/>
              </a:ext>
            </a:extLst>
          </p:cNvPr>
          <p:cNvCxnSpPr>
            <a:cxnSpLocks/>
          </p:cNvCxnSpPr>
          <p:nvPr/>
        </p:nvCxnSpPr>
        <p:spPr>
          <a:xfrm flipH="1" flipV="1">
            <a:off x="4433013" y="2379541"/>
            <a:ext cx="372691" cy="21717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AD9B8DFD-869B-5363-9E4C-6FA69810F6DD}"/>
              </a:ext>
            </a:extLst>
          </p:cNvPr>
          <p:cNvSpPr txBox="1"/>
          <p:nvPr/>
        </p:nvSpPr>
        <p:spPr>
          <a:xfrm flipH="1">
            <a:off x="2054193" y="4488076"/>
            <a:ext cx="1943681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" altLang="zh-CN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My role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DEEF483-119D-CE24-6FB0-EB847A78A379}"/>
              </a:ext>
            </a:extLst>
          </p:cNvPr>
          <p:cNvSpPr txBox="1"/>
          <p:nvPr/>
        </p:nvSpPr>
        <p:spPr>
          <a:xfrm flipH="1">
            <a:off x="314324" y="4936902"/>
            <a:ext cx="3683550" cy="13393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 algn="r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Project planning &amp; system architecture</a:t>
            </a:r>
          </a:p>
          <a:p>
            <a:pPr lvl="0" algn="r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PCB/circuit design; component selection</a:t>
            </a:r>
          </a:p>
          <a:p>
            <a:pPr lvl="0" algn="r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Integration and bring-up across HW/FW/comm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83F4DA3-7677-506B-04B7-5A26EAC2A54E}"/>
              </a:ext>
            </a:extLst>
          </p:cNvPr>
          <p:cNvCxnSpPr>
            <a:cxnSpLocks/>
          </p:cNvCxnSpPr>
          <p:nvPr/>
        </p:nvCxnSpPr>
        <p:spPr>
          <a:xfrm flipH="1">
            <a:off x="2397752" y="4897155"/>
            <a:ext cx="20205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2C08F736-BC47-8A57-FDED-C7833AFB225C}"/>
              </a:ext>
            </a:extLst>
          </p:cNvPr>
          <p:cNvCxnSpPr>
            <a:cxnSpLocks/>
          </p:cNvCxnSpPr>
          <p:nvPr/>
        </p:nvCxnSpPr>
        <p:spPr>
          <a:xfrm flipH="1">
            <a:off x="4418322" y="4624037"/>
            <a:ext cx="165721" cy="27311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58279C9E-E472-1955-B695-CE4931574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4" r="9954"/>
          <a:stretch/>
        </p:blipFill>
        <p:spPr>
          <a:xfrm>
            <a:off x="4391707" y="1971541"/>
            <a:ext cx="3408586" cy="3408586"/>
          </a:xfrm>
          <a:prstGeom prst="ellipse">
            <a:avLst/>
          </a:prstGeom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</p:pic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F681545-1FF7-BE13-AAA3-C5AC65499174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61293AA-B411-41A5-1C84-5629CB5FF608}"/>
              </a:ext>
            </a:extLst>
          </p:cNvPr>
          <p:cNvSpPr txBox="1"/>
          <p:nvPr/>
        </p:nvSpPr>
        <p:spPr>
          <a:xfrm>
            <a:off x="452512" y="300592"/>
            <a:ext cx="8820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Project 1: Wearable leg-guard sensing system</a:t>
            </a:r>
            <a:endParaRPr lang="zh-CN" altLang="en-US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32" name="图片 31" descr="黑白色的标志&#10;&#10;中度可信度描述已自动生成">
            <a:extLst>
              <a:ext uri="{FF2B5EF4-FFF2-40B4-BE49-F238E27FC236}">
                <a16:creationId xmlns:a16="http://schemas.microsoft.com/office/drawing/2014/main" id="{CB0CC31E-4953-67C9-E44A-659A18CC2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C13F10-1798-086F-52D7-5C975CE0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A9D17-A0D3-409F-BFF9-E5BAE63FEE36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4361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C0D21-8499-2EFB-58AE-8D20F553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D9E56090-DD5E-E027-522E-E7ABB2258EAD}"/>
              </a:ext>
            </a:extLst>
          </p:cNvPr>
          <p:cNvSpPr txBox="1"/>
          <p:nvPr/>
        </p:nvSpPr>
        <p:spPr>
          <a:xfrm>
            <a:off x="8139511" y="1970462"/>
            <a:ext cx="194368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" altLang="zh-CN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Implementation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5E8E9F8-90C7-CBC6-0459-D6852850E0B9}"/>
              </a:ext>
            </a:extLst>
          </p:cNvPr>
          <p:cNvSpPr txBox="1"/>
          <p:nvPr/>
        </p:nvSpPr>
        <p:spPr>
          <a:xfrm>
            <a:off x="8139508" y="2419288"/>
            <a:ext cx="3890567" cy="101925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Mechanism + detailed part design</a:t>
            </a:r>
          </a:p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Manufacturing/assembly constraints considered early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4B0BA6C-317E-C52C-A30D-88931559D3C5}"/>
              </a:ext>
            </a:extLst>
          </p:cNvPr>
          <p:cNvCxnSpPr>
            <a:cxnSpLocks/>
          </p:cNvCxnSpPr>
          <p:nvPr/>
        </p:nvCxnSpPr>
        <p:spPr>
          <a:xfrm>
            <a:off x="7719063" y="2379541"/>
            <a:ext cx="20205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AB2C624-3635-B406-88D5-119CC97D6268}"/>
              </a:ext>
            </a:extLst>
          </p:cNvPr>
          <p:cNvCxnSpPr>
            <a:cxnSpLocks/>
          </p:cNvCxnSpPr>
          <p:nvPr/>
        </p:nvCxnSpPr>
        <p:spPr>
          <a:xfrm flipV="1">
            <a:off x="7346372" y="2379541"/>
            <a:ext cx="372691" cy="21717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A7061482-0822-AE01-BB9D-443E4C05FB70}"/>
              </a:ext>
            </a:extLst>
          </p:cNvPr>
          <p:cNvSpPr txBox="1"/>
          <p:nvPr/>
        </p:nvSpPr>
        <p:spPr>
          <a:xfrm>
            <a:off x="8036026" y="4488076"/>
            <a:ext cx="194368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" altLang="zh-CN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Validation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FCD784C-2C9E-A10C-0B5D-9F197B619707}"/>
              </a:ext>
            </a:extLst>
          </p:cNvPr>
          <p:cNvSpPr txBox="1"/>
          <p:nvPr/>
        </p:nvSpPr>
        <p:spPr>
          <a:xfrm>
            <a:off x="8036024" y="4936902"/>
            <a:ext cx="3994051" cy="13393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Prototype feedback: tolerances, interference, robustness</a:t>
            </a:r>
          </a:p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Iterated geometry and interfaces accordingly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B40112D-F869-2DD9-C127-7AAA045499D3}"/>
              </a:ext>
            </a:extLst>
          </p:cNvPr>
          <p:cNvCxnSpPr>
            <a:cxnSpLocks/>
          </p:cNvCxnSpPr>
          <p:nvPr/>
        </p:nvCxnSpPr>
        <p:spPr>
          <a:xfrm>
            <a:off x="7615578" y="4897155"/>
            <a:ext cx="20205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8B70C3B-C7B1-0943-C43C-D0B9C32B7BCD}"/>
              </a:ext>
            </a:extLst>
          </p:cNvPr>
          <p:cNvCxnSpPr>
            <a:cxnSpLocks/>
          </p:cNvCxnSpPr>
          <p:nvPr/>
        </p:nvCxnSpPr>
        <p:spPr>
          <a:xfrm>
            <a:off x="7449857" y="4624037"/>
            <a:ext cx="165721" cy="27311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F31E2E1B-A4C9-9AC2-07A3-EE8C039EFB58}"/>
              </a:ext>
            </a:extLst>
          </p:cNvPr>
          <p:cNvSpPr txBox="1"/>
          <p:nvPr/>
        </p:nvSpPr>
        <p:spPr>
          <a:xfrm flipH="1">
            <a:off x="2068884" y="1970462"/>
            <a:ext cx="1943681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" altLang="zh-CN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Objective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26E12BC-52E4-F1F5-431A-01447A35435C}"/>
              </a:ext>
            </a:extLst>
          </p:cNvPr>
          <p:cNvSpPr txBox="1"/>
          <p:nvPr/>
        </p:nvSpPr>
        <p:spPr>
          <a:xfrm flipH="1">
            <a:off x="452511" y="2419288"/>
            <a:ext cx="3560055" cy="6991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End-to-end mechanical design and prototyping of a Delta parallel robot.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EBE2889F-845C-6565-7616-58D6106B6ED1}"/>
              </a:ext>
            </a:extLst>
          </p:cNvPr>
          <p:cNvCxnSpPr>
            <a:cxnSpLocks/>
          </p:cNvCxnSpPr>
          <p:nvPr/>
        </p:nvCxnSpPr>
        <p:spPr>
          <a:xfrm flipH="1">
            <a:off x="2412443" y="2379541"/>
            <a:ext cx="20205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BB0B832-7AF1-ABF3-0632-430CFB1585AD}"/>
              </a:ext>
            </a:extLst>
          </p:cNvPr>
          <p:cNvCxnSpPr>
            <a:cxnSpLocks/>
          </p:cNvCxnSpPr>
          <p:nvPr/>
        </p:nvCxnSpPr>
        <p:spPr>
          <a:xfrm flipH="1" flipV="1">
            <a:off x="4433013" y="2379541"/>
            <a:ext cx="372691" cy="21717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02EA957E-C623-0744-5D2B-8D396FAD2767}"/>
              </a:ext>
            </a:extLst>
          </p:cNvPr>
          <p:cNvSpPr txBox="1"/>
          <p:nvPr/>
        </p:nvSpPr>
        <p:spPr>
          <a:xfrm flipH="1">
            <a:off x="2054193" y="4488076"/>
            <a:ext cx="1943681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" altLang="zh-CN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My role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D2F1C3F-F065-951C-9C0D-4E5AA7CD1031}"/>
              </a:ext>
            </a:extLst>
          </p:cNvPr>
          <p:cNvSpPr txBox="1"/>
          <p:nvPr/>
        </p:nvSpPr>
        <p:spPr>
          <a:xfrm flipH="1">
            <a:off x="314324" y="4936902"/>
            <a:ext cx="3683550" cy="16594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 algn="r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Project lead — owned requirements, timeline, and integration decisions</a:t>
            </a:r>
          </a:p>
          <a:p>
            <a:pPr lvl="0" algn="r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SolidWorks modeling</a:t>
            </a:r>
          </a:p>
          <a:p>
            <a:pPr lvl="0" algn="r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Planning and parts selection</a:t>
            </a:r>
          </a:p>
          <a:p>
            <a:pPr lvl="0" algn="r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3D printing and assembly; iteration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A7A36CE2-51E7-C4D9-7CE6-09463D55B264}"/>
              </a:ext>
            </a:extLst>
          </p:cNvPr>
          <p:cNvCxnSpPr>
            <a:cxnSpLocks/>
          </p:cNvCxnSpPr>
          <p:nvPr/>
        </p:nvCxnSpPr>
        <p:spPr>
          <a:xfrm flipH="1">
            <a:off x="2397752" y="4897155"/>
            <a:ext cx="20205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9C0A2D47-DDE2-2F17-5E8F-5800BCF90AB5}"/>
              </a:ext>
            </a:extLst>
          </p:cNvPr>
          <p:cNvCxnSpPr>
            <a:cxnSpLocks/>
          </p:cNvCxnSpPr>
          <p:nvPr/>
        </p:nvCxnSpPr>
        <p:spPr>
          <a:xfrm flipH="1">
            <a:off x="4418322" y="4624037"/>
            <a:ext cx="165721" cy="27311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53F083B1-4590-4271-7044-A0CE7D12A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7" r="3517"/>
          <a:stretch/>
        </p:blipFill>
        <p:spPr>
          <a:xfrm>
            <a:off x="4391707" y="1971541"/>
            <a:ext cx="3408586" cy="3408586"/>
          </a:xfrm>
          <a:prstGeom prst="ellipse">
            <a:avLst/>
          </a:prstGeom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</p:pic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067CD13-A3DC-90C6-4DC9-EE0053EFD4BE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B401585-DE1E-D4AC-3873-CC7ADB0429B1}"/>
              </a:ext>
            </a:extLst>
          </p:cNvPr>
          <p:cNvSpPr txBox="1"/>
          <p:nvPr/>
        </p:nvSpPr>
        <p:spPr>
          <a:xfrm>
            <a:off x="452512" y="300592"/>
            <a:ext cx="8820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Project 2: 3-DOF Delta robot (mechanical capstone)</a:t>
            </a:r>
            <a:endParaRPr lang="zh-CN" altLang="en-US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32" name="图片 31" descr="黑白色的标志&#10;&#10;中度可信度描述已自动生成">
            <a:extLst>
              <a:ext uri="{FF2B5EF4-FFF2-40B4-BE49-F238E27FC236}">
                <a16:creationId xmlns:a16="http://schemas.microsoft.com/office/drawing/2014/main" id="{3E3F20EB-C479-73A4-F44A-7D6AF14DD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8DF10C-7D89-6048-E12E-B8399AA2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A9D17-A0D3-409F-BFF9-E5BAE63FEE36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1569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7F45-C54A-DA98-362A-9580207E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3BFA182E-F3D1-0072-03B4-D7AF11DF3441}"/>
              </a:ext>
            </a:extLst>
          </p:cNvPr>
          <p:cNvSpPr txBox="1"/>
          <p:nvPr/>
        </p:nvSpPr>
        <p:spPr>
          <a:xfrm>
            <a:off x="8139511" y="1970462"/>
            <a:ext cx="2804714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" altLang="zh-CN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Current progress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4C008C4-49DA-24C4-7C99-F8E0759D95D3}"/>
              </a:ext>
            </a:extLst>
          </p:cNvPr>
          <p:cNvSpPr txBox="1"/>
          <p:nvPr/>
        </p:nvSpPr>
        <p:spPr>
          <a:xfrm>
            <a:off x="8139508" y="2419288"/>
            <a:ext cx="3890567" cy="196361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Surveyed workflows + established a first working pipeline</a:t>
            </a:r>
          </a:p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Segmentation → centerline extraction → centerline-driven representation/rendering</a:t>
            </a:r>
          </a:p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Defined output schema (tree/branch structure) for consistent experiments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1D269BB-E790-8587-FCC8-CBA53925E14E}"/>
              </a:ext>
            </a:extLst>
          </p:cNvPr>
          <p:cNvCxnSpPr>
            <a:cxnSpLocks/>
          </p:cNvCxnSpPr>
          <p:nvPr/>
        </p:nvCxnSpPr>
        <p:spPr>
          <a:xfrm>
            <a:off x="7719063" y="2379541"/>
            <a:ext cx="20205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9ABBD6F-F6AC-D949-E7DB-95CE70D4EF9B}"/>
              </a:ext>
            </a:extLst>
          </p:cNvPr>
          <p:cNvCxnSpPr>
            <a:cxnSpLocks/>
          </p:cNvCxnSpPr>
          <p:nvPr/>
        </p:nvCxnSpPr>
        <p:spPr>
          <a:xfrm flipV="1">
            <a:off x="7346372" y="2379541"/>
            <a:ext cx="372691" cy="21717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F824CBDC-5731-C1E5-FD85-A2F6ED754121}"/>
              </a:ext>
            </a:extLst>
          </p:cNvPr>
          <p:cNvSpPr txBox="1"/>
          <p:nvPr/>
        </p:nvSpPr>
        <p:spPr>
          <a:xfrm>
            <a:off x="8036026" y="4488076"/>
            <a:ext cx="1943681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" altLang="zh-CN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Next phase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767FC74-4AA6-AC98-1E71-332E621EF58C}"/>
              </a:ext>
            </a:extLst>
          </p:cNvPr>
          <p:cNvSpPr txBox="1"/>
          <p:nvPr/>
        </p:nvSpPr>
        <p:spPr>
          <a:xfrm>
            <a:off x="7449857" y="4944965"/>
            <a:ext cx="4683703" cy="19795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Incorporate hospital data constraints and clinical feedback loops</a:t>
            </a:r>
          </a:p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Anatomically consistent labeling (segment-level) for standardization</a:t>
            </a:r>
          </a:p>
          <a:p>
            <a:pPr lvl="0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Evaluation aligned with navigation/decision support (robustness + usability)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488513A3-A621-C328-40A5-2A2071D1B604}"/>
              </a:ext>
            </a:extLst>
          </p:cNvPr>
          <p:cNvCxnSpPr>
            <a:cxnSpLocks/>
          </p:cNvCxnSpPr>
          <p:nvPr/>
        </p:nvCxnSpPr>
        <p:spPr>
          <a:xfrm>
            <a:off x="7615578" y="4897155"/>
            <a:ext cx="20205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B0D6625-59F3-5B75-3939-E1BF955EEF82}"/>
              </a:ext>
            </a:extLst>
          </p:cNvPr>
          <p:cNvCxnSpPr>
            <a:cxnSpLocks/>
          </p:cNvCxnSpPr>
          <p:nvPr/>
        </p:nvCxnSpPr>
        <p:spPr>
          <a:xfrm>
            <a:off x="7449857" y="4624037"/>
            <a:ext cx="165721" cy="27311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5BA89668-1F97-D627-D12A-0E8E41AFBA68}"/>
              </a:ext>
            </a:extLst>
          </p:cNvPr>
          <p:cNvSpPr txBox="1"/>
          <p:nvPr/>
        </p:nvSpPr>
        <p:spPr>
          <a:xfrm flipH="1">
            <a:off x="2068884" y="1970462"/>
            <a:ext cx="1943681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" altLang="zh-CN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Objective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A82FFE1-8FEA-D38E-0F9F-1626566AD404}"/>
              </a:ext>
            </a:extLst>
          </p:cNvPr>
          <p:cNvSpPr txBox="1"/>
          <p:nvPr/>
        </p:nvSpPr>
        <p:spPr>
          <a:xfrm flipH="1">
            <a:off x="452511" y="2419288"/>
            <a:ext cx="3560055" cy="13393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Build a reconstruction/modeling pipeline with long-term relevance to clinically grounded workflows and evaluation.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69AEABB-612B-BD0A-748A-962AC0CAB99B}"/>
              </a:ext>
            </a:extLst>
          </p:cNvPr>
          <p:cNvCxnSpPr>
            <a:cxnSpLocks/>
          </p:cNvCxnSpPr>
          <p:nvPr/>
        </p:nvCxnSpPr>
        <p:spPr>
          <a:xfrm flipH="1">
            <a:off x="2412443" y="2379541"/>
            <a:ext cx="20205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B244E2C-E8C7-DC5B-7971-EBC2D0E09641}"/>
              </a:ext>
            </a:extLst>
          </p:cNvPr>
          <p:cNvCxnSpPr>
            <a:cxnSpLocks/>
          </p:cNvCxnSpPr>
          <p:nvPr/>
        </p:nvCxnSpPr>
        <p:spPr>
          <a:xfrm flipH="1" flipV="1">
            <a:off x="4433013" y="2379541"/>
            <a:ext cx="372691" cy="21717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27E42079-D28D-BA12-51DB-AADA5EFCD3ED}"/>
              </a:ext>
            </a:extLst>
          </p:cNvPr>
          <p:cNvSpPr txBox="1"/>
          <p:nvPr/>
        </p:nvSpPr>
        <p:spPr>
          <a:xfrm flipH="1">
            <a:off x="2054193" y="4488076"/>
            <a:ext cx="1943681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" altLang="zh-CN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My role</a:t>
            </a:r>
            <a:endParaRPr lang="zh-CN" altLang="en-US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95322D0-6160-5E6F-9FCA-8E44C3138D6C}"/>
              </a:ext>
            </a:extLst>
          </p:cNvPr>
          <p:cNvSpPr txBox="1"/>
          <p:nvPr/>
        </p:nvSpPr>
        <p:spPr>
          <a:xfrm flipH="1">
            <a:off x="-1" y="4936902"/>
            <a:ext cx="4639983" cy="13393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 algn="r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Project lead &amp; upstream workflow owner (problem framing, milestones, interface definitions)</a:t>
            </a:r>
          </a:p>
          <a:p>
            <a:pPr lvl="0" algn="r">
              <a:lnSpc>
                <a:spcPct val="130000"/>
              </a:lnSpc>
              <a:defRPr/>
            </a:pPr>
            <a:r>
              <a:rPr lang="en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Built the pipeline end-to-end and standardized outputs for evaluation and downstream use</a:t>
            </a: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54E15825-712B-BB5C-F626-45384AF5E8F8}"/>
              </a:ext>
            </a:extLst>
          </p:cNvPr>
          <p:cNvCxnSpPr>
            <a:cxnSpLocks/>
          </p:cNvCxnSpPr>
          <p:nvPr/>
        </p:nvCxnSpPr>
        <p:spPr>
          <a:xfrm flipH="1">
            <a:off x="2397752" y="4897155"/>
            <a:ext cx="202057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9E8B1239-E28D-7937-185B-BA59AABC3568}"/>
              </a:ext>
            </a:extLst>
          </p:cNvPr>
          <p:cNvCxnSpPr>
            <a:cxnSpLocks/>
          </p:cNvCxnSpPr>
          <p:nvPr/>
        </p:nvCxnSpPr>
        <p:spPr>
          <a:xfrm flipH="1">
            <a:off x="4418322" y="4624037"/>
            <a:ext cx="165721" cy="27311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318D0A37-4FC1-9EC2-46FC-AD23EB006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4391707" y="1971541"/>
            <a:ext cx="3408586" cy="3408586"/>
          </a:xfrm>
          <a:prstGeom prst="ellipse">
            <a:avLst/>
          </a:prstGeom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</p:pic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D270B45-AD77-6E66-29FE-133E40F796C0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0AABAB3-FEF5-CF6D-410D-A6E3FF760A75}"/>
              </a:ext>
            </a:extLst>
          </p:cNvPr>
          <p:cNvSpPr txBox="1"/>
          <p:nvPr/>
        </p:nvSpPr>
        <p:spPr>
          <a:xfrm>
            <a:off x="452512" y="300592"/>
            <a:ext cx="1024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Ongoing research: coronary reconstruction pipeline</a:t>
            </a:r>
          </a:p>
        </p:txBody>
      </p:sp>
      <p:pic>
        <p:nvPicPr>
          <p:cNvPr id="32" name="图片 31" descr="黑白色的标志&#10;&#10;中度可信度描述已自动生成">
            <a:extLst>
              <a:ext uri="{FF2B5EF4-FFF2-40B4-BE49-F238E27FC236}">
                <a16:creationId xmlns:a16="http://schemas.microsoft.com/office/drawing/2014/main" id="{3825185A-C443-9957-327F-0A38631DD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FD90BE-E38E-A6C1-5901-2FA4EF3EA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A9D17-A0D3-409F-BFF9-E5BAE63FEE36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104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8C31B-CC64-1517-43D2-3E4687F2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21B0E16-42DD-9078-3EAF-E2DC7ED825CE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0A28BEE6-6766-8F84-515F-3AED55B0C66B}"/>
              </a:ext>
            </a:extLst>
          </p:cNvPr>
          <p:cNvSpPr txBox="1"/>
          <p:nvPr/>
        </p:nvSpPr>
        <p:spPr>
          <a:xfrm>
            <a:off x="452512" y="300592"/>
            <a:ext cx="1024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Vessel_seg: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Research Progress</a:t>
            </a:r>
          </a:p>
        </p:txBody>
      </p:sp>
      <p:pic>
        <p:nvPicPr>
          <p:cNvPr id="32" name="图片 31" descr="黑白色的标志&#10;&#10;中度可信度描述已自动生成">
            <a:extLst>
              <a:ext uri="{FF2B5EF4-FFF2-40B4-BE49-F238E27FC236}">
                <a16:creationId xmlns:a16="http://schemas.microsoft.com/office/drawing/2014/main" id="{7F84F326-6EA2-616F-9B1D-601F4089B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3131F1E-458F-E62E-758D-8FF607AF0B48}"/>
              </a:ext>
            </a:extLst>
          </p:cNvPr>
          <p:cNvSpPr txBox="1"/>
          <p:nvPr/>
        </p:nvSpPr>
        <p:spPr>
          <a:xfrm>
            <a:off x="452511" y="955548"/>
            <a:ext cx="85062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5A5A"/>
                </a:solidFill>
                <a:latin typeface="Calibri"/>
              </a:defRPr>
            </a:pPr>
            <a:r>
              <a:rPr lang="en-US" altLang="zh-CN" dirty="0"/>
              <a:t>CT -&gt; Segmentation -&gt; Centerline -&gt; Repair -&gt; Feature -&gt; Reconstruction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2F885141-12A3-E9DD-93C6-D99BE2869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75" y="1623316"/>
            <a:ext cx="11038449" cy="436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06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B6472-23D8-279C-CF80-2C286E2E3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BBA105F-30D7-564C-95F8-6E3E48E9E6EB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4004811-2535-DEDB-D876-37A76E4C0F6D}"/>
              </a:ext>
            </a:extLst>
          </p:cNvPr>
          <p:cNvSpPr txBox="1"/>
          <p:nvPr/>
        </p:nvSpPr>
        <p:spPr>
          <a:xfrm>
            <a:off x="452512" y="300592"/>
            <a:ext cx="1024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Step1 Segmentation: Normal_1</a:t>
            </a:r>
          </a:p>
        </p:txBody>
      </p:sp>
      <p:pic>
        <p:nvPicPr>
          <p:cNvPr id="32" name="图片 31" descr="黑白色的标志&#10;&#10;中度可信度描述已自动生成">
            <a:extLst>
              <a:ext uri="{FF2B5EF4-FFF2-40B4-BE49-F238E27FC236}">
                <a16:creationId xmlns:a16="http://schemas.microsoft.com/office/drawing/2014/main" id="{895463AD-2713-9BDE-4880-3661F55A4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86EA908-EA4E-17F8-C831-995B7E7F09F2}"/>
              </a:ext>
            </a:extLst>
          </p:cNvPr>
          <p:cNvSpPr txBox="1"/>
          <p:nvPr/>
        </p:nvSpPr>
        <p:spPr>
          <a:xfrm>
            <a:off x="452511" y="955548"/>
            <a:ext cx="85062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5A5A"/>
                </a:solidFill>
                <a:latin typeface="Calibri"/>
              </a:defRPr>
            </a:pPr>
            <a:r>
              <a:rPr lang="en-US" altLang="zh-CN" dirty="0"/>
              <a:t>CT -&gt; Segmentation -&gt; Centerline -&gt; Repair -&gt; Feature -&gt; Reconstruction</a:t>
            </a:r>
          </a:p>
        </p:txBody>
      </p:sp>
      <p:pic>
        <p:nvPicPr>
          <p:cNvPr id="3" name="Picture 4" descr="image.png">
            <a:extLst>
              <a:ext uri="{FF2B5EF4-FFF2-40B4-BE49-F238E27FC236}">
                <a16:creationId xmlns:a16="http://schemas.microsoft.com/office/drawing/2014/main" id="{0F285532-E91C-9731-0467-28E91D9FA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7339" y="2250041"/>
            <a:ext cx="11569578" cy="349083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4B1995F7-0FA9-F32B-FFE2-8BA9048C3F0B}"/>
              </a:ext>
            </a:extLst>
          </p:cNvPr>
          <p:cNvSpPr txBox="1"/>
          <p:nvPr/>
        </p:nvSpPr>
        <p:spPr>
          <a:xfrm>
            <a:off x="9009698" y="111713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rPr dirty="0"/>
              <a:t>Dice = 0.8450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rPr dirty="0"/>
              <a:t>HD95 = 0.625 mm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rPr dirty="0"/>
              <a:t>Interpretation: strong upstream quality for downstream steps</a:t>
            </a:r>
          </a:p>
        </p:txBody>
      </p:sp>
    </p:spTree>
    <p:extLst>
      <p:ext uri="{BB962C8B-B14F-4D97-AF65-F5344CB8AC3E}">
        <p14:creationId xmlns:p14="http://schemas.microsoft.com/office/powerpoint/2010/main" val="68916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EE554-D915-A807-BCBB-BC58A0BD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0DDCAA4-2C06-F976-8D85-776DF36F2278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FC82BF47-36B5-3CEA-EE10-C6C1F2F435A3}"/>
              </a:ext>
            </a:extLst>
          </p:cNvPr>
          <p:cNvSpPr txBox="1"/>
          <p:nvPr/>
        </p:nvSpPr>
        <p:spPr>
          <a:xfrm>
            <a:off x="452512" y="300592"/>
            <a:ext cx="1024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Step1 Segmentation: Normal_2</a:t>
            </a:r>
          </a:p>
        </p:txBody>
      </p:sp>
      <p:pic>
        <p:nvPicPr>
          <p:cNvPr id="32" name="图片 31" descr="黑白色的标志&#10;&#10;中度可信度描述已自动生成">
            <a:extLst>
              <a:ext uri="{FF2B5EF4-FFF2-40B4-BE49-F238E27FC236}">
                <a16:creationId xmlns:a16="http://schemas.microsoft.com/office/drawing/2014/main" id="{1E327170-AB21-EBE1-DF30-83E26C797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5F32847-AC75-0857-7C1B-372394EB4010}"/>
              </a:ext>
            </a:extLst>
          </p:cNvPr>
          <p:cNvSpPr txBox="1"/>
          <p:nvPr/>
        </p:nvSpPr>
        <p:spPr>
          <a:xfrm>
            <a:off x="452511" y="955548"/>
            <a:ext cx="85062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5A5A"/>
                </a:solidFill>
                <a:latin typeface="Calibri"/>
              </a:defRPr>
            </a:pPr>
            <a:r>
              <a:rPr lang="en-US" altLang="zh-CN" dirty="0"/>
              <a:t>CT -&gt; Segmentation -&gt; Centerline -&gt; Repair -&gt; Feature -&gt; Reconstruction</a:t>
            </a:r>
          </a:p>
        </p:txBody>
      </p:sp>
      <p:pic>
        <p:nvPicPr>
          <p:cNvPr id="6" name="Picture 4" descr="image.png">
            <a:extLst>
              <a:ext uri="{FF2B5EF4-FFF2-40B4-BE49-F238E27FC236}">
                <a16:creationId xmlns:a16="http://schemas.microsoft.com/office/drawing/2014/main" id="{2A8E3655-36E8-8D79-D269-2EB8877B8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0615" y="2420723"/>
            <a:ext cx="12452615" cy="3754046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EACBFBBD-B8E5-18DB-6778-9E669A722300}"/>
              </a:ext>
            </a:extLst>
          </p:cNvPr>
          <p:cNvSpPr txBox="1"/>
          <p:nvPr/>
        </p:nvSpPr>
        <p:spPr>
          <a:xfrm>
            <a:off x="9164288" y="816136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rPr dirty="0"/>
              <a:t>Dice = 0.7274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rPr dirty="0"/>
              <a:t>HD95 = 10.2556 mm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rPr dirty="0"/>
              <a:t>Main bottleneck: segmentation quality variance</a:t>
            </a:r>
          </a:p>
        </p:txBody>
      </p:sp>
    </p:spTree>
    <p:extLst>
      <p:ext uri="{BB962C8B-B14F-4D97-AF65-F5344CB8AC3E}">
        <p14:creationId xmlns:p14="http://schemas.microsoft.com/office/powerpoint/2010/main" val="3409689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EE23-5F1C-C734-1C4F-2F08D05CD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4E54DAE-A34E-FA16-90A6-0D09F70B7CF9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D3A03E8D-8F11-E7C1-BFBB-249FB97D6037}"/>
              </a:ext>
            </a:extLst>
          </p:cNvPr>
          <p:cNvSpPr txBox="1"/>
          <p:nvPr/>
        </p:nvSpPr>
        <p:spPr>
          <a:xfrm>
            <a:off x="452512" y="300592"/>
            <a:ext cx="1024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Step3 Centerline Comparison</a:t>
            </a:r>
          </a:p>
        </p:txBody>
      </p:sp>
      <p:pic>
        <p:nvPicPr>
          <p:cNvPr id="32" name="图片 31" descr="黑白色的标志&#10;&#10;中度可信度描述已自动生成">
            <a:extLst>
              <a:ext uri="{FF2B5EF4-FFF2-40B4-BE49-F238E27FC236}">
                <a16:creationId xmlns:a16="http://schemas.microsoft.com/office/drawing/2014/main" id="{050C8A91-7CBE-F7A1-8439-24FE8021A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6EDF34E-FA31-D96E-28A1-F98B1C288F99}"/>
              </a:ext>
            </a:extLst>
          </p:cNvPr>
          <p:cNvSpPr txBox="1"/>
          <p:nvPr/>
        </p:nvSpPr>
        <p:spPr>
          <a:xfrm>
            <a:off x="452511" y="955548"/>
            <a:ext cx="85062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5A5A"/>
                </a:solidFill>
                <a:latin typeface="Calibri"/>
              </a:defRPr>
            </a:pPr>
            <a:r>
              <a:rPr lang="en-US" altLang="zh-CN" dirty="0"/>
              <a:t>CT -&gt; Segmentation -&gt; Centerline -&gt; Repair -&gt; Feature -&gt; Reconstruction</a:t>
            </a:r>
          </a:p>
        </p:txBody>
      </p:sp>
      <p:pic>
        <p:nvPicPr>
          <p:cNvPr id="2" name="Picture 2" descr="image.png">
            <a:extLst>
              <a:ext uri="{FF2B5EF4-FFF2-40B4-BE49-F238E27FC236}">
                <a16:creationId xmlns:a16="http://schemas.microsoft.com/office/drawing/2014/main" id="{50A99140-5831-F7F2-CC0D-21C9141C9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" y="1366269"/>
            <a:ext cx="5669280" cy="4536183"/>
          </a:xfrm>
          <a:prstGeom prst="rect">
            <a:avLst/>
          </a:prstGeom>
        </p:spPr>
      </p:pic>
      <p:pic>
        <p:nvPicPr>
          <p:cNvPr id="3" name="Picture 3" descr="image.png">
            <a:extLst>
              <a:ext uri="{FF2B5EF4-FFF2-40B4-BE49-F238E27FC236}">
                <a16:creationId xmlns:a16="http://schemas.microsoft.com/office/drawing/2014/main" id="{34872408-38BD-933A-4E8C-955D8AC79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605" y="1366268"/>
            <a:ext cx="5486400" cy="453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60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A240-0AFE-5026-164C-EDA6544D6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293A82D-3BC8-B6E7-A581-60958181F752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F09BB4C5-BC8E-C4F0-C9EA-F47E3027A949}"/>
              </a:ext>
            </a:extLst>
          </p:cNvPr>
          <p:cNvSpPr txBox="1"/>
          <p:nvPr/>
        </p:nvSpPr>
        <p:spPr>
          <a:xfrm>
            <a:off x="452512" y="300592"/>
            <a:ext cx="1024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Key Engineering Fix: Repair Topology</a:t>
            </a:r>
          </a:p>
        </p:txBody>
      </p:sp>
      <p:pic>
        <p:nvPicPr>
          <p:cNvPr id="32" name="图片 31" descr="黑白色的标志&#10;&#10;中度可信度描述已自动生成">
            <a:extLst>
              <a:ext uri="{FF2B5EF4-FFF2-40B4-BE49-F238E27FC236}">
                <a16:creationId xmlns:a16="http://schemas.microsoft.com/office/drawing/2014/main" id="{82C19BAE-B417-873A-3B0A-9CEF2C19D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104962F-19F0-20B8-2BAC-5D963544CEB7}"/>
              </a:ext>
            </a:extLst>
          </p:cNvPr>
          <p:cNvSpPr txBox="1"/>
          <p:nvPr/>
        </p:nvSpPr>
        <p:spPr>
          <a:xfrm>
            <a:off x="452511" y="955548"/>
            <a:ext cx="85062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5A5A"/>
                </a:solidFill>
                <a:latin typeface="Calibri"/>
              </a:defRPr>
            </a:pPr>
            <a:r>
              <a:rPr lang="en-US" altLang="zh-CN" dirty="0"/>
              <a:t>CT -&gt; Segmentation -&gt; Centerline -&gt; Repair -&gt; Feature -&gt; Reconstruction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A4A4887-8F21-CA6F-8E1A-F5B8D19F3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11" y="1795169"/>
            <a:ext cx="9022080" cy="4630845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8CFFC302-1096-07FE-608C-9400B44E4285}"/>
              </a:ext>
            </a:extLst>
          </p:cNvPr>
          <p:cNvSpPr txBox="1"/>
          <p:nvPr/>
        </p:nvSpPr>
        <p:spPr>
          <a:xfrm>
            <a:off x="8189531" y="1218116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rPr dirty="0"/>
              <a:t>Root cause: duplicated endpoint points in VTP writer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rPr dirty="0"/>
              <a:t>Fix: merge coincident endpoints to shared point IDs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rPr dirty="0"/>
              <a:t>Outcome: disconnected fragments -&gt; anatomically coherent components</a:t>
            </a:r>
          </a:p>
        </p:txBody>
      </p:sp>
    </p:spTree>
    <p:extLst>
      <p:ext uri="{BB962C8B-B14F-4D97-AF65-F5344CB8AC3E}">
        <p14:creationId xmlns:p14="http://schemas.microsoft.com/office/powerpoint/2010/main" val="3058062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6B933-80E0-72AF-8B5A-075F4B01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7EDD8AA-689D-3C2C-975A-3235D5443FAC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059E900C-50D4-3138-592E-F896E5F495DF}"/>
              </a:ext>
            </a:extLst>
          </p:cNvPr>
          <p:cNvSpPr txBox="1"/>
          <p:nvPr/>
        </p:nvSpPr>
        <p:spPr>
          <a:xfrm>
            <a:off x="452512" y="300592"/>
            <a:ext cx="1024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Cross-case Quantitative Summary</a:t>
            </a:r>
          </a:p>
        </p:txBody>
      </p:sp>
      <p:pic>
        <p:nvPicPr>
          <p:cNvPr id="32" name="图片 31" descr="黑白色的标志&#10;&#10;中度可信度描述已自动生成">
            <a:extLst>
              <a:ext uri="{FF2B5EF4-FFF2-40B4-BE49-F238E27FC236}">
                <a16:creationId xmlns:a16="http://schemas.microsoft.com/office/drawing/2014/main" id="{6FAA974D-FDDA-975F-B50F-C5C159D2F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6438CB8-2DB6-540A-2619-D54062CDB52A}"/>
              </a:ext>
            </a:extLst>
          </p:cNvPr>
          <p:cNvSpPr txBox="1"/>
          <p:nvPr/>
        </p:nvSpPr>
        <p:spPr>
          <a:xfrm>
            <a:off x="452511" y="955548"/>
            <a:ext cx="85062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5A5A"/>
                </a:solidFill>
                <a:latin typeface="Calibri"/>
              </a:defRPr>
            </a:pPr>
            <a:r>
              <a:rPr lang="en-US" altLang="zh-CN" dirty="0"/>
              <a:t>CT -&gt; Segmentation -&gt; Centerline -&gt; Repair -&gt; Feature -&gt; Reconstruction</a:t>
            </a:r>
          </a:p>
        </p:txBody>
      </p:sp>
      <p:pic>
        <p:nvPicPr>
          <p:cNvPr id="2" name="Picture 2" descr="image.png">
            <a:extLst>
              <a:ext uri="{FF2B5EF4-FFF2-40B4-BE49-F238E27FC236}">
                <a16:creationId xmlns:a16="http://schemas.microsoft.com/office/drawing/2014/main" id="{0F91898A-9EC9-97B0-3FA9-A60EBEE12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62" y="1472004"/>
            <a:ext cx="10332720" cy="471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46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776D1-BD11-C0DC-ACFA-3C51BFF3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1C9A77F-CF16-15E0-A09F-7D7B58616915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57823086-0F99-F91B-569D-11610240CB83}"/>
              </a:ext>
            </a:extLst>
          </p:cNvPr>
          <p:cNvSpPr txBox="1"/>
          <p:nvPr/>
        </p:nvSpPr>
        <p:spPr>
          <a:xfrm>
            <a:off x="452512" y="300592"/>
            <a:ext cx="1024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Step4 Feature Extraction</a:t>
            </a:r>
          </a:p>
        </p:txBody>
      </p:sp>
      <p:pic>
        <p:nvPicPr>
          <p:cNvPr id="32" name="图片 31" descr="黑白色的标志&#10;&#10;中度可信度描述已自动生成">
            <a:extLst>
              <a:ext uri="{FF2B5EF4-FFF2-40B4-BE49-F238E27FC236}">
                <a16:creationId xmlns:a16="http://schemas.microsoft.com/office/drawing/2014/main" id="{7A872F29-618D-AFA8-E994-54693B522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68243B1-11EA-0DF6-098A-774BE9713A5E}"/>
              </a:ext>
            </a:extLst>
          </p:cNvPr>
          <p:cNvSpPr txBox="1"/>
          <p:nvPr/>
        </p:nvSpPr>
        <p:spPr>
          <a:xfrm>
            <a:off x="452511" y="955548"/>
            <a:ext cx="85062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5A5A"/>
                </a:solidFill>
                <a:latin typeface="Calibri"/>
              </a:defRPr>
            </a:pPr>
            <a:r>
              <a:rPr lang="en-US" altLang="zh-CN" dirty="0"/>
              <a:t>CT -&gt; Segmentation -&gt; Centerline -&gt; Repair -&gt; Feature -&gt; Reconstruction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568E85D0-DD2B-D7E5-DF7C-DE9B447EB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06" y="1828800"/>
            <a:ext cx="5669280" cy="3307080"/>
          </a:xfrm>
          <a:prstGeom prst="rect">
            <a:avLst/>
          </a:prstGeom>
        </p:spPr>
      </p:pic>
      <p:pic>
        <p:nvPicPr>
          <p:cNvPr id="5" name="Picture 3" descr="image.png">
            <a:extLst>
              <a:ext uri="{FF2B5EF4-FFF2-40B4-BE49-F238E27FC236}">
                <a16:creationId xmlns:a16="http://schemas.microsoft.com/office/drawing/2014/main" id="{48DE9368-8DB3-958B-8070-07955D74F4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894" y="1935480"/>
            <a:ext cx="5486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37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1EC8-5FB0-1C3D-F4F8-66D0ABE78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0C41070-CD1A-D29B-D5C9-8F92FEF99504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EFCC708-FDD1-C8AE-99A9-5A34A6ADB926}"/>
              </a:ext>
            </a:extLst>
          </p:cNvPr>
          <p:cNvSpPr txBox="1"/>
          <p:nvPr/>
        </p:nvSpPr>
        <p:spPr>
          <a:xfrm>
            <a:off x="452512" y="300592"/>
            <a:ext cx="1024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Current Risks and Following Weeks</a:t>
            </a:r>
          </a:p>
        </p:txBody>
      </p:sp>
      <p:pic>
        <p:nvPicPr>
          <p:cNvPr id="32" name="图片 31" descr="黑白色的标志&#10;&#10;中度可信度描述已自动生成">
            <a:extLst>
              <a:ext uri="{FF2B5EF4-FFF2-40B4-BE49-F238E27FC236}">
                <a16:creationId xmlns:a16="http://schemas.microsoft.com/office/drawing/2014/main" id="{C8B17454-F159-6EBE-8698-279252D98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813AE6F-3768-EFC7-AAD6-7ADEDE5C4F6B}"/>
              </a:ext>
            </a:extLst>
          </p:cNvPr>
          <p:cNvSpPr txBox="1"/>
          <p:nvPr/>
        </p:nvSpPr>
        <p:spPr>
          <a:xfrm>
            <a:off x="452511" y="955548"/>
            <a:ext cx="85062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5A5A"/>
                </a:solidFill>
                <a:latin typeface="Calibri"/>
              </a:defRPr>
            </a:pPr>
            <a:r>
              <a:rPr lang="en-US" altLang="zh-CN" dirty="0"/>
              <a:t>CT -&gt; Segmentation -&gt; Centerline -&gt; Repair -&gt; Feature -&gt; Reconstruction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B010EE2-86BF-F0C5-08CB-6FAFA2E4B2AE}"/>
              </a:ext>
            </a:extLst>
          </p:cNvPr>
          <p:cNvSpPr txBox="1"/>
          <p:nvPr/>
        </p:nvSpPr>
        <p:spPr>
          <a:xfrm>
            <a:off x="659600" y="2185313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Open Risks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8CEAC62-3F7C-5991-59BA-75AA570B143B}"/>
              </a:ext>
            </a:extLst>
          </p:cNvPr>
          <p:cNvSpPr txBox="1"/>
          <p:nvPr/>
        </p:nvSpPr>
        <p:spPr>
          <a:xfrm>
            <a:off x="659600" y="2642513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rPr dirty="0"/>
              <a:t>Step4 still has branch count mismatch on some cases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rPr dirty="0"/>
              <a:t>Case-to-case variability remains high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rPr dirty="0"/>
              <a:t>Need stronger failure-case regression set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B62F8BD-F0B7-4102-358E-12284199D898}"/>
              </a:ext>
            </a:extLst>
          </p:cNvPr>
          <p:cNvSpPr txBox="1"/>
          <p:nvPr/>
        </p:nvSpPr>
        <p:spPr>
          <a:xfrm>
            <a:off x="6235125" y="2185313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Execution Plan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51433ECB-76A8-D5C2-2956-7D3CAA363FBF}"/>
              </a:ext>
            </a:extLst>
          </p:cNvPr>
          <p:cNvSpPr txBox="1"/>
          <p:nvPr/>
        </p:nvSpPr>
        <p:spPr>
          <a:xfrm>
            <a:off x="6228880" y="2642513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rPr dirty="0"/>
              <a:t>Week 1: repair trigger + topology constraints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rPr dirty="0"/>
              <a:t>Week 2: branch governance + batch evaluation (10-20 cases)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rPr dirty="0"/>
              <a:t>Deliver reproducible report-ready figures/tables</a:t>
            </a:r>
          </a:p>
        </p:txBody>
      </p:sp>
    </p:spTree>
    <p:extLst>
      <p:ext uri="{BB962C8B-B14F-4D97-AF65-F5344CB8AC3E}">
        <p14:creationId xmlns:p14="http://schemas.microsoft.com/office/powerpoint/2010/main" val="3800516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71FD8-2BEC-C26F-9167-FD33450F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93D7205-B36D-4D95-52C1-0FE678DA51BF}"/>
              </a:ext>
            </a:extLst>
          </p:cNvPr>
          <p:cNvCxnSpPr>
            <a:cxnSpLocks/>
          </p:cNvCxnSpPr>
          <p:nvPr/>
        </p:nvCxn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17CA85E-CCFF-787A-894A-417AEAFD2701}"/>
              </a:ext>
            </a:extLst>
          </p:cNvPr>
          <p:cNvSpPr txBox="1"/>
          <p:nvPr/>
        </p:nvSpPr>
        <p:spPr>
          <a:xfrm>
            <a:off x="452512" y="300592"/>
            <a:ext cx="1024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My Core Contributions</a:t>
            </a:r>
          </a:p>
        </p:txBody>
      </p:sp>
      <p:pic>
        <p:nvPicPr>
          <p:cNvPr id="32" name="图片 31" descr="黑白色的标志&#10;&#10;中度可信度描述已自动生成">
            <a:extLst>
              <a:ext uri="{FF2B5EF4-FFF2-40B4-BE49-F238E27FC236}">
                <a16:creationId xmlns:a16="http://schemas.microsoft.com/office/drawing/2014/main" id="{9E824939-6DD6-F711-B7A3-28605FF6F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81" y="329205"/>
            <a:ext cx="1322213" cy="37245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B09DBBE-AAB1-E83F-2387-A9AF40AE9C7C}"/>
              </a:ext>
            </a:extLst>
          </p:cNvPr>
          <p:cNvSpPr txBox="1"/>
          <p:nvPr/>
        </p:nvSpPr>
        <p:spPr>
          <a:xfrm>
            <a:off x="452511" y="955548"/>
            <a:ext cx="85062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A5A5A"/>
                </a:solidFill>
                <a:latin typeface="Calibri"/>
              </a:defRPr>
            </a:pPr>
            <a:r>
              <a:rPr lang="en-US" altLang="zh-CN" dirty="0"/>
              <a:t>CT -&gt; Segmentation -&gt; Centerline -&gt; Repair -&gt; Feature -&gt; Reconstruction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D3DF0A-67B5-D158-66E3-1CD36914E623}"/>
              </a:ext>
            </a:extLst>
          </p:cNvPr>
          <p:cNvSpPr txBox="1"/>
          <p:nvPr/>
        </p:nvSpPr>
        <p:spPr>
          <a:xfrm>
            <a:off x="2123754" y="2447624"/>
            <a:ext cx="79444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rPr lang="en-US" altLang="zh-CN" dirty="0"/>
              <a:t>Built an end-to-end quantitative pipeline (not isolated scripts)</a:t>
            </a:r>
          </a:p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rPr lang="en-US" altLang="zh-CN" dirty="0"/>
              <a:t>Defined step-wise metrics to make progress measurable and auditable</a:t>
            </a:r>
          </a:p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rPr lang="en-US" altLang="zh-CN" dirty="0"/>
              <a:t>Diagnosed and fixed topology-level bug with reproducible evidence</a:t>
            </a:r>
          </a:p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rPr lang="en-US" altLang="zh-CN" dirty="0"/>
              <a:t>Converted blockers into actionable engineering tasks and benchmarks</a:t>
            </a:r>
          </a:p>
        </p:txBody>
      </p:sp>
    </p:spTree>
    <p:extLst>
      <p:ext uri="{BB962C8B-B14F-4D97-AF65-F5344CB8AC3E}">
        <p14:creationId xmlns:p14="http://schemas.microsoft.com/office/powerpoint/2010/main" val="1434405237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Step4 Feature Extraction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669280" cy="33070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5486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Current Risks and Next 2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Open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Step4 still has branch count mismatch on some cases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Case-to-case variability remains high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Need stronger failure-case regression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Week 1: repair trigger + topology constraints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Week 2: branch governance + batch evaluation (10-20 cases)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Deliver reproducible report-ready figures/tables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My Core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t>Built an end-to-end quantitative pipeline (not isolated scripts)</a:t>
            </a:r>
          </a:p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t>Defined step-wise metrics to make progress measurable and auditable</a:t>
            </a:r>
          </a:p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t>Diagnosed and fixed topology-level bug with reproducible evidence</a:t>
            </a:r>
          </a:p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t>Converted blockers into actionable engineering tasks and benchmarks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Discussion / Feedback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Do you agree with metric priority (Step1 stability first)?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Should we prioritize method novelty or robust clinical engineering pipeline first?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Is this progression acceptable: small-case closure -&gt; larger batch validation?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北京大学-红色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4070A"/>
      </a:accent1>
      <a:accent2>
        <a:srgbClr val="D7C8B5"/>
      </a:accent2>
      <a:accent3>
        <a:srgbClr val="A5A5A5"/>
      </a:accent3>
      <a:accent4>
        <a:srgbClr val="0B4065"/>
      </a:accent4>
      <a:accent5>
        <a:srgbClr val="5B9BD5"/>
      </a:accent5>
      <a:accent6>
        <a:srgbClr val="70AD47"/>
      </a:accent6>
      <a:hlink>
        <a:srgbClr val="94070A"/>
      </a:hlink>
      <a:folHlink>
        <a:srgbClr val="954F72"/>
      </a:folHlink>
    </a:clrScheme>
    <a:fontScheme name="loawae3m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4340</TotalTime>
  <Words>3819</Words>
  <Application>Microsoft Office PowerPoint</Application>
  <PresentationFormat>宽屏</PresentationFormat>
  <Paragraphs>260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Fish</dc:creator>
  <cp:lastModifiedBy>奕好 陈</cp:lastModifiedBy>
  <cp:revision>470</cp:revision>
  <cp:lastPrinted>2026-01-18T16:14:02Z</cp:lastPrinted>
  <dcterms:created xsi:type="dcterms:W3CDTF">2021-05-06T04:51:34Z</dcterms:created>
  <dcterms:modified xsi:type="dcterms:W3CDTF">2026-02-09T20:52:04Z</dcterms:modified>
</cp:coreProperties>
</file>